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d06693f0e64d37" /><Relationship Type="http://schemas.openxmlformats.org/officeDocument/2006/relationships/extended-properties" Target="/docProps/app.xml" Id="R77b9b125be374bc8" /><Relationship Type="http://schemas.openxmlformats.org/officeDocument/2006/relationships/officeDocument" Target="/ppt/presentation.xml" Id="R1dff16631ee84bca" /></Relationships>
</file>

<file path=ppt/presentation.xml><?xml version="1.0" encoding="utf-8"?>
<p:presentation xmlns:p="http://schemas.openxmlformats.org/presentationml/2006/main">
  <p:sldMasterIdLst>
    <p:sldMasterId xmlns:r="http://schemas.openxmlformats.org/officeDocument/2006/relationships" id="2147483648" r:id="Rb249e139a8ba4530"/>
  </p:sldMasterIdLst>
  <p:notesMasterIdLst>
    <p:notesMasterId xmlns:r="http://schemas.openxmlformats.org/officeDocument/2006/relationships" r:id="R8d890135572e4114"/>
  </p:notesMasterIdLst>
  <p:sldIdLst>
    <p:sldId xmlns:r="http://schemas.openxmlformats.org/officeDocument/2006/relationships" id="256" r:id="R00116def5e804120"/>
    <p:sldId xmlns:r="http://schemas.openxmlformats.org/officeDocument/2006/relationships" id="257" r:id="R190892fc11b04235"/>
    <p:sldId xmlns:r="http://schemas.openxmlformats.org/officeDocument/2006/relationships" id="258" r:id="R88acad967401433f"/>
    <p:sldId xmlns:r="http://schemas.openxmlformats.org/officeDocument/2006/relationships" id="259" r:id="R0f5efaea65cd4083"/>
    <p:sldId xmlns:r="http://schemas.openxmlformats.org/officeDocument/2006/relationships" id="260" r:id="Rd3a73d8bee104815"/>
    <p:sldId xmlns:r="http://schemas.openxmlformats.org/officeDocument/2006/relationships" id="261" r:id="R2f19f9b3d06e42a2"/>
    <p:sldId xmlns:r="http://schemas.openxmlformats.org/officeDocument/2006/relationships" id="262" r:id="R86dc5d20c7cd44dd"/>
    <p:sldId xmlns:r="http://schemas.openxmlformats.org/officeDocument/2006/relationships" id="263" r:id="Ra013ac650e8f4045"/>
    <p:sldId xmlns:r="http://schemas.openxmlformats.org/officeDocument/2006/relationships" id="264" r:id="R5f40e7e69f7c4348"/>
    <p:sldId xmlns:r="http://schemas.openxmlformats.org/officeDocument/2006/relationships" id="265" r:id="Rac74925a1b8340da"/>
    <p:sldId xmlns:r="http://schemas.openxmlformats.org/officeDocument/2006/relationships" id="266" r:id="R76c8617eb36c4f14"/>
    <p:sldId xmlns:r="http://schemas.openxmlformats.org/officeDocument/2006/relationships" id="267" r:id="R0c344436ed2045d9"/>
    <p:sldId xmlns:r="http://schemas.openxmlformats.org/officeDocument/2006/relationships" id="268" r:id="R9699fae13bfb4fff"/>
    <p:sldId xmlns:r="http://schemas.openxmlformats.org/officeDocument/2006/relationships" id="269" r:id="R10043033a5164376"/>
    <p:sldId xmlns:r="http://schemas.openxmlformats.org/officeDocument/2006/relationships" id="270" r:id="R4188d981a8f649e6"/>
    <p:sldId xmlns:r="http://schemas.openxmlformats.org/officeDocument/2006/relationships" id="271" r:id="R85f511af4d0248a2"/>
    <p:sldId xmlns:r="http://schemas.openxmlformats.org/officeDocument/2006/relationships" id="272" r:id="Rd5fa2681c26a489e"/>
    <p:sldId xmlns:r="http://schemas.openxmlformats.org/officeDocument/2006/relationships" id="273" r:id="Rb8ef172599b84ba4"/>
    <p:sldId xmlns:r="http://schemas.openxmlformats.org/officeDocument/2006/relationships" id="274" r:id="Rbbffb91ea54749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a0214f30d544a3" /><Relationship Type="http://schemas.openxmlformats.org/officeDocument/2006/relationships/slideMaster" Target="/ppt/slideMasters/slideMaster1.xml" Id="Rb249e139a8ba4530" /><Relationship Type="http://schemas.openxmlformats.org/officeDocument/2006/relationships/notesMaster" Target="/ppt/notesMasters/notesMaster1.xml" Id="R8d890135572e4114" /><Relationship Type="http://schemas.openxmlformats.org/officeDocument/2006/relationships/presProps" Target="/ppt/presProps.xml" Id="R1dc38647927c4bfa" /><Relationship Type="http://schemas.openxmlformats.org/officeDocument/2006/relationships/tableStyles" Target="/ppt/tableStyles.xml" Id="Rfa1806ee58e64233" /><Relationship Type="http://schemas.openxmlformats.org/officeDocument/2006/relationships/slide" Target="/ppt/slides/slide1.xml" Id="R00116def5e804120" /><Relationship Type="http://schemas.openxmlformats.org/officeDocument/2006/relationships/slide" Target="/ppt/slides/slide2.xml" Id="R190892fc11b04235" /><Relationship Type="http://schemas.openxmlformats.org/officeDocument/2006/relationships/slide" Target="/ppt/slides/slide3.xml" Id="R88acad967401433f" /><Relationship Type="http://schemas.openxmlformats.org/officeDocument/2006/relationships/slide" Target="/ppt/slides/slide4.xml" Id="R0f5efaea65cd4083" /><Relationship Type="http://schemas.openxmlformats.org/officeDocument/2006/relationships/slide" Target="/ppt/slides/slide5.xml" Id="Rd3a73d8bee104815" /><Relationship Type="http://schemas.openxmlformats.org/officeDocument/2006/relationships/slide" Target="/ppt/slides/slide6.xml" Id="R2f19f9b3d06e42a2" /><Relationship Type="http://schemas.openxmlformats.org/officeDocument/2006/relationships/slide" Target="/ppt/slides/slide7.xml" Id="R86dc5d20c7cd44dd" /><Relationship Type="http://schemas.openxmlformats.org/officeDocument/2006/relationships/slide" Target="/ppt/slides/slide8.xml" Id="Ra013ac650e8f4045" /><Relationship Type="http://schemas.openxmlformats.org/officeDocument/2006/relationships/slide" Target="/ppt/slides/slide9.xml" Id="R5f40e7e69f7c4348" /><Relationship Type="http://schemas.openxmlformats.org/officeDocument/2006/relationships/slide" Target="/ppt/slides/slide10.xml" Id="Rac74925a1b8340da" /><Relationship Type="http://schemas.openxmlformats.org/officeDocument/2006/relationships/slide" Target="/ppt/slides/slide11.xml" Id="R76c8617eb36c4f14" /><Relationship Type="http://schemas.openxmlformats.org/officeDocument/2006/relationships/slide" Target="/ppt/slides/slide12.xml" Id="R0c344436ed2045d9" /><Relationship Type="http://schemas.openxmlformats.org/officeDocument/2006/relationships/slide" Target="/ppt/slides/slide13.xml" Id="R9699fae13bfb4fff" /><Relationship Type="http://schemas.openxmlformats.org/officeDocument/2006/relationships/slide" Target="/ppt/slides/slide14.xml" Id="R10043033a5164376" /><Relationship Type="http://schemas.openxmlformats.org/officeDocument/2006/relationships/slide" Target="/ppt/slides/slide15.xml" Id="R4188d981a8f649e6" /><Relationship Type="http://schemas.openxmlformats.org/officeDocument/2006/relationships/slide" Target="/ppt/slides/slide16.xml" Id="R85f511af4d0248a2" /><Relationship Type="http://schemas.openxmlformats.org/officeDocument/2006/relationships/slide" Target="/ppt/slides/slide17.xml" Id="Rd5fa2681c26a489e" /><Relationship Type="http://schemas.openxmlformats.org/officeDocument/2006/relationships/slide" Target="/ppt/slides/slide18.xml" Id="Rb8ef172599b84ba4" /><Relationship Type="http://schemas.openxmlformats.org/officeDocument/2006/relationships/slide" Target="/ppt/slides/slide19.xml" Id="Rbbffb91ea54749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e1714f8e694a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2b5005671e4ab1" /><Relationship Type="http://schemas.openxmlformats.org/officeDocument/2006/relationships/notesMaster" Target="/ppt/notesMasters/notesMaster1.xml" Id="Ra07dc91e879441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5b86157d904bdd" /><Relationship Type="http://schemas.openxmlformats.org/officeDocument/2006/relationships/notesMaster" Target="/ppt/notesMasters/notesMaster1.xml" Id="Rd59d3fd984ab46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e097d8f5604ec9" /><Relationship Type="http://schemas.openxmlformats.org/officeDocument/2006/relationships/notesMaster" Target="/ppt/notesMasters/notesMaster1.xml" Id="Ra28eef87eb0f46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0b3d7a60904499" /><Relationship Type="http://schemas.openxmlformats.org/officeDocument/2006/relationships/notesMaster" Target="/ppt/notesMasters/notesMaster1.xml" Id="R8cfe4a5eaeca40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f5df2a74a84ac0" /><Relationship Type="http://schemas.openxmlformats.org/officeDocument/2006/relationships/notesMaster" Target="/ppt/notesMasters/notesMaster1.xml" Id="R27f94d63e51743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e778d57db34eb3" /><Relationship Type="http://schemas.openxmlformats.org/officeDocument/2006/relationships/notesMaster" Target="/ppt/notesMasters/notesMaster1.xml" Id="Rd684c85307a342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5e95be35b842e4" /><Relationship Type="http://schemas.openxmlformats.org/officeDocument/2006/relationships/notesMaster" Target="/ppt/notesMasters/notesMaster1.xml" Id="R9f20d2e6b4564c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ae24812fa242eb" /><Relationship Type="http://schemas.openxmlformats.org/officeDocument/2006/relationships/notesMaster" Target="/ppt/notesMasters/notesMaster1.xml" Id="R3248a31b5c3848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ed4b28cef1477d" /><Relationship Type="http://schemas.openxmlformats.org/officeDocument/2006/relationships/notesMaster" Target="/ppt/notesMasters/notesMaster1.xml" Id="Rec9ea58c651849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1c0bd13f234e98" /><Relationship Type="http://schemas.openxmlformats.org/officeDocument/2006/relationships/notesMaster" Target="/ppt/notesMasters/notesMaster1.xml" Id="Rabf9dcb04e5340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c9a453bf92474c" /><Relationship Type="http://schemas.openxmlformats.org/officeDocument/2006/relationships/notesMaster" Target="/ppt/notesMasters/notesMaster1.xml" Id="R90f20be16efd4e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9bbf5cbd2946b2" /><Relationship Type="http://schemas.openxmlformats.org/officeDocument/2006/relationships/notesMaster" Target="/ppt/notesMasters/notesMaster1.xml" Id="R832bdc7d2c0f48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78a8ae71414b17" /><Relationship Type="http://schemas.openxmlformats.org/officeDocument/2006/relationships/notesMaster" Target="/ppt/notesMasters/notesMaster1.xml" Id="R508e0d010a7942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03801d0080479f" /><Relationship Type="http://schemas.openxmlformats.org/officeDocument/2006/relationships/notesMaster" Target="/ppt/notesMasters/notesMaster1.xml" Id="Rbb82fe8614784d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e534555a194691" /><Relationship Type="http://schemas.openxmlformats.org/officeDocument/2006/relationships/notesMaster" Target="/ppt/notesMasters/notesMaster1.xml" Id="Rc98332431afe41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2870730bc94a77" /><Relationship Type="http://schemas.openxmlformats.org/officeDocument/2006/relationships/notesMaster" Target="/ppt/notesMasters/notesMaster1.xml" Id="R67caf3b7f5c640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e24ca9bd8f43fe" /><Relationship Type="http://schemas.openxmlformats.org/officeDocument/2006/relationships/notesMaster" Target="/ppt/notesMasters/notesMaster1.xml" Id="Rdd16b69801aa41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2c133105664056" /><Relationship Type="http://schemas.openxmlformats.org/officeDocument/2006/relationships/notesMaster" Target="/ppt/notesMasters/notesMaster1.xml" Id="Rc9f5b46d4bc843f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8ec1cb080574907" /><Relationship Type="http://schemas.openxmlformats.org/officeDocument/2006/relationships/notesMaster" Target="/ppt/notesMasters/notesMaster1.xml" Id="Re4fdf16666e54f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Willkommen zum Tutorial für OK-156. In dieser Präsentation bauen wir die komplette lokale Diagnosekette schrittweise auf. Das Ziel ist nicht nur, dass die Komponenten laufen, sondern dass wir verstehen, welche Rolle jede Komponente spielt und wo die Sicherheitsgrenzen liegen. Besonders wichtig ist der read-only Ansatz: Die KI darf Kubernetes beobachten und erklären, aber sie darf keine Workloads verändern. Am Ende kennen wir die Installationsreihenfolge, die wichtigsten Make-Befehle, sinnvolle Fragen an die KI und die Tests, mit denen wir die Umsetzung belegen.</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/Users/christopherschuf/Desktop/kubernauts/ok-local/kagent/README.md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setzt den Rahmen. Erstens wollen wir die Architektur verstehen: ok-mgmt-local verwaltet, ok-infra-local führt die Workloads aus. Zweitens lernen wir die Installationsreihenfolge, weil Phase 2 auf Phase 1 und beide auf Phase 0 aufbauen. Drittens üben wir konkrete Fragen an die KI. Viertens verifizieren wir die Sicherheitsgrenzen technisch, nicht nur über Prompts. Genau dieser letzte Punkt ist entscheidend: Ein Prompt ist keine Zugriffskontrolle. Die harte Grenze entsteht durch ServiceAccounts, RBAC, fehlende Token-Mounts und die Begrenzung auf drei MCP-Funktionen.</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/Users/christopherschuf/Desktop/kubernauts/ok-local/kagent/README.md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lokale Umgebung simuliert zwei Produktionsrollen. Der Management-Cluster enthält Crossplane und beschreibt, was im Infra-Cluster ausgerollt werden soll. Der Infra-Cluster trägt die eigentliche Last: Ollama stellt das lokale Modell bereit, Open WebUI ist die Benutzeroberfläche, kagent führt die Kubernetes-Werkzeuge aus und OpenClaw konsumiert die Diagnosefunktionen. Diese Trennung ist wichtig, weil wir dadurch bereits lokal kontrollieren können, welche Identität auf welchen Cluster zugreift. Die SSH-Tunnel machen beide Kubernetes-APIs vom Mac aus erreichbar, ohne die Rollen zusammenzulegen.</a:t>
            </a:r>
          </a:p>
          <a:p xmlns:a="http://schemas.openxmlformats.org/drawingml/2006/main">
            <a:r>
              <a:t/>
            </a:r>
          </a:p>
          <a:p xmlns:a="http://schemas.openxmlformats.org/drawingml/2006/main">
            <a:r>
              <a:t>[Sources]</a:t>
            </a:r>
          </a:p>
          <a:p xmlns:a="http://schemas.openxmlformats.org/drawingml/2006/main">
            <a:r>
              <a:t>- /Users/christopherschuf/Desktop/kubernauts/ok-local/README.md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Phasen sind bewusst sequenziell. Phase 0 schafft die Infrastruktur und die Benutzeroberfläche. Phase 1 installiert kagent separat und beweist den read-only Kubernetes-Zugriff mit drei Fixtures: gesund, ImagePullBackOff und CrashLoopBackOff. Erst danach ergänzt Phase 2 OpenClaw, den MCP-Adapter und die Facade. Das verhindert, dass wir bei einem Fehler zu viele unbekannte Komponenten gleichzeitig untersuchen müssen. Als Faustregel gilt: Eine Phase ist erst abgeschlossen, wenn ihr eigener Verify-Befehl erfolgreich ist.</a:t>
            </a:r>
          </a:p>
          <a:p xmlns:a="http://schemas.openxmlformats.org/drawingml/2006/main">
            <a:r>
              <a:t/>
            </a:r>
          </a:p>
          <a:p xmlns:a="http://schemas.openxmlformats.org/drawingml/2006/main">
            <a:r>
              <a:t>[Sources]</a:t>
            </a:r>
          </a:p>
          <a:p xmlns:a="http://schemas.openxmlformats.org/drawingml/2006/main">
            <a:r>
              <a:t>- /Users/christopherschuf/Desktop/kubernauts/ok-local/docs/ok-156-phase-0.md</a:t>
            </a:r>
          </a:p>
          <a:p xmlns:a="http://schemas.openxmlformats.org/drawingml/2006/main">
            <a:r>
              <a:t>- /Users/christopherschuf/Desktop/kubernauts/ok-local/kagent/README.md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Bevor wir installieren, prüfen wir die lokale Umgebung. Multipass stellt die VMs bereit, kubectl und Helm bedienen Kubernetes, Git lädt die gepinnten Quellen und Python führt die Prüfer aus. Besonders wichtig ist der Branch: Ein frischer Clone muss den Stand enthalten, auf dem kagent und openclaw vorhanden sind. Nach make setup prüfen wir beide Nodes. Wenn einer nicht Ready ist, wird nicht mit Crossplane oder Ollama weitergemacht. Dadurch bleibt die Fehlersuche klein und nachvollziehbar.</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/Users/christopherschuf/Desktop/kubernauts/ok-local/docs/ok-156-phase-0.md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0 besteht aus vier Bausteinen. make setup erstellt die Cluster und KubeVirt. Crossplane läuft auf dem Management-Cluster und erhält Provider-Konfigurationen für ok-infra-local. Ollama läuft auf dem Infra-Cluster und stellt das lokale Qwen3-Modell bereit. Open WebUI wird ebenfalls auf dem Infra-Cluster ausgerollt und ist später der echte Einstiegspunkt für die Akzeptanztests. Die erzeugten Verzeichnisse ollama und platform sind lokale Render-Ausgaben und werden nicht eingecheckt.</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/Users/christopherschuf/Desktop/kubernauts/ok-local/docs/ok-156-phase-0.md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vier Checks sind die Abnahmekriterien für die Basis. Beide Kubernetes-Nodes müssen Ready sein. Die Crossplane-Provider müssen Healthy melden, weil Open WebUI sonst nicht zuverlässig auf dem Infra-Cluster ausgerollt wird. Ollama muss bereit sein und das Qwen3-Modell auflisten. Schließlich müssen Open WebUI und Redis laufen. Wenn einer dieser Punkte fehlt, stoppen wir hier und beheben zuerst Phase 0. Das spart später viel Zeit, weil Fehler in Phase 2 häufig eigentlich fehlende Voraussetzungen sind.</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/Users/christopherschuf/Desktop/kubernauts/ok-local/docs/ok-156-phase-0.md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Phase 1 installieren wir kagent separat. Der Controller koordiniert Agents, PostgreSQL speichert den Zustand und das Dashboard ermöglicht manuelle Tests. Der Kubernetes Tool-Server besitzt eine gezielt eingeschränkte ServiceAccount-Identität. Er darf normale Ressourcen lesen, aber keine Secrets und keine schreibenden Aktionen ausführen. Drei Fixtures liefern reproduzierbare Fälle: ein gesunder Pod, ein Pod mit ungültigem Image und ein Container, der mit Exit-Code 42 wiederholt abstürzt. Damit lässt sich die Diagnose bereits vor der OpenClaw-Integration beweisen.</a:t>
            </a:r>
          </a:p>
          <a:p xmlns:a="http://schemas.openxmlformats.org/drawingml/2006/main">
            <a:r>
              <a:t/>
            </a:r>
          </a:p>
          <a:p xmlns:a="http://schemas.openxmlformats.org/drawingml/2006/main">
            <a:r>
              <a:t>[Sources]</a:t>
            </a:r>
          </a:p>
          <a:p xmlns:a="http://schemas.openxmlformats.org/drawingml/2006/main">
            <a:r>
              <a:t>- /Users/christopherschuf/Desktop/kubernauts/ok-local/kagent/README.md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Fixtures sind keine zufälligen Fehler, sondern bewusst erzeugte Testfälle. Healthy muss Running und Ready sein. Imagepull verwendet ein nicht verfügbares Image und soll daher Pending mit ImagePullBackOff oder ErrImagePull zeigen. Crashloop beendet den Container bewusst mit Exit-Code 42. K3s kann den Pod zwischen Neustarts kurz als Error anzeigen; entscheidend sind deshalb die Restarts und BackOff-Events. Diese klaren Erwartungen verhindern, dass eine plausibel klingende, aber falsche KI-Antwort als Erfolg gewertet wird.</a:t>
            </a:r>
          </a:p>
          <a:p xmlns:a="http://schemas.openxmlformats.org/drawingml/2006/main">
            <a:r>
              <a:t/>
            </a:r>
          </a:p>
          <a:p xmlns:a="http://schemas.openxmlformats.org/drawingml/2006/main">
            <a:r>
              <a:t>[Sources]</a:t>
            </a:r>
          </a:p>
          <a:p xmlns:a="http://schemas.openxmlformats.org/drawingml/2006/main">
            <a:r>
              <a:t>- /Users/christopherschuf/Desktop/kubernauts/ok-local/kagent/README.md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Phase-1-Workflow ist absichtlich einfach. Preflight lädt nur gepinnte Quellen und prüft Voraussetzungen. Install ist idempotent und kann erneut ausgeführt werden. Status zeigt die laufenden Komponenten. verify-kagent führt die vollständige Live-Prüfung aus. Wichtig ist der neue Name verify-kagent: Er ersetzt den früheren Namen verify-phase1. Ein erfolgreicher Lauf endet mit Phase 1 verification PASS und belegt sowohl Funktion als auch RBAC-Grenzen.</a:t>
            </a:r>
          </a:p>
          <a:p xmlns:a="http://schemas.openxmlformats.org/drawingml/2006/main">
            <a:r>
              <a:t/>
            </a:r>
          </a:p>
          <a:p xmlns:a="http://schemas.openxmlformats.org/drawingml/2006/main">
            <a:r>
              <a:t>[Sources]</a:t>
            </a:r>
          </a:p>
          <a:p xmlns:a="http://schemas.openxmlformats.org/drawingml/2006/main">
            <a:r>
              <a:t>- /Users/christopherschuf/Desktop/kubernauts/ok-local/kagent/README.md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kommt die vollständige Kette. Die Benutzerin meldet sich an Open WebUI an. Open WebUI authentifiziert sich mit einem separaten Gateway-Token gegenüber OpenClaw. OpenClaw besitzt selbst keine Kubernetes-Identität, sondern darf ausschließlich drei MCP-Funktionen aufrufen. Der Adapter übersetzt den MCP-Aufruf in den Diagnosevertrag, die Facade koordiniert kagent und nur der Tool-Server greift mit einem read-only ServiceAccount auf die Kubernetes-API zu. Diese Trennung ist der zentrale Sicherheitsgedanke von Phase 2.</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OpenClaw erhält nicht den gesamten kagent-Werkzeugkatalog. Die gepatchte Konfiguration erlaubt genau drei externe Funktionen. get_platform_health beantwortet die Cluster-Gesundheit. investigate_workload analysiert ein konkretes Workload. collect_diagnostic_evidence sammelt Evidenz. Der Verifier liest die MCP-Probe als JSON und vergleicht die Tool-Menge exakt. Eine unerwartete vierte Funktion würde den Test fehlschlagen lassen. Das ist stärker als nur zu prüfen, ob die drei erwarteten Namen irgendwo in der Ausgabe vorkommen.</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trennt Soft- und Hard-Controls. Ein Prompt kann dem Modell sagen, dass es nichts verändern soll, aber er verhindert technisch keinen Zugriff. Deshalb haben OpenClaw, Adapter und Facade keinen Kubernetes-Token. Auch die kagent-Agenten mounten kein normales Kubernetes-API-Token; sie behalten nur ein Audience-gebundenes kagent-Token. Ausschließlich der Pod platform-diagnostics-tools verwendet den Kubernetes ServiceAccount. Dessen ClusterRole erlaubt nur get, list und watch auf ausgewählten Ressourcen. Secret-Zugriffe, Writes und Wildcards sind ausgeschlossen und werden live mit kubectl auth can-i geprüft.</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 openclaw install ist der zentrale Phase-2-Befehl. Er prüft die Voraussetzungen, lädt die gepinnte Qwen3-Instruct-Variante, installiert alle Deployments, härtet die Agent-ServiceAccounts, konfiguriert Open WebUI und startet abschließend make verify. Weil das lokale Modell auf CPU läuft, dauert der E2E-Teil deutlich länger als die Kubernetes-Rollouts. Das ist erwartbar. Für eine reine Wiederholungsprüfung verwenden wir make -C openclaw verify. Für Statusinformationen ohne lange Modellaufrufe verwenden wir make -C openclaw status.</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manuellen Tests wählen wir in Open WebUI das Modell openclaw/default. Gute Fragen enthalten den Cluster ok-infra-local, den Namespace kagent-lab und einen eindeutigen Workload-Namen. Die KI darf erklären und Evidenz sammeln, aber sie darf nicht neu starten, löschen oder patchen. Wenn eine Frage wie 'Repariere den Pod' gestellt wird, darf das System höchstens einen Vorschlag formulieren. Die automatische Akzeptanzprüfung verwendet noch strengere Prompts und kontrolliert, dass die Argumente unverändert bis zur Diagnosefunktion gelangen.</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aktuell versionierte Acceptance-Datei zeigt fünf erfolgreiche Szenarien. Platform Health benötigte rund 278 Sekunden, Healthy rund 132 Sekunden, ImagePullBackOff rund 913 Sekunden, CrashLoopBackOff rund 827 Sekunden und Evidence rund 136 Sekunden. Die langen Zeiten entstehen durch serielle lokale Modellaufrufe auf CPU. Entscheidend ist, dass alle Aufrufe über den authentifizierten Open-WebUI-Einstieg liefen und nicht direkt an OpenClaw vorbeigetestet wurden. Die Evidence-Datei speichert nur Hashes, Laufzeiten und Ressourcenmaxima, keine Prompts, Antworten oder Secrets.</a:t>
            </a:r>
          </a:p>
          <a:p xmlns:a="http://schemas.openxmlformats.org/drawingml/2006/main">
            <a:r>
              <a:t/>
            </a:r>
          </a:p>
          <a:p xmlns:a="http://schemas.openxmlformats.org/drawingml/2006/main">
            <a:r>
              <a:t>[Sources]</a:t>
            </a:r>
          </a:p>
          <a:p xmlns:a="http://schemas.openxmlformats.org/drawingml/2006/main">
            <a:r>
              <a:t>- /Users/christopherschuf/Desktop/kubernauts/ok-local/openclaw/evidence/phase2-acceptance.json</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Messwerte zeigen, dass Ollama die Ressourcenhülle dominiert. Im letzten Lauf erreichte Ollama knapp vier CPU-Kerne und etwa 4,26 GiB RAM. OpenClaw blieb bei rund 405 MiB RAM, während Facade, Adapter und Tool-Server deutlich kleiner waren. Deshalb verwendet die Konfiguration ein Q4-quantisiertes 4B-Modell, einen einheitlichen 10240-Token-Kontext, Flash Attention und begrenzte Caches. Unterschiedliche Kontextgrößen könnten mehrere KV-Caches erzeugen und den lokalen 6-GiB-Ollama-Limit überschreiten.</a:t>
            </a:r>
          </a:p>
          <a:p xmlns:a="http://schemas.openxmlformats.org/drawingml/2006/main">
            <a:r>
              <a:t/>
            </a:r>
          </a:p>
          <a:p xmlns:a="http://schemas.openxmlformats.org/drawingml/2006/main">
            <a:r>
              <a:t>[Sources]</a:t>
            </a:r>
          </a:p>
          <a:p xmlns:a="http://schemas.openxmlformats.org/drawingml/2006/main">
            <a:r>
              <a:t>- /Users/christopherschuf/Desktop/kubernauts/ok-local/openclaw/evidence/phase2-acceptance.json</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 Betrieb unterscheiden wir drei Fragen. verify prüft statische Regeln, Live-Zustand, RBAC und alle fünf E2E-Szenarien. restart-test startet Tool-Server, Agents, Facade, Adapter und OpenClaw neu und prüft anschließend die Recovery ohne den langen E2E-Teil. lifecycle-test entfernt ausschließlich Phase 2, bestätigt die saubere Entfernung, installiert identisch neu und führt die vollständige Prüfung aus. Phase 1, Ollama, Open WebUI und die VMs bleiben dabei erhalten.</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Zum Abschluss prüfen wir nicht nur, ob Pods laufen. Phase 0 muss seine Basiszustände liefern. Phase 1 muss verify-kagent bestehen. Phase 2 muss alle fünf Szenarien über Open WebUI bestehen. Der ServiceAccount-Nachweis muss zeigen, dass nur platform-diagnostics-tools Pods lesen kann. Schließlich prüfen wir mit git add --dry-run, dass keine Tokens, Kubeconfigs oder generierten Verzeichnisse in den Commit gelangen. Wenn diese Punkte erfüllt sind, ist der Stand reproduzierbar, sicher abgegrenzt und bereit für Review und Acceptance.</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/Users/christopherschuf/Desktop/kubernauts/ok-local/kagent/README.md</a:t>
            </a:r>
          </a:p>
          <a:p xmlns:a="http://schemas.openxmlformats.org/drawingml/2006/main">
            <a:r>
              <a:t>- /Users/christopherschuf/Desktop/kubernauts/ok-local/openclaw/README.md</a:t>
            </a:r>
          </a:p>
          <a:p xmlns:a="http://schemas.openxmlformats.org/drawingml/2006/main">
            <a:r>
              <a:t>- /Users/christopherschuf/Desktop/kubernauts/ok-local/openclaw/evidence/phase2-acceptance.json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83ea4fc98243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586c3d284a4820" /><Relationship Type="http://schemas.openxmlformats.org/officeDocument/2006/relationships/slideLayout" Target="/ppt/slideLayouts/slideLayout1.xml" Id="R02e303b5801a4a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303b5801a4a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2c96ae64024d43" /><Relationship Type="http://schemas.openxmlformats.org/officeDocument/2006/relationships/notesSlide" Target="/ppt/notesSlides/notesSlide1.xml" Id="R9c3677db631e45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8d5decd7194468" /><Relationship Type="http://schemas.openxmlformats.org/officeDocument/2006/relationships/notesSlide" Target="/ppt/notesSlides/notesSlide2.xml" Id="R9660642fde3547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b2ef94333a4b6f" /><Relationship Type="http://schemas.openxmlformats.org/officeDocument/2006/relationships/notesSlide" Target="/ppt/notesSlides/notesSlide3.xml" Id="Rbc22ed6ffe114e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3c3725f4f04ba1" /><Relationship Type="http://schemas.openxmlformats.org/officeDocument/2006/relationships/notesSlide" Target="/ppt/notesSlides/notesSlide4.xml" Id="R66fc6671b6a245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d32feca53b4465" /><Relationship Type="http://schemas.openxmlformats.org/officeDocument/2006/relationships/notesSlide" Target="/ppt/notesSlides/notesSlide5.xml" Id="R910cb3c104ec4d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bfac49ff8c4bfc" /><Relationship Type="http://schemas.openxmlformats.org/officeDocument/2006/relationships/notesSlide" Target="/ppt/notesSlides/notesSlide6.xml" Id="Rcd6ad1d2832b4e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a69bd2c57540fb" /><Relationship Type="http://schemas.openxmlformats.org/officeDocument/2006/relationships/notesSlide" Target="/ppt/notesSlides/notesSlide7.xml" Id="R456addce74cb4c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7bec9d3df3417a" /><Relationship Type="http://schemas.openxmlformats.org/officeDocument/2006/relationships/notesSlide" Target="/ppt/notesSlides/notesSlide8.xml" Id="Ra0ac589fca0641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1c9004c2c34d33" /><Relationship Type="http://schemas.openxmlformats.org/officeDocument/2006/relationships/notesSlide" Target="/ppt/notesSlides/notesSlide9.xml" Id="Rc6fd44e744204a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fb638b60ac54662" /><Relationship Type="http://schemas.openxmlformats.org/officeDocument/2006/relationships/notesSlide" Target="/ppt/notesSlides/notesSlide10.xml" Id="R6b73a715284a44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eb7d02478204b7f" /><Relationship Type="http://schemas.openxmlformats.org/officeDocument/2006/relationships/notesSlide" Target="/ppt/notesSlides/notesSlide11.xml" Id="Rd5c0a2f06eb449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5c1137c1064f88" /><Relationship Type="http://schemas.openxmlformats.org/officeDocument/2006/relationships/notesSlide" Target="/ppt/notesSlides/notesSlide12.xml" Id="R77a258a9a2ac4f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8547f0e1474316" /><Relationship Type="http://schemas.openxmlformats.org/officeDocument/2006/relationships/notesSlide" Target="/ppt/notesSlides/notesSlide13.xml" Id="R1c1f7630757048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f4ed6e1320444ed" /><Relationship Type="http://schemas.openxmlformats.org/officeDocument/2006/relationships/notesSlide" Target="/ppt/notesSlides/notesSlide14.xml" Id="R5872cce5500e44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cf304f28e844a3b" /><Relationship Type="http://schemas.openxmlformats.org/officeDocument/2006/relationships/notesSlide" Target="/ppt/notesSlides/notesSlide15.xml" Id="Rbb8c409effcd42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a76fba08cff4110" /><Relationship Type="http://schemas.openxmlformats.org/officeDocument/2006/relationships/notesSlide" Target="/ppt/notesSlides/notesSlide16.xml" Id="Re19e6b86e43042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9b4fb1e35a049d4" /><Relationship Type="http://schemas.openxmlformats.org/officeDocument/2006/relationships/notesSlide" Target="/ppt/notesSlides/notesSlide17.xml" Id="Rd7f99d64aded4d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8b180cba697443d" /><Relationship Type="http://schemas.openxmlformats.org/officeDocument/2006/relationships/notesSlide" Target="/ppt/notesSlides/notesSlide18.xml" Id="R7655bd3a623645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4df4736388463e" /><Relationship Type="http://schemas.openxmlformats.org/officeDocument/2006/relationships/notesSlide" Target="/ppt/notesSlides/notesSlide19.xml" Id="Rd4b860be9a124b1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BB7F4A-1004-45CE-9550-1CAAFDC462AA}"/>
              </a:ext>
            </a:extLst>
          </p:cNvPr>
          <p:cNvSpPr>
            <a:spLocks xmlns:a="http://schemas.openxmlformats.org/drawingml/2006/main" noGrp="1"/>
          </p:cNvSpPr>
          <p:nvPr/>
        </p:nvSpPr>
        <p:spPr>
          <a:xfrm xmlns:a="http://schemas.openxmlformats.org/drawingml/2006/main">
            <a:off x="6667500" y="0"/>
            <a:ext cx="5524500" cy="6858000"/>
          </a:xfrm>
          <a:prstGeom xmlns:a="http://schemas.openxmlformats.org/drawingml/2006/main" prst="rect">
            <a:avLst/>
          </a:prstGeom>
          <a:solidFill xmlns:a="http://schemas.openxmlformats.org/drawingml/2006/main">
            <a:srgbClr val="EEF7F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5BBBF3-A57C-4C4B-9C90-278ECCFD1326}"/>
              </a:ext>
            </a:extLst>
          </p:cNvPr>
          <p:cNvSpPr>
            <a:spLocks xmlns:a="http://schemas.openxmlformats.org/drawingml/2006/main" noGrp="1"/>
          </p:cNvSpPr>
          <p:nvPr/>
        </p:nvSpPr>
        <p:spPr>
          <a:xfrm xmlns:a="http://schemas.openxmlformats.org/drawingml/2006/main">
            <a:off x="590550" y="5524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OK-156</a:t>
            </a:r>
          </a:p>
        </p:txBody>
      </p:sp>
      <p:sp>
        <p:nvSpPr>
          <p:cNvPr id="3" name="deck-title">
            <a:extLst xmlns:a="http://schemas.openxmlformats.org/drawingml/2006/main">
              <a:ext uri="{FF2B5EF4-FFF2-40B4-BE49-F238E27FC236}">
                <a16:creationId xmlns:a16="http://schemas.microsoft.com/office/drawing/2014/main" id="{E65DAFF6-6244-4EB5-B853-5D2E9C5D0394}"/>
              </a:ext>
            </a:extLst>
          </p:cNvPr>
          <p:cNvSpPr>
            <a:spLocks xmlns:a="http://schemas.openxmlformats.org/drawingml/2006/main" noGrp="1"/>
          </p:cNvSpPr>
          <p:nvPr/>
        </p:nvSpPr>
        <p:spPr>
          <a:xfrm xmlns:a="http://schemas.openxmlformats.org/drawingml/2006/main">
            <a:off x="590550" y="1638300"/>
            <a:ext cx="5619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111111"/>
                </a:solidFill>
                <a:latin typeface="Helvetica Neue"/>
                <a:ea typeface="Helvetica Neue"/>
                <a:cs typeface="Helvetica Neue"/>
              </a:defRPr>
            </a:pPr>
            <a:r>
              <a:rPr sz="4350" b="1">
                <a:solidFill>
                  <a:srgbClr val="111111"/>
                </a:solidFill>
                <a:latin typeface="Helvetica Neue"/>
                <a:ea typeface="Helvetica Neue"/>
                <a:cs typeface="Helvetica Neue"/>
              </a:rPr>
              <a:t>Lokale KI-Diagnose</a:t>
            </a:r>
          </a:p>
          <a:p xmlns:a="http://schemas.openxmlformats.org/drawingml/2006/main">
            <a:pPr algn="l">
              <a:defRPr sz="4350" b="1">
                <a:solidFill>
                  <a:srgbClr val="111111"/>
                </a:solidFill>
                <a:latin typeface="Helvetica Neue"/>
                <a:ea typeface="Helvetica Neue"/>
                <a:cs typeface="Helvetica Neue"/>
              </a:defRPr>
            </a:pPr>
            <a:r>
              <a:rPr sz="4350" b="1">
                <a:solidFill>
                  <a:srgbClr val="111111"/>
                </a:solidFill>
                <a:latin typeface="Helvetica Neue"/>
                <a:ea typeface="Helvetica Neue"/>
                <a:cs typeface="Helvetica Neue"/>
              </a:rPr>
              <a:t>für Kubernetes</a:t>
            </a:r>
          </a:p>
        </p:txBody>
      </p:sp>
      <p:sp>
        <p:nvSpPr>
          <p:cNvPr id="4" name="">
            <a:extLst xmlns:a="http://schemas.openxmlformats.org/drawingml/2006/main">
              <a:ext uri="{FF2B5EF4-FFF2-40B4-BE49-F238E27FC236}">
                <a16:creationId xmlns:a16="http://schemas.microsoft.com/office/drawing/2014/main" id="{D58B7B62-60C9-4423-9212-9AA3133136E1}"/>
              </a:ext>
            </a:extLst>
          </p:cNvPr>
          <p:cNvSpPr>
            <a:spLocks xmlns:a="http://schemas.openxmlformats.org/drawingml/2006/main" noGrp="1"/>
          </p:cNvSpPr>
          <p:nvPr/>
        </p:nvSpPr>
        <p:spPr>
          <a:xfrm xmlns:a="http://schemas.openxmlformats.org/drawingml/2006/main">
            <a:off x="590550" y="3638550"/>
            <a:ext cx="514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5D6570"/>
                </a:solidFill>
                <a:latin typeface="Helvetica Neue"/>
                <a:ea typeface="Helvetica Neue"/>
                <a:cs typeface="Helvetica Neue"/>
              </a:defRPr>
            </a:pPr>
            <a:r>
              <a:rPr sz="1875" b="0">
                <a:solidFill>
                  <a:srgbClr val="5D6570"/>
                </a:solidFill>
                <a:latin typeface="Helvetica Neue"/>
                <a:ea typeface="Helvetica Neue"/>
                <a:cs typeface="Helvetica Neue"/>
              </a:rPr>
              <a:t>Tutorial für Phase 0–2</a:t>
            </a:r>
          </a:p>
          <a:p xmlns:a="http://schemas.openxmlformats.org/drawingml/2006/main">
            <a:pPr algn="l">
              <a:defRPr sz="1875" b="0">
                <a:solidFill>
                  <a:srgbClr val="5D6570"/>
                </a:solidFill>
                <a:latin typeface="Helvetica Neue"/>
                <a:ea typeface="Helvetica Neue"/>
                <a:cs typeface="Helvetica Neue"/>
              </a:defRPr>
            </a:pPr>
            <a:r>
              <a:rPr sz="1875" b="0">
                <a:solidFill>
                  <a:srgbClr val="5D6570"/>
                </a:solidFill>
                <a:latin typeface="Helvetica Neue"/>
                <a:ea typeface="Helvetica Neue"/>
                <a:cs typeface="Helvetica Neue"/>
              </a:rPr>
              <a:t>mit Open WebUI, OpenClaw und kagent</a:t>
            </a:r>
          </a:p>
        </p:txBody>
      </p:sp>
      <p:cxnSp>
        <p:nvCxnSpPr>
          <p:cNvPr id="15" name=""/>
          <p:cNvCxnSpPr/>
          <p:nvPr/>
        </p:nvCxnSpPr>
        <p:spPr>
          <a:xfrm xmlns:a="http://schemas.openxmlformats.org/drawingml/2006/main">
            <a:off x="7239000" y="1562100"/>
            <a:ext cx="3714750" cy="0"/>
          </a:xfrm>
          <a:prstGeom xmlns:a="http://schemas.openxmlformats.org/drawingml/2006/main" prst="straightConnector1">
            <a:avLst/>
          </a:prstGeom>
          <a:ln xmlns:a="http://schemas.openxmlformats.org/drawingml/2006/main" w="38100">
            <a:solidFill>
              <a:srgbClr val="3D8DFF"/>
            </a:solidFill>
            <a:prstDash val="solid"/>
          </a:ln>
        </p:spPr>
      </p:cxnSp>
      <p:sp>
        <p:nvSpPr>
          <p:cNvPr id="6" name="">
            <a:extLst xmlns:a="http://schemas.openxmlformats.org/drawingml/2006/main">
              <a:ext uri="{FF2B5EF4-FFF2-40B4-BE49-F238E27FC236}">
                <a16:creationId xmlns:a16="http://schemas.microsoft.com/office/drawing/2014/main" id="{3E560366-10B9-4CA3-BF28-718438E1DCF2}"/>
              </a:ext>
            </a:extLst>
          </p:cNvPr>
          <p:cNvSpPr>
            <a:spLocks xmlns:a="http://schemas.openxmlformats.org/drawingml/2006/main" noGrp="1"/>
          </p:cNvSpPr>
          <p:nvPr/>
        </p:nvSpPr>
        <p:spPr>
          <a:xfrm xmlns:a="http://schemas.openxmlformats.org/drawingml/2006/main">
            <a:off x="7239000" y="18669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READ-ONLY</a:t>
            </a:r>
          </a:p>
        </p:txBody>
      </p:sp>
      <p:sp>
        <p:nvSpPr>
          <p:cNvPr id="7" name="">
            <a:extLst xmlns:a="http://schemas.openxmlformats.org/drawingml/2006/main">
              <a:ext uri="{FF2B5EF4-FFF2-40B4-BE49-F238E27FC236}">
                <a16:creationId xmlns:a16="http://schemas.microsoft.com/office/drawing/2014/main" id="{E2684E91-2990-481B-96D6-F9195A540F88}"/>
              </a:ext>
            </a:extLst>
          </p:cNvPr>
          <p:cNvSpPr>
            <a:spLocks xmlns:a="http://schemas.openxmlformats.org/drawingml/2006/main" noGrp="1"/>
          </p:cNvSpPr>
          <p:nvPr/>
        </p:nvSpPr>
        <p:spPr>
          <a:xfrm xmlns:a="http://schemas.openxmlformats.org/drawingml/2006/main">
            <a:off x="7239000" y="2571750"/>
            <a:ext cx="3905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defRPr sz="2550" b="1">
                <a:solidFill>
                  <a:srgbClr val="111111"/>
                </a:solidFill>
                <a:latin typeface="Helvetica Neue"/>
                <a:ea typeface="Helvetica Neue"/>
                <a:cs typeface="Helvetica Neue"/>
              </a:defRPr>
            </a:pPr>
            <a:r>
              <a:rPr sz="2550" b="1">
                <a:solidFill>
                  <a:srgbClr val="111111"/>
                </a:solidFill>
                <a:latin typeface="Helvetica Neue"/>
                <a:ea typeface="Helvetica Neue"/>
                <a:cs typeface="Helvetica Neue"/>
              </a:rPr>
              <a:t>Vom lokalen Cluster bis zur</a:t>
            </a:r>
          </a:p>
          <a:p xmlns:a="http://schemas.openxmlformats.org/drawingml/2006/main">
            <a:pPr algn="l">
              <a:defRPr sz="2550" b="1">
                <a:solidFill>
                  <a:srgbClr val="111111"/>
                </a:solidFill>
                <a:latin typeface="Helvetica Neue"/>
                <a:ea typeface="Helvetica Neue"/>
                <a:cs typeface="Helvetica Neue"/>
              </a:defRPr>
            </a:pPr>
            <a:r>
              <a:rPr sz="2550" b="1">
                <a:solidFill>
                  <a:srgbClr val="111111"/>
                </a:solidFill>
                <a:latin typeface="Helvetica Neue"/>
                <a:ea typeface="Helvetica Neue"/>
                <a:cs typeface="Helvetica Neue"/>
              </a:rPr>
              <a:t>geprüften Diagnosekette</a:t>
            </a:r>
          </a:p>
        </p:txBody>
      </p:sp>
      <p:sp>
        <p:nvSpPr>
          <p:cNvPr id="8" name="">
            <a:extLst xmlns:a="http://schemas.openxmlformats.org/drawingml/2006/main">
              <a:ext uri="{FF2B5EF4-FFF2-40B4-BE49-F238E27FC236}">
                <a16:creationId xmlns:a16="http://schemas.microsoft.com/office/drawing/2014/main" id="{3D2137F9-F817-4864-80B6-F27C95F06105}"/>
              </a:ext>
            </a:extLst>
          </p:cNvPr>
          <p:cNvSpPr>
            <a:spLocks xmlns:a="http://schemas.openxmlformats.org/drawingml/2006/main" noGrp="1"/>
          </p:cNvSpPr>
          <p:nvPr/>
        </p:nvSpPr>
        <p:spPr>
          <a:xfrm xmlns:a="http://schemas.openxmlformats.org/drawingml/2006/main">
            <a:off x="7239000" y="441960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D6570"/>
                </a:solidFill>
                <a:latin typeface="Helvetica Neue"/>
                <a:ea typeface="Helvetica Neue"/>
                <a:cs typeface="Helvetica Neue"/>
              </a:defRPr>
            </a:pPr>
            <a:r>
              <a:rPr sz="1650" b="0">
                <a:solidFill>
                  <a:srgbClr val="5D6570"/>
                </a:solidFill>
                <a:latin typeface="Helvetica Neue"/>
                <a:ea typeface="Helvetica Neue"/>
                <a:cs typeface="Helvetica Neue"/>
              </a:rPr>
              <a:t>Open WebUI → OpenClaw → MCP → kagent</a:t>
            </a:r>
          </a:p>
        </p:txBody>
      </p:sp>
      <p:sp>
        <p:nvSpPr>
          <p:cNvPr id="9" name="">
            <a:extLst xmlns:a="http://schemas.openxmlformats.org/drawingml/2006/main">
              <a:ext uri="{FF2B5EF4-FFF2-40B4-BE49-F238E27FC236}">
                <a16:creationId xmlns:a16="http://schemas.microsoft.com/office/drawing/2014/main" id="{2D01FE58-DB1F-41B3-84AD-0ADFD63BB06E}"/>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OPENKUBES LOCAL</a:t>
            </a:r>
          </a:p>
        </p:txBody>
      </p:sp>
      <p:sp>
        <p:nvSpPr>
          <p:cNvPr id="10" name="">
            <a:extLst xmlns:a="http://schemas.openxmlformats.org/drawingml/2006/main">
              <a:ext uri="{FF2B5EF4-FFF2-40B4-BE49-F238E27FC236}">
                <a16:creationId xmlns:a16="http://schemas.microsoft.com/office/drawing/2014/main" id="{44588020-F9B3-4CDB-A7BC-F7BB82EE87EB}"/>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01</a:t>
            </a:r>
          </a:p>
        </p:txBody>
      </p:sp>
    </p:spTree>
    <p:extLst>
      <p:ext uri="{BB962C8B-B14F-4D97-AF65-F5344CB8AC3E}">
        <p14:creationId xmlns:p14="http://schemas.microsoft.com/office/powerpoint/2010/main" val="7385746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49AC605A-3FC8-4594-B6F9-49A2424C549B}"/>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Am Ende kannst du das System selbst betreiben</a:t>
            </a:r>
          </a:p>
        </p:txBody>
      </p:sp>
      <p:sp>
        <p:nvSpPr>
          <p:cNvPr id="2" name="">
            <a:extLst xmlns:a="http://schemas.openxmlformats.org/drawingml/2006/main">
              <a:ext uri="{FF2B5EF4-FFF2-40B4-BE49-F238E27FC236}">
                <a16:creationId xmlns:a16="http://schemas.microsoft.com/office/drawing/2014/main" id="{51C78F10-7096-4E08-B9AB-F0989168884D}"/>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Vier konkrete Lernziele führen durch das Tutorial.</a:t>
            </a:r>
          </a:p>
        </p:txBody>
      </p:sp>
      <p:cxnSp>
        <p:nvCxnSpPr>
          <p:cNvPr id="23"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18F31826-EC33-48C5-B81C-D5C4CDCF3A33}"/>
              </a:ext>
            </a:extLst>
          </p:cNvPr>
          <p:cNvSpPr>
            <a:spLocks xmlns:a="http://schemas.openxmlformats.org/drawingml/2006/main" noGrp="1"/>
          </p:cNvSpPr>
          <p:nvPr/>
        </p:nvSpPr>
        <p:spPr>
          <a:xfrm xmlns:a="http://schemas.openxmlformats.org/drawingml/2006/main">
            <a:off x="685800" y="209550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31359252-56E7-4A06-B6BA-C559DFF0A432}"/>
              </a:ext>
            </a:extLst>
          </p:cNvPr>
          <p:cNvSpPr>
            <a:spLocks xmlns:a="http://schemas.openxmlformats.org/drawingml/2006/main" noGrp="1"/>
          </p:cNvSpPr>
          <p:nvPr/>
        </p:nvSpPr>
        <p:spPr>
          <a:xfrm xmlns:a="http://schemas.openxmlformats.org/drawingml/2006/main">
            <a:off x="1619250" y="20669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Architektur verstehen</a:t>
            </a:r>
          </a:p>
        </p:txBody>
      </p:sp>
      <p:sp>
        <p:nvSpPr>
          <p:cNvPr id="6" name="">
            <a:extLst xmlns:a="http://schemas.openxmlformats.org/drawingml/2006/main">
              <a:ext uri="{FF2B5EF4-FFF2-40B4-BE49-F238E27FC236}">
                <a16:creationId xmlns:a16="http://schemas.microsoft.com/office/drawing/2014/main" id="{9494604A-5EA6-41A1-AD17-B923A79D46FA}"/>
              </a:ext>
            </a:extLst>
          </p:cNvPr>
          <p:cNvSpPr>
            <a:spLocks xmlns:a="http://schemas.openxmlformats.org/drawingml/2006/main" noGrp="1"/>
          </p:cNvSpPr>
          <p:nvPr/>
        </p:nvSpPr>
        <p:spPr>
          <a:xfrm xmlns:a="http://schemas.openxmlformats.org/drawingml/2006/main">
            <a:off x="4953000" y="20955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Management- und Infra-Cluster klar unterscheiden.</a:t>
            </a:r>
          </a:p>
        </p:txBody>
      </p:sp>
      <p:cxnSp>
        <p:nvCxnSpPr>
          <p:cNvPr id="27" name=""/>
          <p:cNvCxnSpPr/>
          <p:nvPr/>
        </p:nvCxnSpPr>
        <p:spPr>
          <a:xfrm xmlns:a="http://schemas.openxmlformats.org/drawingml/2006/main">
            <a:off x="685800" y="2733675"/>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AF474324-31C3-440D-9840-334D340C5009}"/>
              </a:ext>
            </a:extLst>
          </p:cNvPr>
          <p:cNvSpPr>
            <a:spLocks xmlns:a="http://schemas.openxmlformats.org/drawingml/2006/main" noGrp="1"/>
          </p:cNvSpPr>
          <p:nvPr/>
        </p:nvSpPr>
        <p:spPr>
          <a:xfrm xmlns:a="http://schemas.openxmlformats.org/drawingml/2006/main">
            <a:off x="685800" y="307657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A237E813-F47C-442F-8E82-80051220143C}"/>
              </a:ext>
            </a:extLst>
          </p:cNvPr>
          <p:cNvSpPr>
            <a:spLocks xmlns:a="http://schemas.openxmlformats.org/drawingml/2006/main" noGrp="1"/>
          </p:cNvSpPr>
          <p:nvPr/>
        </p:nvSpPr>
        <p:spPr>
          <a:xfrm xmlns:a="http://schemas.openxmlformats.org/drawingml/2006/main">
            <a:off x="1619250" y="3048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Phasen installieren</a:t>
            </a:r>
          </a:p>
        </p:txBody>
      </p:sp>
      <p:sp>
        <p:nvSpPr>
          <p:cNvPr id="10" name="">
            <a:extLst xmlns:a="http://schemas.openxmlformats.org/drawingml/2006/main">
              <a:ext uri="{FF2B5EF4-FFF2-40B4-BE49-F238E27FC236}">
                <a16:creationId xmlns:a16="http://schemas.microsoft.com/office/drawing/2014/main" id="{CF64848B-A288-4592-937E-962C26ECCE0F}"/>
              </a:ext>
            </a:extLst>
          </p:cNvPr>
          <p:cNvSpPr>
            <a:spLocks xmlns:a="http://schemas.openxmlformats.org/drawingml/2006/main" noGrp="1"/>
          </p:cNvSpPr>
          <p:nvPr/>
        </p:nvSpPr>
        <p:spPr>
          <a:xfrm xmlns:a="http://schemas.openxmlformats.org/drawingml/2006/main">
            <a:off x="4953000" y="30765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Phase 0, 1 und 2 in der richtigen Reihenfolge ausführen.</a:t>
            </a:r>
          </a:p>
        </p:txBody>
      </p:sp>
      <p:cxnSp>
        <p:nvCxnSpPr>
          <p:cNvPr id="31" name=""/>
          <p:cNvCxnSpPr/>
          <p:nvPr/>
        </p:nvCxnSpPr>
        <p:spPr>
          <a:xfrm xmlns:a="http://schemas.openxmlformats.org/drawingml/2006/main">
            <a:off x="685800" y="3714750"/>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6F300E5F-12E9-4A64-8E5C-765625181FD3}"/>
              </a:ext>
            </a:extLst>
          </p:cNvPr>
          <p:cNvSpPr>
            <a:spLocks xmlns:a="http://schemas.openxmlformats.org/drawingml/2006/main" noGrp="1"/>
          </p:cNvSpPr>
          <p:nvPr/>
        </p:nvSpPr>
        <p:spPr>
          <a:xfrm xmlns:a="http://schemas.openxmlformats.org/drawingml/2006/main">
            <a:off x="685800" y="405765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0C53BA71-CBE3-47A5-B4B3-C00D1E2A3920}"/>
              </a:ext>
            </a:extLst>
          </p:cNvPr>
          <p:cNvSpPr>
            <a:spLocks xmlns:a="http://schemas.openxmlformats.org/drawingml/2006/main" noGrp="1"/>
          </p:cNvSpPr>
          <p:nvPr/>
        </p:nvSpPr>
        <p:spPr>
          <a:xfrm xmlns:a="http://schemas.openxmlformats.org/drawingml/2006/main">
            <a:off x="1619250" y="4029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KI sinnvoll nutzen</a:t>
            </a:r>
          </a:p>
        </p:txBody>
      </p:sp>
      <p:sp>
        <p:nvSpPr>
          <p:cNvPr id="14" name="">
            <a:extLst xmlns:a="http://schemas.openxmlformats.org/drawingml/2006/main">
              <a:ext uri="{FF2B5EF4-FFF2-40B4-BE49-F238E27FC236}">
                <a16:creationId xmlns:a16="http://schemas.microsoft.com/office/drawing/2014/main" id="{3BA32646-5E9E-4CD5-B079-B6D064B74CE2}"/>
              </a:ext>
            </a:extLst>
          </p:cNvPr>
          <p:cNvSpPr>
            <a:spLocks xmlns:a="http://schemas.openxmlformats.org/drawingml/2006/main" noGrp="1"/>
          </p:cNvSpPr>
          <p:nvPr/>
        </p:nvSpPr>
        <p:spPr>
          <a:xfrm xmlns:a="http://schemas.openxmlformats.org/drawingml/2006/main">
            <a:off x="4953000" y="40576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Clusterzustand, Workloads und Evidenz abfragen.</a:t>
            </a:r>
          </a:p>
        </p:txBody>
      </p:sp>
      <p:cxnSp>
        <p:nvCxnSpPr>
          <p:cNvPr id="35" name=""/>
          <p:cNvCxnSpPr/>
          <p:nvPr/>
        </p:nvCxnSpPr>
        <p:spPr>
          <a:xfrm xmlns:a="http://schemas.openxmlformats.org/drawingml/2006/main">
            <a:off x="685800" y="4695825"/>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869ED644-B764-4333-84D7-40E05E2BEE24}"/>
              </a:ext>
            </a:extLst>
          </p:cNvPr>
          <p:cNvSpPr>
            <a:spLocks xmlns:a="http://schemas.openxmlformats.org/drawingml/2006/main" noGrp="1"/>
          </p:cNvSpPr>
          <p:nvPr/>
        </p:nvSpPr>
        <p:spPr>
          <a:xfrm xmlns:a="http://schemas.openxmlformats.org/drawingml/2006/main">
            <a:off x="685800" y="503872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04</a:t>
            </a:r>
          </a:p>
        </p:txBody>
      </p:sp>
      <p:sp>
        <p:nvSpPr>
          <p:cNvPr id="17" name="">
            <a:extLst xmlns:a="http://schemas.openxmlformats.org/drawingml/2006/main">
              <a:ext uri="{FF2B5EF4-FFF2-40B4-BE49-F238E27FC236}">
                <a16:creationId xmlns:a16="http://schemas.microsoft.com/office/drawing/2014/main" id="{22531CD7-AE00-4A1E-974D-0B0B2CBE6854}"/>
              </a:ext>
            </a:extLst>
          </p:cNvPr>
          <p:cNvSpPr>
            <a:spLocks xmlns:a="http://schemas.openxmlformats.org/drawingml/2006/main" noGrp="1"/>
          </p:cNvSpPr>
          <p:nvPr/>
        </p:nvSpPr>
        <p:spPr>
          <a:xfrm xmlns:a="http://schemas.openxmlformats.org/drawingml/2006/main">
            <a:off x="1619250" y="50101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Sicherheit beweisen</a:t>
            </a:r>
          </a:p>
        </p:txBody>
      </p:sp>
      <p:sp>
        <p:nvSpPr>
          <p:cNvPr id="18" name="">
            <a:extLst xmlns:a="http://schemas.openxmlformats.org/drawingml/2006/main">
              <a:ext uri="{FF2B5EF4-FFF2-40B4-BE49-F238E27FC236}">
                <a16:creationId xmlns:a16="http://schemas.microsoft.com/office/drawing/2014/main" id="{C5D734A4-65E4-4019-AC73-F8CEB0B65D03}"/>
              </a:ext>
            </a:extLst>
          </p:cNvPr>
          <p:cNvSpPr>
            <a:spLocks xmlns:a="http://schemas.openxmlformats.org/drawingml/2006/main" noGrp="1"/>
          </p:cNvSpPr>
          <p:nvPr/>
        </p:nvSpPr>
        <p:spPr>
          <a:xfrm xmlns:a="http://schemas.openxmlformats.org/drawingml/2006/main">
            <a:off x="4953000" y="50387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RBAC, Token-Grenzen und Lifecycle-Tests prüfen.</a:t>
            </a:r>
          </a:p>
        </p:txBody>
      </p:sp>
      <p:sp>
        <p:nvSpPr>
          <p:cNvPr id="19" name="">
            <a:extLst xmlns:a="http://schemas.openxmlformats.org/drawingml/2006/main">
              <a:ext uri="{FF2B5EF4-FFF2-40B4-BE49-F238E27FC236}">
                <a16:creationId xmlns:a16="http://schemas.microsoft.com/office/drawing/2014/main" id="{6536AF4B-1C86-4000-8D32-95421CCF8F57}"/>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LERNZIELE</a:t>
            </a:r>
          </a:p>
        </p:txBody>
      </p:sp>
      <p:sp>
        <p:nvSpPr>
          <p:cNvPr id="20" name="">
            <a:extLst xmlns:a="http://schemas.openxmlformats.org/drawingml/2006/main">
              <a:ext uri="{FF2B5EF4-FFF2-40B4-BE49-F238E27FC236}">
                <a16:creationId xmlns:a16="http://schemas.microsoft.com/office/drawing/2014/main" id="{4AF48F46-753C-43CF-909B-8EBE56E06257}"/>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02</a:t>
            </a:r>
          </a:p>
        </p:txBody>
      </p:sp>
    </p:spTree>
    <p:extLst>
      <p:ext uri="{BB962C8B-B14F-4D97-AF65-F5344CB8AC3E}">
        <p14:creationId xmlns:p14="http://schemas.microsoft.com/office/powerpoint/2010/main" val="11581129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BF1BB944-7D6D-444F-B2E8-81FD74CCE221}"/>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Zwei lokale Cluster bilden die Produktionsrollen nach</a:t>
            </a:r>
          </a:p>
        </p:txBody>
      </p:sp>
      <p:sp>
        <p:nvSpPr>
          <p:cNvPr id="2" name="">
            <a:extLst xmlns:a="http://schemas.openxmlformats.org/drawingml/2006/main">
              <a:ext uri="{FF2B5EF4-FFF2-40B4-BE49-F238E27FC236}">
                <a16:creationId xmlns:a16="http://schemas.microsoft.com/office/drawing/2014/main" id="{27D91687-9A7B-48C0-82E8-123177AF6CCC}"/>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Multipass trennt Management und Workloads bereits auf dem Mac.</a:t>
            </a:r>
          </a:p>
        </p:txBody>
      </p:sp>
      <p:cxnSp>
        <p:nvCxnSpPr>
          <p:cNvPr id="27"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C103A2A9-577E-4BFA-B4B1-AC1BE936E831}"/>
              </a:ext>
            </a:extLst>
          </p:cNvPr>
          <p:cNvSpPr>
            <a:spLocks xmlns:a="http://schemas.openxmlformats.org/drawingml/2006/main" noGrp="1"/>
          </p:cNvSpPr>
          <p:nvPr/>
        </p:nvSpPr>
        <p:spPr>
          <a:xfrm xmlns:a="http://schemas.openxmlformats.org/drawingml/2006/main">
            <a:off x="590550" y="2095500"/>
            <a:ext cx="4953000" cy="3429000"/>
          </a:xfrm>
          <a:prstGeom xmlns:a="http://schemas.openxmlformats.org/drawingml/2006/main" prst="roundRect">
            <a:avLst>
              <a:gd name="adj" fmla="val 2222"/>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D15D98A-90F9-46D5-AC2C-7D20D34C065D}"/>
              </a:ext>
            </a:extLst>
          </p:cNvPr>
          <p:cNvSpPr>
            <a:spLocks xmlns:a="http://schemas.openxmlformats.org/drawingml/2006/main" noGrp="1"/>
          </p:cNvSpPr>
          <p:nvPr/>
        </p:nvSpPr>
        <p:spPr>
          <a:xfrm xmlns:a="http://schemas.openxmlformats.org/drawingml/2006/main">
            <a:off x="6648450" y="2095500"/>
            <a:ext cx="4953000" cy="3429000"/>
          </a:xfrm>
          <a:prstGeom xmlns:a="http://schemas.openxmlformats.org/drawingml/2006/main" prst="roundRect">
            <a:avLst>
              <a:gd name="adj" fmla="val 2222"/>
            </a:avLst>
          </a:prstGeom>
          <a:solidFill xmlns:a="http://schemas.openxmlformats.org/drawingml/2006/main">
            <a:srgbClr val="EEF7FD"/>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D2751007-20C6-4C65-B846-8B1A16CABB68}"/>
              </a:ext>
            </a:extLst>
          </p:cNvPr>
          <p:cNvSpPr>
            <a:spLocks xmlns:a="http://schemas.openxmlformats.org/drawingml/2006/main" noGrp="1"/>
          </p:cNvSpPr>
          <p:nvPr/>
        </p:nvSpPr>
        <p:spPr>
          <a:xfrm xmlns:a="http://schemas.openxmlformats.org/drawingml/2006/main">
            <a:off x="914400" y="24574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ok-mgmt-local</a:t>
            </a:r>
          </a:p>
        </p:txBody>
      </p:sp>
      <p:sp>
        <p:nvSpPr>
          <p:cNvPr id="7" name="">
            <a:extLst xmlns:a="http://schemas.openxmlformats.org/drawingml/2006/main">
              <a:ext uri="{FF2B5EF4-FFF2-40B4-BE49-F238E27FC236}">
                <a16:creationId xmlns:a16="http://schemas.microsoft.com/office/drawing/2014/main" id="{7101C67F-58AE-4AC8-B986-17283ACB146B}"/>
              </a:ext>
            </a:extLst>
          </p:cNvPr>
          <p:cNvSpPr>
            <a:spLocks xmlns:a="http://schemas.openxmlformats.org/drawingml/2006/main" noGrp="1"/>
          </p:cNvSpPr>
          <p:nvPr/>
        </p:nvSpPr>
        <p:spPr>
          <a:xfrm xmlns:a="http://schemas.openxmlformats.org/drawingml/2006/main">
            <a:off x="914400" y="30289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D6570"/>
                </a:solidFill>
                <a:latin typeface="Helvetica Neue"/>
                <a:ea typeface="Helvetica Neue"/>
                <a:cs typeface="Helvetica Neue"/>
              </a:defRPr>
            </a:pPr>
            <a:r>
              <a:rPr sz="1650" b="0">
                <a:solidFill>
                  <a:srgbClr val="5D6570"/>
                </a:solidFill>
                <a:latin typeface="Helvetica Neue"/>
                <a:ea typeface="Helvetica Neue"/>
                <a:cs typeface="Helvetica Neue"/>
              </a:rPr>
              <a:t>Management-Cluster</a:t>
            </a:r>
          </a:p>
        </p:txBody>
      </p:sp>
      <p:sp>
        <p:nvSpPr>
          <p:cNvPr id="8" name="">
            <a:extLst xmlns:a="http://schemas.openxmlformats.org/drawingml/2006/main">
              <a:ext uri="{FF2B5EF4-FFF2-40B4-BE49-F238E27FC236}">
                <a16:creationId xmlns:a16="http://schemas.microsoft.com/office/drawing/2014/main" id="{BD0B1D9E-B38A-4E89-B16E-043F36913B1F}"/>
              </a:ext>
            </a:extLst>
          </p:cNvPr>
          <p:cNvSpPr>
            <a:spLocks xmlns:a="http://schemas.openxmlformats.org/drawingml/2006/main" noGrp="1"/>
          </p:cNvSpPr>
          <p:nvPr/>
        </p:nvSpPr>
        <p:spPr>
          <a:xfrm xmlns:a="http://schemas.openxmlformats.org/drawingml/2006/main">
            <a:off x="914400" y="37147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0EE9D5F5-FF57-415D-ABC9-177A8CD0118C}"/>
              </a:ext>
            </a:extLst>
          </p:cNvPr>
          <p:cNvSpPr>
            <a:spLocks xmlns:a="http://schemas.openxmlformats.org/drawingml/2006/main" noGrp="1"/>
          </p:cNvSpPr>
          <p:nvPr/>
        </p:nvSpPr>
        <p:spPr>
          <a:xfrm xmlns:a="http://schemas.openxmlformats.org/drawingml/2006/main">
            <a:off x="1219200" y="37147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K3s</a:t>
            </a:r>
          </a:p>
        </p:txBody>
      </p:sp>
      <p:sp>
        <p:nvSpPr>
          <p:cNvPr id="10" name="">
            <a:extLst xmlns:a="http://schemas.openxmlformats.org/drawingml/2006/main">
              <a:ext uri="{FF2B5EF4-FFF2-40B4-BE49-F238E27FC236}">
                <a16:creationId xmlns:a16="http://schemas.microsoft.com/office/drawing/2014/main" id="{1A54E5D2-8020-435E-85A9-C5590DC4666F}"/>
              </a:ext>
            </a:extLst>
          </p:cNvPr>
          <p:cNvSpPr>
            <a:spLocks xmlns:a="http://schemas.openxmlformats.org/drawingml/2006/main" noGrp="1"/>
          </p:cNvSpPr>
          <p:nvPr/>
        </p:nvSpPr>
        <p:spPr>
          <a:xfrm xmlns:a="http://schemas.openxmlformats.org/drawingml/2006/main">
            <a:off x="914400" y="41719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71A98157-6E4C-4DD7-BE7D-1F6A454512DC}"/>
              </a:ext>
            </a:extLst>
          </p:cNvPr>
          <p:cNvSpPr>
            <a:spLocks xmlns:a="http://schemas.openxmlformats.org/drawingml/2006/main" noGrp="1"/>
          </p:cNvSpPr>
          <p:nvPr/>
        </p:nvSpPr>
        <p:spPr>
          <a:xfrm xmlns:a="http://schemas.openxmlformats.org/drawingml/2006/main">
            <a:off x="1219200" y="41719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Crossplane</a:t>
            </a:r>
          </a:p>
        </p:txBody>
      </p:sp>
      <p:sp>
        <p:nvSpPr>
          <p:cNvPr id="12" name="">
            <a:extLst xmlns:a="http://schemas.openxmlformats.org/drawingml/2006/main">
              <a:ext uri="{FF2B5EF4-FFF2-40B4-BE49-F238E27FC236}">
                <a16:creationId xmlns:a16="http://schemas.microsoft.com/office/drawing/2014/main" id="{D9015088-53C5-4BA3-A6CE-84EE85E8972B}"/>
              </a:ext>
            </a:extLst>
          </p:cNvPr>
          <p:cNvSpPr>
            <a:spLocks xmlns:a="http://schemas.openxmlformats.org/drawingml/2006/main" noGrp="1"/>
          </p:cNvSpPr>
          <p:nvPr/>
        </p:nvSpPr>
        <p:spPr>
          <a:xfrm xmlns:a="http://schemas.openxmlformats.org/drawingml/2006/main">
            <a:off x="914400" y="46291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94949783-76D5-4095-85B0-98DAC908AB2A}"/>
              </a:ext>
            </a:extLst>
          </p:cNvPr>
          <p:cNvSpPr>
            <a:spLocks xmlns:a="http://schemas.openxmlformats.org/drawingml/2006/main" noGrp="1"/>
          </p:cNvSpPr>
          <p:nvPr/>
        </p:nvSpPr>
        <p:spPr>
          <a:xfrm xmlns:a="http://schemas.openxmlformats.org/drawingml/2006/main">
            <a:off x="1219200" y="46291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Steuert Deployments auf Infra</a:t>
            </a:r>
          </a:p>
        </p:txBody>
      </p:sp>
      <p:sp>
        <p:nvSpPr>
          <p:cNvPr id="14" name="">
            <a:extLst xmlns:a="http://schemas.openxmlformats.org/drawingml/2006/main">
              <a:ext uri="{FF2B5EF4-FFF2-40B4-BE49-F238E27FC236}">
                <a16:creationId xmlns:a16="http://schemas.microsoft.com/office/drawing/2014/main" id="{29378176-198B-4307-B5C9-9F34C670D43E}"/>
              </a:ext>
            </a:extLst>
          </p:cNvPr>
          <p:cNvSpPr>
            <a:spLocks xmlns:a="http://schemas.openxmlformats.org/drawingml/2006/main" noGrp="1"/>
          </p:cNvSpPr>
          <p:nvPr/>
        </p:nvSpPr>
        <p:spPr>
          <a:xfrm xmlns:a="http://schemas.openxmlformats.org/drawingml/2006/main">
            <a:off x="6972300" y="24574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ok-infra-local</a:t>
            </a:r>
          </a:p>
        </p:txBody>
      </p:sp>
      <p:sp>
        <p:nvSpPr>
          <p:cNvPr id="15" name="">
            <a:extLst xmlns:a="http://schemas.openxmlformats.org/drawingml/2006/main">
              <a:ext uri="{FF2B5EF4-FFF2-40B4-BE49-F238E27FC236}">
                <a16:creationId xmlns:a16="http://schemas.microsoft.com/office/drawing/2014/main" id="{BD9B7B7C-D384-48B8-B33F-E004C05C1B48}"/>
              </a:ext>
            </a:extLst>
          </p:cNvPr>
          <p:cNvSpPr>
            <a:spLocks xmlns:a="http://schemas.openxmlformats.org/drawingml/2006/main" noGrp="1"/>
          </p:cNvSpPr>
          <p:nvPr/>
        </p:nvSpPr>
        <p:spPr>
          <a:xfrm xmlns:a="http://schemas.openxmlformats.org/drawingml/2006/main">
            <a:off x="6972300" y="30289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D6570"/>
                </a:solidFill>
                <a:latin typeface="Helvetica Neue"/>
                <a:ea typeface="Helvetica Neue"/>
                <a:cs typeface="Helvetica Neue"/>
              </a:defRPr>
            </a:pPr>
            <a:r>
              <a:rPr sz="1650" b="0">
                <a:solidFill>
                  <a:srgbClr val="5D6570"/>
                </a:solidFill>
                <a:latin typeface="Helvetica Neue"/>
                <a:ea typeface="Helvetica Neue"/>
                <a:cs typeface="Helvetica Neue"/>
              </a:rPr>
              <a:t>Workload-Cluster</a:t>
            </a:r>
          </a:p>
        </p:txBody>
      </p:sp>
      <p:sp>
        <p:nvSpPr>
          <p:cNvPr id="16" name="">
            <a:extLst xmlns:a="http://schemas.openxmlformats.org/drawingml/2006/main">
              <a:ext uri="{FF2B5EF4-FFF2-40B4-BE49-F238E27FC236}">
                <a16:creationId xmlns:a16="http://schemas.microsoft.com/office/drawing/2014/main" id="{8C20C085-83CF-4765-8520-22E08FD834FA}"/>
              </a:ext>
            </a:extLst>
          </p:cNvPr>
          <p:cNvSpPr>
            <a:spLocks xmlns:a="http://schemas.openxmlformats.org/drawingml/2006/main" noGrp="1"/>
          </p:cNvSpPr>
          <p:nvPr/>
        </p:nvSpPr>
        <p:spPr>
          <a:xfrm xmlns:a="http://schemas.openxmlformats.org/drawingml/2006/main">
            <a:off x="6972300" y="37147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E07182AC-5DFB-46E8-95F5-C8F48DCD7A08}"/>
              </a:ext>
            </a:extLst>
          </p:cNvPr>
          <p:cNvSpPr>
            <a:spLocks xmlns:a="http://schemas.openxmlformats.org/drawingml/2006/main" noGrp="1"/>
          </p:cNvSpPr>
          <p:nvPr/>
        </p:nvSpPr>
        <p:spPr>
          <a:xfrm xmlns:a="http://schemas.openxmlformats.org/drawingml/2006/main">
            <a:off x="7277100" y="37147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K3s + KubeVirt</a:t>
            </a:r>
          </a:p>
        </p:txBody>
      </p:sp>
      <p:sp>
        <p:nvSpPr>
          <p:cNvPr id="18" name="">
            <a:extLst xmlns:a="http://schemas.openxmlformats.org/drawingml/2006/main">
              <a:ext uri="{FF2B5EF4-FFF2-40B4-BE49-F238E27FC236}">
                <a16:creationId xmlns:a16="http://schemas.microsoft.com/office/drawing/2014/main" id="{1AACE88C-5F85-4AA1-B941-59C184E4AE72}"/>
              </a:ext>
            </a:extLst>
          </p:cNvPr>
          <p:cNvSpPr>
            <a:spLocks xmlns:a="http://schemas.openxmlformats.org/drawingml/2006/main" noGrp="1"/>
          </p:cNvSpPr>
          <p:nvPr/>
        </p:nvSpPr>
        <p:spPr>
          <a:xfrm xmlns:a="http://schemas.openxmlformats.org/drawingml/2006/main">
            <a:off x="6972300" y="41719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F0CBF5DC-648A-4840-89BD-650FAE5D5CC1}"/>
              </a:ext>
            </a:extLst>
          </p:cNvPr>
          <p:cNvSpPr>
            <a:spLocks xmlns:a="http://schemas.openxmlformats.org/drawingml/2006/main" noGrp="1"/>
          </p:cNvSpPr>
          <p:nvPr/>
        </p:nvSpPr>
        <p:spPr>
          <a:xfrm xmlns:a="http://schemas.openxmlformats.org/drawingml/2006/main">
            <a:off x="7277100" y="41719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Ollama + Open WebUI</a:t>
            </a:r>
          </a:p>
        </p:txBody>
      </p:sp>
      <p:sp>
        <p:nvSpPr>
          <p:cNvPr id="20" name="">
            <a:extLst xmlns:a="http://schemas.openxmlformats.org/drawingml/2006/main">
              <a:ext uri="{FF2B5EF4-FFF2-40B4-BE49-F238E27FC236}">
                <a16:creationId xmlns:a16="http://schemas.microsoft.com/office/drawing/2014/main" id="{2FE34AB1-09D0-4827-9A13-40809BFE93AA}"/>
              </a:ext>
            </a:extLst>
          </p:cNvPr>
          <p:cNvSpPr>
            <a:spLocks xmlns:a="http://schemas.openxmlformats.org/drawingml/2006/main" noGrp="1"/>
          </p:cNvSpPr>
          <p:nvPr/>
        </p:nvSpPr>
        <p:spPr>
          <a:xfrm xmlns:a="http://schemas.openxmlformats.org/drawingml/2006/main">
            <a:off x="6972300" y="46291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5FDC8D36-42A4-46AE-A633-726BDCA13857}"/>
              </a:ext>
            </a:extLst>
          </p:cNvPr>
          <p:cNvSpPr>
            <a:spLocks xmlns:a="http://schemas.openxmlformats.org/drawingml/2006/main" noGrp="1"/>
          </p:cNvSpPr>
          <p:nvPr/>
        </p:nvSpPr>
        <p:spPr>
          <a:xfrm xmlns:a="http://schemas.openxmlformats.org/drawingml/2006/main">
            <a:off x="7277100" y="46291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kagent + OpenClaw + Diagnostik</a:t>
            </a:r>
          </a:p>
        </p:txBody>
      </p:sp>
      <p:sp>
        <p:nvSpPr>
          <p:cNvPr id="22" name="">
            <a:extLst xmlns:a="http://schemas.openxmlformats.org/drawingml/2006/main">
              <a:ext uri="{FF2B5EF4-FFF2-40B4-BE49-F238E27FC236}">
                <a16:creationId xmlns:a16="http://schemas.microsoft.com/office/drawing/2014/main" id="{3B3FCA5D-FA7A-444F-8D7C-60053A74CA10}"/>
              </a:ext>
            </a:extLst>
          </p:cNvPr>
          <p:cNvSpPr>
            <a:spLocks xmlns:a="http://schemas.openxmlformats.org/drawingml/2006/main" noGrp="1"/>
          </p:cNvSpPr>
          <p:nvPr/>
        </p:nvSpPr>
        <p:spPr>
          <a:xfrm xmlns:a="http://schemas.openxmlformats.org/drawingml/2006/main">
            <a:off x="5791200" y="3390900"/>
            <a:ext cx="609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09D32C17-4613-411A-8886-822745688CC6}"/>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ARCHITEKTUR</a:t>
            </a:r>
          </a:p>
        </p:txBody>
      </p:sp>
      <p:sp>
        <p:nvSpPr>
          <p:cNvPr id="24" name="">
            <a:extLst xmlns:a="http://schemas.openxmlformats.org/drawingml/2006/main">
              <a:ext uri="{FF2B5EF4-FFF2-40B4-BE49-F238E27FC236}">
                <a16:creationId xmlns:a16="http://schemas.microsoft.com/office/drawing/2014/main" id="{D195DFB1-AB6A-44EB-A846-B0F76DB19F5E}"/>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03</a:t>
            </a:r>
          </a:p>
        </p:txBody>
      </p:sp>
    </p:spTree>
    <p:extLst>
      <p:ext uri="{BB962C8B-B14F-4D97-AF65-F5344CB8AC3E}">
        <p14:creationId xmlns:p14="http://schemas.microsoft.com/office/powerpoint/2010/main" val="4146900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B7633563-0D03-4601-BA82-F40612437278}"/>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Drei Phasen bauen kontrolliert aufeinander auf</a:t>
            </a:r>
          </a:p>
        </p:txBody>
      </p:sp>
      <p:sp>
        <p:nvSpPr>
          <p:cNvPr id="2" name="">
            <a:extLst xmlns:a="http://schemas.openxmlformats.org/drawingml/2006/main">
              <a:ext uri="{FF2B5EF4-FFF2-40B4-BE49-F238E27FC236}">
                <a16:creationId xmlns:a16="http://schemas.microsoft.com/office/drawing/2014/main" id="{15CAF975-2B86-475E-8EE5-A4727C9C15B6}"/>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Jede Phase liefert eine überprüfbare Voraussetzung für die nächste.</a:t>
            </a:r>
          </a:p>
        </p:txBody>
      </p:sp>
      <p:cxnSp>
        <p:nvCxnSpPr>
          <p:cNvPr id="24"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cxnSp>
        <p:nvCxnSpPr>
          <p:cNvPr id="25" name=""/>
          <p:cNvCxnSpPr/>
          <p:nvPr/>
        </p:nvCxnSpPr>
        <p:spPr>
          <a:xfrm xmlns:a="http://schemas.openxmlformats.org/drawingml/2006/main">
            <a:off x="952500" y="3219450"/>
            <a:ext cx="9715500" cy="0"/>
          </a:xfrm>
          <a:prstGeom xmlns:a="http://schemas.openxmlformats.org/drawingml/2006/main" prst="straightConnector1">
            <a:avLst/>
          </a:prstGeom>
          <a:ln xmlns:a="http://schemas.openxmlformats.org/drawingml/2006/main" w="19050">
            <a:solidFill>
              <a:srgbClr val="111111"/>
            </a:solidFill>
            <a:prstDash val="solid"/>
          </a:ln>
        </p:spPr>
      </p:cxnSp>
      <p:sp>
        <p:nvSpPr>
          <p:cNvPr id="5" name="">
            <a:extLst xmlns:a="http://schemas.openxmlformats.org/drawingml/2006/main">
              <a:ext uri="{FF2B5EF4-FFF2-40B4-BE49-F238E27FC236}">
                <a16:creationId xmlns:a16="http://schemas.microsoft.com/office/drawing/2014/main" id="{C5FB72F0-FF1E-4BDF-BC73-98079E6D7A81}"/>
              </a:ext>
            </a:extLst>
          </p:cNvPr>
          <p:cNvSpPr>
            <a:spLocks xmlns:a="http://schemas.openxmlformats.org/drawingml/2006/main" noGrp="1"/>
          </p:cNvSpPr>
          <p:nvPr/>
        </p:nvSpPr>
        <p:spPr>
          <a:xfrm xmlns:a="http://schemas.openxmlformats.org/drawingml/2006/main">
            <a:off x="1047750" y="2943225"/>
            <a:ext cx="552450" cy="552450"/>
          </a:xfrm>
          <a:prstGeom xmlns:a="http://schemas.openxmlformats.org/drawingml/2006/main" prst="roundRect">
            <a:avLst>
              <a:gd name="adj" fmla="val 13793"/>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8C445A-D099-4D10-B86E-EEA39094DADF}"/>
              </a:ext>
            </a:extLst>
          </p:cNvPr>
          <p:cNvSpPr>
            <a:spLocks xmlns:a="http://schemas.openxmlformats.org/drawingml/2006/main" noGrp="1"/>
          </p:cNvSpPr>
          <p:nvPr/>
        </p:nvSpPr>
        <p:spPr>
          <a:xfrm xmlns:a="http://schemas.openxmlformats.org/drawingml/2006/main">
            <a:off x="1047750" y="30289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0</a:t>
            </a:r>
          </a:p>
        </p:txBody>
      </p:sp>
      <p:sp>
        <p:nvSpPr>
          <p:cNvPr id="7" name="">
            <a:extLst xmlns:a="http://schemas.openxmlformats.org/drawingml/2006/main">
              <a:ext uri="{FF2B5EF4-FFF2-40B4-BE49-F238E27FC236}">
                <a16:creationId xmlns:a16="http://schemas.microsoft.com/office/drawing/2014/main" id="{1DA1474A-A3B6-4559-99BC-16631151C2AD}"/>
              </a:ext>
            </a:extLst>
          </p:cNvPr>
          <p:cNvSpPr>
            <a:spLocks xmlns:a="http://schemas.openxmlformats.org/drawingml/2006/main" noGrp="1"/>
          </p:cNvSpPr>
          <p:nvPr/>
        </p:nvSpPr>
        <p:spPr>
          <a:xfrm xmlns:a="http://schemas.openxmlformats.org/drawingml/2006/main">
            <a:off x="1047750" y="2076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PHASE 0</a:t>
            </a:r>
          </a:p>
        </p:txBody>
      </p:sp>
      <p:sp>
        <p:nvSpPr>
          <p:cNvPr id="8" name="">
            <a:extLst xmlns:a="http://schemas.openxmlformats.org/drawingml/2006/main">
              <a:ext uri="{FF2B5EF4-FFF2-40B4-BE49-F238E27FC236}">
                <a16:creationId xmlns:a16="http://schemas.microsoft.com/office/drawing/2014/main" id="{871EF255-C70E-404E-825D-88BABB840336}"/>
              </a:ext>
            </a:extLst>
          </p:cNvPr>
          <p:cNvSpPr>
            <a:spLocks xmlns:a="http://schemas.openxmlformats.org/drawingml/2006/main" noGrp="1"/>
          </p:cNvSpPr>
          <p:nvPr/>
        </p:nvSpPr>
        <p:spPr>
          <a:xfrm xmlns:a="http://schemas.openxmlformats.org/drawingml/2006/main">
            <a:off x="1047750" y="24479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Basis</a:t>
            </a:r>
          </a:p>
        </p:txBody>
      </p:sp>
      <p:sp>
        <p:nvSpPr>
          <p:cNvPr id="9" name="">
            <a:extLst xmlns:a="http://schemas.openxmlformats.org/drawingml/2006/main">
              <a:ext uri="{FF2B5EF4-FFF2-40B4-BE49-F238E27FC236}">
                <a16:creationId xmlns:a16="http://schemas.microsoft.com/office/drawing/2014/main" id="{23EAB752-2384-4575-A84D-CDC1F7525152}"/>
              </a:ext>
            </a:extLst>
          </p:cNvPr>
          <p:cNvSpPr>
            <a:spLocks xmlns:a="http://schemas.openxmlformats.org/drawingml/2006/main" noGrp="1"/>
          </p:cNvSpPr>
          <p:nvPr/>
        </p:nvSpPr>
        <p:spPr>
          <a:xfrm xmlns:a="http://schemas.openxmlformats.org/drawingml/2006/main">
            <a:off x="1047750" y="3886200"/>
            <a:ext cx="276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VMs, K3s, Crossplane,</a:t>
            </a:r>
          </a:p>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Ollama, Open WebUI</a:t>
            </a:r>
          </a:p>
        </p:txBody>
      </p:sp>
      <p:sp>
        <p:nvSpPr>
          <p:cNvPr id="10" name="">
            <a:extLst xmlns:a="http://schemas.openxmlformats.org/drawingml/2006/main">
              <a:ext uri="{FF2B5EF4-FFF2-40B4-BE49-F238E27FC236}">
                <a16:creationId xmlns:a16="http://schemas.microsoft.com/office/drawing/2014/main" id="{92BA64F9-235C-4DA9-9A2C-D53CB3B2B44D}"/>
              </a:ext>
            </a:extLst>
          </p:cNvPr>
          <p:cNvSpPr>
            <a:spLocks xmlns:a="http://schemas.openxmlformats.org/drawingml/2006/main" noGrp="1"/>
          </p:cNvSpPr>
          <p:nvPr/>
        </p:nvSpPr>
        <p:spPr>
          <a:xfrm xmlns:a="http://schemas.openxmlformats.org/drawingml/2006/main">
            <a:off x="4476750" y="2943225"/>
            <a:ext cx="552450" cy="552450"/>
          </a:xfrm>
          <a:prstGeom xmlns:a="http://schemas.openxmlformats.org/drawingml/2006/main" prst="roundRect">
            <a:avLst>
              <a:gd name="adj" fmla="val 13793"/>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88A0FF2-50EB-4FCA-B968-63870502C114}"/>
              </a:ext>
            </a:extLst>
          </p:cNvPr>
          <p:cNvSpPr>
            <a:spLocks xmlns:a="http://schemas.openxmlformats.org/drawingml/2006/main" noGrp="1"/>
          </p:cNvSpPr>
          <p:nvPr/>
        </p:nvSpPr>
        <p:spPr>
          <a:xfrm xmlns:a="http://schemas.openxmlformats.org/drawingml/2006/main">
            <a:off x="4476750" y="30289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89084E3F-78DA-4CCE-B842-BDF99C250847}"/>
              </a:ext>
            </a:extLst>
          </p:cNvPr>
          <p:cNvSpPr>
            <a:spLocks xmlns:a="http://schemas.openxmlformats.org/drawingml/2006/main" noGrp="1"/>
          </p:cNvSpPr>
          <p:nvPr/>
        </p:nvSpPr>
        <p:spPr>
          <a:xfrm xmlns:a="http://schemas.openxmlformats.org/drawingml/2006/main">
            <a:off x="4476750" y="2076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PHASE 1</a:t>
            </a:r>
          </a:p>
        </p:txBody>
      </p:sp>
      <p:sp>
        <p:nvSpPr>
          <p:cNvPr id="13" name="">
            <a:extLst xmlns:a="http://schemas.openxmlformats.org/drawingml/2006/main">
              <a:ext uri="{FF2B5EF4-FFF2-40B4-BE49-F238E27FC236}">
                <a16:creationId xmlns:a16="http://schemas.microsoft.com/office/drawing/2014/main" id="{46A8CDF1-14CC-440E-A10C-C15A5A77332D}"/>
              </a:ext>
            </a:extLst>
          </p:cNvPr>
          <p:cNvSpPr>
            <a:spLocks xmlns:a="http://schemas.openxmlformats.org/drawingml/2006/main" noGrp="1"/>
          </p:cNvSpPr>
          <p:nvPr/>
        </p:nvSpPr>
        <p:spPr>
          <a:xfrm xmlns:a="http://schemas.openxmlformats.org/drawingml/2006/main">
            <a:off x="4476750" y="24479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kagent</a:t>
            </a:r>
          </a:p>
        </p:txBody>
      </p:sp>
      <p:sp>
        <p:nvSpPr>
          <p:cNvPr id="14" name="">
            <a:extLst xmlns:a="http://schemas.openxmlformats.org/drawingml/2006/main">
              <a:ext uri="{FF2B5EF4-FFF2-40B4-BE49-F238E27FC236}">
                <a16:creationId xmlns:a16="http://schemas.microsoft.com/office/drawing/2014/main" id="{2765FA57-B21A-4A63-91C6-E98D4391097E}"/>
              </a:ext>
            </a:extLst>
          </p:cNvPr>
          <p:cNvSpPr>
            <a:spLocks xmlns:a="http://schemas.openxmlformats.org/drawingml/2006/main" noGrp="1"/>
          </p:cNvSpPr>
          <p:nvPr/>
        </p:nvSpPr>
        <p:spPr>
          <a:xfrm xmlns:a="http://schemas.openxmlformats.org/drawingml/2006/main">
            <a:off x="4476750" y="3886200"/>
            <a:ext cx="276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Read-only Agent, Tool-Server,</a:t>
            </a:r>
          </a:p>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drei Diagnose-Fixtures</a:t>
            </a:r>
          </a:p>
        </p:txBody>
      </p:sp>
      <p:sp>
        <p:nvSpPr>
          <p:cNvPr id="15" name="">
            <a:extLst xmlns:a="http://schemas.openxmlformats.org/drawingml/2006/main">
              <a:ext uri="{FF2B5EF4-FFF2-40B4-BE49-F238E27FC236}">
                <a16:creationId xmlns:a16="http://schemas.microsoft.com/office/drawing/2014/main" id="{70CCD50E-3340-4021-895F-39EE8180CF3D}"/>
              </a:ext>
            </a:extLst>
          </p:cNvPr>
          <p:cNvSpPr>
            <a:spLocks xmlns:a="http://schemas.openxmlformats.org/drawingml/2006/main" noGrp="1"/>
          </p:cNvSpPr>
          <p:nvPr/>
        </p:nvSpPr>
        <p:spPr>
          <a:xfrm xmlns:a="http://schemas.openxmlformats.org/drawingml/2006/main">
            <a:off x="7905750" y="2943225"/>
            <a:ext cx="552450" cy="552450"/>
          </a:xfrm>
          <a:prstGeom xmlns:a="http://schemas.openxmlformats.org/drawingml/2006/main" prst="roundRect">
            <a:avLst>
              <a:gd name="adj" fmla="val 13793"/>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0CD3786-79BB-41D5-A7FA-E6826013ABF5}"/>
              </a:ext>
            </a:extLst>
          </p:cNvPr>
          <p:cNvSpPr>
            <a:spLocks xmlns:a="http://schemas.openxmlformats.org/drawingml/2006/main" noGrp="1"/>
          </p:cNvSpPr>
          <p:nvPr/>
        </p:nvSpPr>
        <p:spPr>
          <a:xfrm xmlns:a="http://schemas.openxmlformats.org/drawingml/2006/main">
            <a:off x="7905750" y="30289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6DD62C90-1DA9-4A88-93C4-5BA5FE169273}"/>
              </a:ext>
            </a:extLst>
          </p:cNvPr>
          <p:cNvSpPr>
            <a:spLocks xmlns:a="http://schemas.openxmlformats.org/drawingml/2006/main" noGrp="1"/>
          </p:cNvSpPr>
          <p:nvPr/>
        </p:nvSpPr>
        <p:spPr>
          <a:xfrm xmlns:a="http://schemas.openxmlformats.org/drawingml/2006/main">
            <a:off x="7905750" y="2076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PHASE 2</a:t>
            </a:r>
          </a:p>
        </p:txBody>
      </p:sp>
      <p:sp>
        <p:nvSpPr>
          <p:cNvPr id="18" name="">
            <a:extLst xmlns:a="http://schemas.openxmlformats.org/drawingml/2006/main">
              <a:ext uri="{FF2B5EF4-FFF2-40B4-BE49-F238E27FC236}">
                <a16:creationId xmlns:a16="http://schemas.microsoft.com/office/drawing/2014/main" id="{08D08229-8F82-46C5-A7BB-BD9B3C574D15}"/>
              </a:ext>
            </a:extLst>
          </p:cNvPr>
          <p:cNvSpPr>
            <a:spLocks xmlns:a="http://schemas.openxmlformats.org/drawingml/2006/main" noGrp="1"/>
          </p:cNvSpPr>
          <p:nvPr/>
        </p:nvSpPr>
        <p:spPr>
          <a:xfrm xmlns:a="http://schemas.openxmlformats.org/drawingml/2006/main">
            <a:off x="7905750" y="24479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OpenClaw</a:t>
            </a:r>
          </a:p>
        </p:txBody>
      </p:sp>
      <p:sp>
        <p:nvSpPr>
          <p:cNvPr id="19" name="">
            <a:extLst xmlns:a="http://schemas.openxmlformats.org/drawingml/2006/main">
              <a:ext uri="{FF2B5EF4-FFF2-40B4-BE49-F238E27FC236}">
                <a16:creationId xmlns:a16="http://schemas.microsoft.com/office/drawing/2014/main" id="{54520667-AE2A-4508-BF97-6BB6146B3229}"/>
              </a:ext>
            </a:extLst>
          </p:cNvPr>
          <p:cNvSpPr>
            <a:spLocks xmlns:a="http://schemas.openxmlformats.org/drawingml/2006/main" noGrp="1"/>
          </p:cNvSpPr>
          <p:nvPr/>
        </p:nvSpPr>
        <p:spPr>
          <a:xfrm xmlns:a="http://schemas.openxmlformats.org/drawingml/2006/main">
            <a:off x="7905750" y="3886200"/>
            <a:ext cx="276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MCP-Adapter, Facade,</a:t>
            </a:r>
          </a:p>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E2E über Open WebUI</a:t>
            </a:r>
          </a:p>
        </p:txBody>
      </p:sp>
      <p:sp>
        <p:nvSpPr>
          <p:cNvPr id="20" name="">
            <a:extLst xmlns:a="http://schemas.openxmlformats.org/drawingml/2006/main">
              <a:ext uri="{FF2B5EF4-FFF2-40B4-BE49-F238E27FC236}">
                <a16:creationId xmlns:a16="http://schemas.microsoft.com/office/drawing/2014/main" id="{A64EBDC9-7A43-4D70-AF6A-1C1E6AB799C9}"/>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INSTALLATIONSPFAD</a:t>
            </a:r>
          </a:p>
        </p:txBody>
      </p:sp>
      <p:sp>
        <p:nvSpPr>
          <p:cNvPr id="21" name="">
            <a:extLst xmlns:a="http://schemas.openxmlformats.org/drawingml/2006/main">
              <a:ext uri="{FF2B5EF4-FFF2-40B4-BE49-F238E27FC236}">
                <a16:creationId xmlns:a16="http://schemas.microsoft.com/office/drawing/2014/main" id="{41356412-8441-4A54-9E34-671475DB7394}"/>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04</a:t>
            </a:r>
          </a:p>
        </p:txBody>
      </p:sp>
    </p:spTree>
    <p:extLst>
      <p:ext uri="{BB962C8B-B14F-4D97-AF65-F5344CB8AC3E}">
        <p14:creationId xmlns:p14="http://schemas.microsoft.com/office/powerpoint/2010/main" val="14063539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0CF111F5-3717-4EA4-A572-D7602E811EE2}"/>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25"/>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Ein sauberer Start vermeidet die meisten Installationsfehler</a:t>
            </a:r>
          </a:p>
        </p:txBody>
      </p:sp>
      <p:sp>
        <p:nvSpPr>
          <p:cNvPr id="2" name="">
            <a:extLst xmlns:a="http://schemas.openxmlformats.org/drawingml/2006/main">
              <a:ext uri="{FF2B5EF4-FFF2-40B4-BE49-F238E27FC236}">
                <a16:creationId xmlns:a16="http://schemas.microsoft.com/office/drawing/2014/main" id="{0D5DA90F-04C5-4E1A-B293-FE7EEEB7B001}"/>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Prüfe Werkzeuge, Ressourcen und den richtigen Branch vor dem ersten Make-Aufruf.</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7A1D0DD4-D6D0-4FE1-878E-25BDB016A29C}"/>
              </a:ext>
            </a:extLst>
          </p:cNvPr>
          <p:cNvSpPr>
            <a:spLocks xmlns:a="http://schemas.openxmlformats.org/drawingml/2006/main" noGrp="1"/>
          </p:cNvSpPr>
          <p:nvPr/>
        </p:nvSpPr>
        <p:spPr>
          <a:xfrm xmlns:a="http://schemas.openxmlformats.org/drawingml/2006/main">
            <a:off x="666750" y="21526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C7EE8060-40C3-48F8-B5AB-E406EE9A1DF3}"/>
              </a:ext>
            </a:extLst>
          </p:cNvPr>
          <p:cNvSpPr>
            <a:spLocks xmlns:a="http://schemas.openxmlformats.org/drawingml/2006/main" noGrp="1"/>
          </p:cNvSpPr>
          <p:nvPr/>
        </p:nvSpPr>
        <p:spPr>
          <a:xfrm xmlns:a="http://schemas.openxmlformats.org/drawingml/2006/main">
            <a:off x="971550" y="2152650"/>
            <a:ext cx="5886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macOS, Multipass, kubectl, Helm, Git, Python 3, jq und GNU Make</a:t>
            </a:r>
          </a:p>
        </p:txBody>
      </p:sp>
      <p:sp>
        <p:nvSpPr>
          <p:cNvPr id="6" name="">
            <a:extLst xmlns:a="http://schemas.openxmlformats.org/drawingml/2006/main">
              <a:ext uri="{FF2B5EF4-FFF2-40B4-BE49-F238E27FC236}">
                <a16:creationId xmlns:a16="http://schemas.microsoft.com/office/drawing/2014/main" id="{3E27C8CE-CE97-4514-A9E1-8964F3AEAF15}"/>
              </a:ext>
            </a:extLst>
          </p:cNvPr>
          <p:cNvSpPr>
            <a:spLocks xmlns:a="http://schemas.openxmlformats.org/drawingml/2006/main" noGrp="1"/>
          </p:cNvSpPr>
          <p:nvPr/>
        </p:nvSpPr>
        <p:spPr>
          <a:xfrm xmlns:a="http://schemas.openxmlformats.org/drawingml/2006/main">
            <a:off x="666750" y="28003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B7385915-A8A8-4E62-8EB2-7D7EB59704A6}"/>
              </a:ext>
            </a:extLst>
          </p:cNvPr>
          <p:cNvSpPr>
            <a:spLocks xmlns:a="http://schemas.openxmlformats.org/drawingml/2006/main" noGrp="1"/>
          </p:cNvSpPr>
          <p:nvPr/>
        </p:nvSpPr>
        <p:spPr>
          <a:xfrm xmlns:a="http://schemas.openxmlformats.org/drawingml/2006/main">
            <a:off x="971550" y="2800350"/>
            <a:ext cx="5886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Mindestens zwei lokale VMs mit je etwa 4 CPU und 8 GiB RAM</a:t>
            </a:r>
          </a:p>
        </p:txBody>
      </p:sp>
      <p:sp>
        <p:nvSpPr>
          <p:cNvPr id="8" name="">
            <a:extLst xmlns:a="http://schemas.openxmlformats.org/drawingml/2006/main">
              <a:ext uri="{FF2B5EF4-FFF2-40B4-BE49-F238E27FC236}">
                <a16:creationId xmlns:a16="http://schemas.microsoft.com/office/drawing/2014/main" id="{397B55F3-403F-478C-AD19-04E7C2F4AD67}"/>
              </a:ext>
            </a:extLst>
          </p:cNvPr>
          <p:cNvSpPr>
            <a:spLocks xmlns:a="http://schemas.openxmlformats.org/drawingml/2006/main" noGrp="1"/>
          </p:cNvSpPr>
          <p:nvPr/>
        </p:nvSpPr>
        <p:spPr>
          <a:xfrm xmlns:a="http://schemas.openxmlformats.org/drawingml/2006/main">
            <a:off x="666750" y="34480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DD637579-25E9-49EF-A2A5-B14C06DC15C0}"/>
              </a:ext>
            </a:extLst>
          </p:cNvPr>
          <p:cNvSpPr>
            <a:spLocks xmlns:a="http://schemas.openxmlformats.org/drawingml/2006/main" noGrp="1"/>
          </p:cNvSpPr>
          <p:nvPr/>
        </p:nvSpPr>
        <p:spPr>
          <a:xfrm xmlns:a="http://schemas.openxmlformats.org/drawingml/2006/main">
            <a:off x="971550" y="3448050"/>
            <a:ext cx="5886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SSH-Schlüssel für den Zugriff auf die Multipass-VMs</a:t>
            </a:r>
          </a:p>
        </p:txBody>
      </p:sp>
      <p:sp>
        <p:nvSpPr>
          <p:cNvPr id="10" name="">
            <a:extLst xmlns:a="http://schemas.openxmlformats.org/drawingml/2006/main">
              <a:ext uri="{FF2B5EF4-FFF2-40B4-BE49-F238E27FC236}">
                <a16:creationId xmlns:a16="http://schemas.microsoft.com/office/drawing/2014/main" id="{8B4629F4-2531-4E41-AEF4-94FDF7B23475}"/>
              </a:ext>
            </a:extLst>
          </p:cNvPr>
          <p:cNvSpPr>
            <a:spLocks xmlns:a="http://schemas.openxmlformats.org/drawingml/2006/main" noGrp="1"/>
          </p:cNvSpPr>
          <p:nvPr/>
        </p:nvSpPr>
        <p:spPr>
          <a:xfrm xmlns:a="http://schemas.openxmlformats.org/drawingml/2006/main">
            <a:off x="666750" y="40957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2CC7FB09-9A6E-4B7D-BAB0-30953982F062}"/>
              </a:ext>
            </a:extLst>
          </p:cNvPr>
          <p:cNvSpPr>
            <a:spLocks xmlns:a="http://schemas.openxmlformats.org/drawingml/2006/main" noGrp="1"/>
          </p:cNvSpPr>
          <p:nvPr/>
        </p:nvSpPr>
        <p:spPr>
          <a:xfrm xmlns:a="http://schemas.openxmlformats.org/drawingml/2006/main">
            <a:off x="971550" y="4095750"/>
            <a:ext cx="5886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Branch feature mit kagent/ und openclaw/</a:t>
            </a:r>
          </a:p>
        </p:txBody>
      </p:sp>
      <p:sp>
        <p:nvSpPr>
          <p:cNvPr id="12" name="">
            <a:extLst xmlns:a="http://schemas.openxmlformats.org/drawingml/2006/main">
              <a:ext uri="{FF2B5EF4-FFF2-40B4-BE49-F238E27FC236}">
                <a16:creationId xmlns:a16="http://schemas.microsoft.com/office/drawing/2014/main" id="{A4CFE1B5-A8DE-4B41-A598-5167E9ABC1C5}"/>
              </a:ext>
            </a:extLst>
          </p:cNvPr>
          <p:cNvSpPr>
            <a:spLocks xmlns:a="http://schemas.openxmlformats.org/drawingml/2006/main" noGrp="1"/>
          </p:cNvSpPr>
          <p:nvPr/>
        </p:nvSpPr>
        <p:spPr>
          <a:xfrm xmlns:a="http://schemas.openxmlformats.org/drawingml/2006/main">
            <a:off x="7429500" y="2152650"/>
            <a:ext cx="4095750" cy="2381250"/>
          </a:xfrm>
          <a:prstGeom xmlns:a="http://schemas.openxmlformats.org/drawingml/2006/main" prst="roundRect">
            <a:avLst>
              <a:gd name="adj" fmla="val 3200"/>
            </a:avLst>
          </a:prstGeom>
          <a:solidFill xmlns:a="http://schemas.openxmlformats.org/drawingml/2006/main">
            <a:srgbClr val="151A21"/>
          </a:solidFill>
          <a:ln xmlns:a="http://schemas.openxmlformats.org/drawingml/2006/main" w="0">
            <a:noFill/>
            <a:prstDash val="solid"/>
          </a:ln>
        </p:spPr>
      </p:sp>
      <p:sp>
        <p:nvSpPr>
          <p:cNvPr id="13" name="command">
            <a:extLst xmlns:a="http://schemas.openxmlformats.org/drawingml/2006/main">
              <a:ext uri="{FF2B5EF4-FFF2-40B4-BE49-F238E27FC236}">
                <a16:creationId xmlns:a16="http://schemas.microsoft.com/office/drawing/2014/main" id="{78281887-9A6E-4A89-90A6-F7260C2DA23C}"/>
              </a:ext>
            </a:extLst>
          </p:cNvPr>
          <p:cNvSpPr>
            <a:spLocks xmlns:a="http://schemas.openxmlformats.org/drawingml/2006/main" noGrp="1"/>
          </p:cNvSpPr>
          <p:nvPr/>
        </p:nvSpPr>
        <p:spPr>
          <a:xfrm xmlns:a="http://schemas.openxmlformats.org/drawingml/2006/main">
            <a:off x="7658100" y="2324100"/>
            <a:ext cx="36385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git clone --branch feature https://github.com/openkubes/ok-local.git</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cd ok-local</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setup</a:t>
            </a:r>
          </a:p>
        </p:txBody>
      </p:sp>
      <p:sp>
        <p:nvSpPr>
          <p:cNvPr id="14" name="">
            <a:extLst xmlns:a="http://schemas.openxmlformats.org/drawingml/2006/main">
              <a:ext uri="{FF2B5EF4-FFF2-40B4-BE49-F238E27FC236}">
                <a16:creationId xmlns:a16="http://schemas.microsoft.com/office/drawing/2014/main" id="{0A4E9181-73DC-4170-8833-BE77F9DDE71C}"/>
              </a:ext>
            </a:extLst>
          </p:cNvPr>
          <p:cNvSpPr>
            <a:spLocks xmlns:a="http://schemas.openxmlformats.org/drawingml/2006/main" noGrp="1"/>
          </p:cNvSpPr>
          <p:nvPr/>
        </p:nvSpPr>
        <p:spPr>
          <a:xfrm xmlns:a="http://schemas.openxmlformats.org/drawingml/2006/main">
            <a:off x="7429500" y="48577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Tipp</a:t>
            </a:r>
          </a:p>
        </p:txBody>
      </p:sp>
      <p:sp>
        <p:nvSpPr>
          <p:cNvPr id="15" name="">
            <a:extLst xmlns:a="http://schemas.openxmlformats.org/drawingml/2006/main">
              <a:ext uri="{FF2B5EF4-FFF2-40B4-BE49-F238E27FC236}">
                <a16:creationId xmlns:a16="http://schemas.microsoft.com/office/drawing/2014/main" id="{55435120-335E-4918-A5B4-1B361E1F5C41}"/>
              </a:ext>
            </a:extLst>
          </p:cNvPr>
          <p:cNvSpPr>
            <a:spLocks xmlns:a="http://schemas.openxmlformats.org/drawingml/2006/main" noGrp="1"/>
          </p:cNvSpPr>
          <p:nvPr/>
        </p:nvSpPr>
        <p:spPr>
          <a:xfrm xmlns:a="http://schemas.openxmlformats.org/drawingml/2006/main">
            <a:off x="7429500" y="518160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Erst weitermachen, wenn beide Nodes Ready melden.</a:t>
            </a:r>
          </a:p>
        </p:txBody>
      </p:sp>
      <p:sp>
        <p:nvSpPr>
          <p:cNvPr id="16" name="">
            <a:extLst xmlns:a="http://schemas.openxmlformats.org/drawingml/2006/main">
              <a:ext uri="{FF2B5EF4-FFF2-40B4-BE49-F238E27FC236}">
                <a16:creationId xmlns:a16="http://schemas.microsoft.com/office/drawing/2014/main" id="{8A6A88AB-B776-46C0-9D6A-106C2841C867}"/>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VORBEREITUNG</a:t>
            </a:r>
          </a:p>
        </p:txBody>
      </p:sp>
      <p:sp>
        <p:nvSpPr>
          <p:cNvPr id="17" name="">
            <a:extLst xmlns:a="http://schemas.openxmlformats.org/drawingml/2006/main">
              <a:ext uri="{FF2B5EF4-FFF2-40B4-BE49-F238E27FC236}">
                <a16:creationId xmlns:a16="http://schemas.microsoft.com/office/drawing/2014/main" id="{6A151268-C6B2-4906-8534-1AFF4F88F7D4}"/>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05</a:t>
            </a:r>
          </a:p>
        </p:txBody>
      </p:sp>
    </p:spTree>
    <p:extLst>
      <p:ext uri="{BB962C8B-B14F-4D97-AF65-F5344CB8AC3E}">
        <p14:creationId xmlns:p14="http://schemas.microsoft.com/office/powerpoint/2010/main" val="17587513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7E68030F-DF7C-4454-BF73-8F25A7501A5D}"/>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Phase 0 liefert Cluster, Modell und Benutzeroberfläche</a:t>
            </a:r>
          </a:p>
        </p:txBody>
      </p:sp>
      <p:sp>
        <p:nvSpPr>
          <p:cNvPr id="2" name="">
            <a:extLst xmlns:a="http://schemas.openxmlformats.org/drawingml/2006/main">
              <a:ext uri="{FF2B5EF4-FFF2-40B4-BE49-F238E27FC236}">
                <a16:creationId xmlns:a16="http://schemas.microsoft.com/office/drawing/2014/main" id="{A99FB00A-6648-4702-9BFE-6644FDF69CCC}"/>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Die Basis wird einmal aufgebaut und danach von Phase 1 und 2 wiederverwendet.</a:t>
            </a:r>
          </a:p>
        </p:txBody>
      </p:sp>
      <p:cxnSp>
        <p:nvCxnSpPr>
          <p:cNvPr id="24"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995BF7F1-C77C-4F5B-BCEB-4F645D6EA753}"/>
              </a:ext>
            </a:extLst>
          </p:cNvPr>
          <p:cNvSpPr>
            <a:spLocks xmlns:a="http://schemas.openxmlformats.org/drawingml/2006/main" noGrp="1"/>
          </p:cNvSpPr>
          <p:nvPr/>
        </p:nvSpPr>
        <p:spPr>
          <a:xfrm xmlns:a="http://schemas.openxmlformats.org/drawingml/2006/main">
            <a:off x="571500" y="2171700"/>
            <a:ext cx="2514600" cy="3276600"/>
          </a:xfrm>
          <a:prstGeom xmlns:a="http://schemas.openxmlformats.org/drawingml/2006/main" prst="roundRect">
            <a:avLst>
              <a:gd name="adj" fmla="val 3030"/>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7C294892-A886-40B3-9DE4-29083E9A4510}"/>
              </a:ext>
            </a:extLst>
          </p:cNvPr>
          <p:cNvSpPr>
            <a:spLocks xmlns:a="http://schemas.openxmlformats.org/drawingml/2006/main" noGrp="1"/>
          </p:cNvSpPr>
          <p:nvPr/>
        </p:nvSpPr>
        <p:spPr>
          <a:xfrm xmlns:a="http://schemas.openxmlformats.org/drawingml/2006/main">
            <a:off x="800100" y="2400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E0A1BB6A-7DF3-4D1A-98D1-7128A6CCD6D4}"/>
              </a:ext>
            </a:extLst>
          </p:cNvPr>
          <p:cNvSpPr>
            <a:spLocks xmlns:a="http://schemas.openxmlformats.org/drawingml/2006/main" noGrp="1"/>
          </p:cNvSpPr>
          <p:nvPr/>
        </p:nvSpPr>
        <p:spPr>
          <a:xfrm xmlns:a="http://schemas.openxmlformats.org/drawingml/2006/main">
            <a:off x="800100" y="3009900"/>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Cluster</a:t>
            </a:r>
          </a:p>
        </p:txBody>
      </p:sp>
      <p:sp>
        <p:nvSpPr>
          <p:cNvPr id="7" name="">
            <a:extLst xmlns:a="http://schemas.openxmlformats.org/drawingml/2006/main">
              <a:ext uri="{FF2B5EF4-FFF2-40B4-BE49-F238E27FC236}">
                <a16:creationId xmlns:a16="http://schemas.microsoft.com/office/drawing/2014/main" id="{BC5BC0F5-AF14-4578-9943-6E1E1AB8080E}"/>
              </a:ext>
            </a:extLst>
          </p:cNvPr>
          <p:cNvSpPr>
            <a:spLocks xmlns:a="http://schemas.openxmlformats.org/drawingml/2006/main" noGrp="1"/>
          </p:cNvSpPr>
          <p:nvPr/>
        </p:nvSpPr>
        <p:spPr>
          <a:xfrm xmlns:a="http://schemas.openxmlformats.org/drawingml/2006/main">
            <a:off x="800100" y="3829050"/>
            <a:ext cx="2057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setup</a:t>
            </a:r>
          </a:p>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tunnels</a:t>
            </a:r>
          </a:p>
        </p:txBody>
      </p:sp>
      <p:sp>
        <p:nvSpPr>
          <p:cNvPr id="8" name="">
            <a:extLst xmlns:a="http://schemas.openxmlformats.org/drawingml/2006/main">
              <a:ext uri="{FF2B5EF4-FFF2-40B4-BE49-F238E27FC236}">
                <a16:creationId xmlns:a16="http://schemas.microsoft.com/office/drawing/2014/main" id="{974265F8-3A01-4ED0-A10C-F20D6015FE5E}"/>
              </a:ext>
            </a:extLst>
          </p:cNvPr>
          <p:cNvSpPr>
            <a:spLocks xmlns:a="http://schemas.openxmlformats.org/drawingml/2006/main" noGrp="1"/>
          </p:cNvSpPr>
          <p:nvPr/>
        </p:nvSpPr>
        <p:spPr>
          <a:xfrm xmlns:a="http://schemas.openxmlformats.org/drawingml/2006/main">
            <a:off x="3429000" y="2171700"/>
            <a:ext cx="2514600" cy="3276600"/>
          </a:xfrm>
          <a:prstGeom xmlns:a="http://schemas.openxmlformats.org/drawingml/2006/main" prst="roundRect">
            <a:avLst>
              <a:gd name="adj" fmla="val 3030"/>
            </a:avLst>
          </a:prstGeom>
          <a:solidFill xmlns:a="http://schemas.openxmlformats.org/drawingml/2006/main">
            <a:srgbClr val="F6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0488676D-640C-46C4-B0A0-6E55E03BF3F5}"/>
              </a:ext>
            </a:extLst>
          </p:cNvPr>
          <p:cNvSpPr>
            <a:spLocks xmlns:a="http://schemas.openxmlformats.org/drawingml/2006/main" noGrp="1"/>
          </p:cNvSpPr>
          <p:nvPr/>
        </p:nvSpPr>
        <p:spPr>
          <a:xfrm xmlns:a="http://schemas.openxmlformats.org/drawingml/2006/main">
            <a:off x="3657600" y="2400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9E6A5069-131F-4511-96E0-B6DC7B37BCAD}"/>
              </a:ext>
            </a:extLst>
          </p:cNvPr>
          <p:cNvSpPr>
            <a:spLocks xmlns:a="http://schemas.openxmlformats.org/drawingml/2006/main" noGrp="1"/>
          </p:cNvSpPr>
          <p:nvPr/>
        </p:nvSpPr>
        <p:spPr>
          <a:xfrm xmlns:a="http://schemas.openxmlformats.org/drawingml/2006/main">
            <a:off x="3657600" y="3009900"/>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Crossplane</a:t>
            </a:r>
          </a:p>
        </p:txBody>
      </p:sp>
      <p:sp>
        <p:nvSpPr>
          <p:cNvPr id="11" name="">
            <a:extLst xmlns:a="http://schemas.openxmlformats.org/drawingml/2006/main">
              <a:ext uri="{FF2B5EF4-FFF2-40B4-BE49-F238E27FC236}">
                <a16:creationId xmlns:a16="http://schemas.microsoft.com/office/drawing/2014/main" id="{66A53A3F-C2A3-4C0C-86F7-E1A93DFA5E68}"/>
              </a:ext>
            </a:extLst>
          </p:cNvPr>
          <p:cNvSpPr>
            <a:spLocks xmlns:a="http://schemas.openxmlformats.org/drawingml/2006/main" noGrp="1"/>
          </p:cNvSpPr>
          <p:nvPr/>
        </p:nvSpPr>
        <p:spPr>
          <a:xfrm xmlns:a="http://schemas.openxmlformats.org/drawingml/2006/main">
            <a:off x="3657600" y="3829050"/>
            <a:ext cx="2057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Provider installieren</a:t>
            </a:r>
          </a:p>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ProviderConfig setzen</a:t>
            </a:r>
          </a:p>
        </p:txBody>
      </p:sp>
      <p:sp>
        <p:nvSpPr>
          <p:cNvPr id="12" name="">
            <a:extLst xmlns:a="http://schemas.openxmlformats.org/drawingml/2006/main">
              <a:ext uri="{FF2B5EF4-FFF2-40B4-BE49-F238E27FC236}">
                <a16:creationId xmlns:a16="http://schemas.microsoft.com/office/drawing/2014/main" id="{94BE13DE-5987-4D3D-8DF8-2BAA27AC32D3}"/>
              </a:ext>
            </a:extLst>
          </p:cNvPr>
          <p:cNvSpPr>
            <a:spLocks xmlns:a="http://schemas.openxmlformats.org/drawingml/2006/main" noGrp="1"/>
          </p:cNvSpPr>
          <p:nvPr/>
        </p:nvSpPr>
        <p:spPr>
          <a:xfrm xmlns:a="http://schemas.openxmlformats.org/drawingml/2006/main">
            <a:off x="6286500" y="2171700"/>
            <a:ext cx="2514600" cy="3276600"/>
          </a:xfrm>
          <a:prstGeom xmlns:a="http://schemas.openxmlformats.org/drawingml/2006/main" prst="roundRect">
            <a:avLst>
              <a:gd name="adj" fmla="val 3030"/>
            </a:avLst>
          </a:prstGeom>
          <a:solidFill xmlns:a="http://schemas.openxmlformats.org/drawingml/2006/main">
            <a:srgbClr val="F6F7F8"/>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40DF338E-B0AB-4450-A711-0A5D45D7DACF}"/>
              </a:ext>
            </a:extLst>
          </p:cNvPr>
          <p:cNvSpPr>
            <a:spLocks xmlns:a="http://schemas.openxmlformats.org/drawingml/2006/main" noGrp="1"/>
          </p:cNvSpPr>
          <p:nvPr/>
        </p:nvSpPr>
        <p:spPr>
          <a:xfrm xmlns:a="http://schemas.openxmlformats.org/drawingml/2006/main">
            <a:off x="6515100" y="2400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345F1FA1-C948-4EF7-BF2A-0155E3290F4D}"/>
              </a:ext>
            </a:extLst>
          </p:cNvPr>
          <p:cNvSpPr>
            <a:spLocks xmlns:a="http://schemas.openxmlformats.org/drawingml/2006/main" noGrp="1"/>
          </p:cNvSpPr>
          <p:nvPr/>
        </p:nvSpPr>
        <p:spPr>
          <a:xfrm xmlns:a="http://schemas.openxmlformats.org/drawingml/2006/main">
            <a:off x="6515100" y="3009900"/>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Ollama</a:t>
            </a:r>
          </a:p>
        </p:txBody>
      </p:sp>
      <p:sp>
        <p:nvSpPr>
          <p:cNvPr id="15" name="">
            <a:extLst xmlns:a="http://schemas.openxmlformats.org/drawingml/2006/main">
              <a:ext uri="{FF2B5EF4-FFF2-40B4-BE49-F238E27FC236}">
                <a16:creationId xmlns:a16="http://schemas.microsoft.com/office/drawing/2014/main" id="{A4E40E21-4FD9-44E1-9FF9-80E89ACC3E18}"/>
              </a:ext>
            </a:extLst>
          </p:cNvPr>
          <p:cNvSpPr>
            <a:spLocks xmlns:a="http://schemas.openxmlformats.org/drawingml/2006/main" noGrp="1"/>
          </p:cNvSpPr>
          <p:nvPr/>
        </p:nvSpPr>
        <p:spPr>
          <a:xfrm xmlns:a="http://schemas.openxmlformats.org/drawingml/2006/main">
            <a:off x="6515100" y="3829050"/>
            <a:ext cx="2057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install-ollama</a:t>
            </a:r>
          </a:p>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Modell laden</a:t>
            </a:r>
          </a:p>
        </p:txBody>
      </p:sp>
      <p:sp>
        <p:nvSpPr>
          <p:cNvPr id="16" name="">
            <a:extLst xmlns:a="http://schemas.openxmlformats.org/drawingml/2006/main">
              <a:ext uri="{FF2B5EF4-FFF2-40B4-BE49-F238E27FC236}">
                <a16:creationId xmlns:a16="http://schemas.microsoft.com/office/drawing/2014/main" id="{05179F36-2589-4559-B795-83A4B14507F0}"/>
              </a:ext>
            </a:extLst>
          </p:cNvPr>
          <p:cNvSpPr>
            <a:spLocks xmlns:a="http://schemas.openxmlformats.org/drawingml/2006/main" noGrp="1"/>
          </p:cNvSpPr>
          <p:nvPr/>
        </p:nvSpPr>
        <p:spPr>
          <a:xfrm xmlns:a="http://schemas.openxmlformats.org/drawingml/2006/main">
            <a:off x="9144000" y="2171700"/>
            <a:ext cx="2514600" cy="3276600"/>
          </a:xfrm>
          <a:prstGeom xmlns:a="http://schemas.openxmlformats.org/drawingml/2006/main" prst="roundRect">
            <a:avLst>
              <a:gd name="adj" fmla="val 3030"/>
            </a:avLst>
          </a:prstGeom>
          <a:solidFill xmlns:a="http://schemas.openxmlformats.org/drawingml/2006/main">
            <a:srgbClr val="EEF7FD"/>
          </a:solidFill>
          <a:ln xmlns:a="http://schemas.openxmlformats.org/drawingml/2006/main" w="9525">
            <a:solidFill>
              <a:srgbClr val="3D8DFF"/>
            </a:solidFill>
            <a:prstDash val="solid"/>
          </a:ln>
        </p:spPr>
      </p:sp>
      <p:sp>
        <p:nvSpPr>
          <p:cNvPr id="17" name="">
            <a:extLst xmlns:a="http://schemas.openxmlformats.org/drawingml/2006/main">
              <a:ext uri="{FF2B5EF4-FFF2-40B4-BE49-F238E27FC236}">
                <a16:creationId xmlns:a16="http://schemas.microsoft.com/office/drawing/2014/main" id="{4E08934C-E09E-46B9-BE8C-F77882292B73}"/>
              </a:ext>
            </a:extLst>
          </p:cNvPr>
          <p:cNvSpPr>
            <a:spLocks xmlns:a="http://schemas.openxmlformats.org/drawingml/2006/main" noGrp="1"/>
          </p:cNvSpPr>
          <p:nvPr/>
        </p:nvSpPr>
        <p:spPr>
          <a:xfrm xmlns:a="http://schemas.openxmlformats.org/drawingml/2006/main">
            <a:off x="9372600" y="2400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69BB2C98-6C11-4DB3-8EC2-30465A4EE325}"/>
              </a:ext>
            </a:extLst>
          </p:cNvPr>
          <p:cNvSpPr>
            <a:spLocks xmlns:a="http://schemas.openxmlformats.org/drawingml/2006/main" noGrp="1"/>
          </p:cNvSpPr>
          <p:nvPr/>
        </p:nvSpPr>
        <p:spPr>
          <a:xfrm xmlns:a="http://schemas.openxmlformats.org/drawingml/2006/main">
            <a:off x="9372600" y="3009900"/>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Open WebUI</a:t>
            </a:r>
          </a:p>
        </p:txBody>
      </p:sp>
      <p:sp>
        <p:nvSpPr>
          <p:cNvPr id="19" name="">
            <a:extLst xmlns:a="http://schemas.openxmlformats.org/drawingml/2006/main">
              <a:ext uri="{FF2B5EF4-FFF2-40B4-BE49-F238E27FC236}">
                <a16:creationId xmlns:a16="http://schemas.microsoft.com/office/drawing/2014/main" id="{AE37212E-2718-436B-8ED9-D1C09A97E18D}"/>
              </a:ext>
            </a:extLst>
          </p:cNvPr>
          <p:cNvSpPr>
            <a:spLocks xmlns:a="http://schemas.openxmlformats.org/drawingml/2006/main" noGrp="1"/>
          </p:cNvSpPr>
          <p:nvPr/>
        </p:nvSpPr>
        <p:spPr>
          <a:xfrm xmlns:a="http://schemas.openxmlformats.org/drawingml/2006/main">
            <a:off x="9372600" y="3829050"/>
            <a:ext cx="2057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webui-setup</a:t>
            </a:r>
          </a:p>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webui-deploy</a:t>
            </a:r>
          </a:p>
        </p:txBody>
      </p:sp>
      <p:sp>
        <p:nvSpPr>
          <p:cNvPr id="20" name="">
            <a:extLst xmlns:a="http://schemas.openxmlformats.org/drawingml/2006/main">
              <a:ext uri="{FF2B5EF4-FFF2-40B4-BE49-F238E27FC236}">
                <a16:creationId xmlns:a16="http://schemas.microsoft.com/office/drawing/2014/main" id="{24F6CB2A-3636-49B8-87F3-AD2EE2C24C18}"/>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PHASE 0</a:t>
            </a:r>
          </a:p>
        </p:txBody>
      </p:sp>
      <p:sp>
        <p:nvSpPr>
          <p:cNvPr id="21" name="">
            <a:extLst xmlns:a="http://schemas.openxmlformats.org/drawingml/2006/main">
              <a:ext uri="{FF2B5EF4-FFF2-40B4-BE49-F238E27FC236}">
                <a16:creationId xmlns:a16="http://schemas.microsoft.com/office/drawing/2014/main" id="{3F049088-D3C6-4369-B29B-3528972AB991}"/>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06</a:t>
            </a:r>
          </a:p>
        </p:txBody>
      </p:sp>
    </p:spTree>
    <p:extLst>
      <p:ext uri="{BB962C8B-B14F-4D97-AF65-F5344CB8AC3E}">
        <p14:creationId xmlns:p14="http://schemas.microsoft.com/office/powerpoint/2010/main" val="17749892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DC90094B-F87C-42D9-A30F-AAEB3E3050FD}"/>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Phase 0 ist fertig, wenn vier Zustände grün sind</a:t>
            </a:r>
          </a:p>
        </p:txBody>
      </p:sp>
      <p:sp>
        <p:nvSpPr>
          <p:cNvPr id="2" name="">
            <a:extLst xmlns:a="http://schemas.openxmlformats.org/drawingml/2006/main">
              <a:ext uri="{FF2B5EF4-FFF2-40B4-BE49-F238E27FC236}">
                <a16:creationId xmlns:a16="http://schemas.microsoft.com/office/drawing/2014/main" id="{84243DFB-0023-4347-A5E7-B7A343B17ECC}"/>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Statusbefehle liefern schnellere Hinweise als ein später fehlgeschlagener E2E-Test.</a:t>
            </a:r>
          </a:p>
        </p:txBody>
      </p:sp>
      <p:cxnSp>
        <p:nvCxnSpPr>
          <p:cNvPr id="25"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2A50AE86-9DD0-4DD3-A9D1-3F80AE3AFC51}"/>
              </a:ext>
            </a:extLst>
          </p:cNvPr>
          <p:cNvSpPr>
            <a:spLocks xmlns:a="http://schemas.openxmlformats.org/drawingml/2006/main" noGrp="1"/>
          </p:cNvSpPr>
          <p:nvPr/>
        </p:nvSpPr>
        <p:spPr>
          <a:xfrm xmlns:a="http://schemas.openxmlformats.org/drawingml/2006/main">
            <a:off x="685800" y="18383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D6570"/>
                </a:solidFill>
                <a:latin typeface="Helvetica Neue"/>
                <a:ea typeface="Helvetica Neue"/>
                <a:cs typeface="Helvetica Neue"/>
              </a:defRPr>
            </a:pPr>
            <a:r>
              <a:rPr sz="1350" b="1">
                <a:solidFill>
                  <a:srgbClr val="5D6570"/>
                </a:solidFill>
                <a:latin typeface="Helvetica Neue"/>
                <a:ea typeface="Helvetica Neue"/>
                <a:cs typeface="Helvetica Neue"/>
              </a:rPr>
              <a:t>Komponente</a:t>
            </a:r>
          </a:p>
        </p:txBody>
      </p:sp>
      <p:sp>
        <p:nvSpPr>
          <p:cNvPr id="5" name="">
            <a:extLst xmlns:a="http://schemas.openxmlformats.org/drawingml/2006/main">
              <a:ext uri="{FF2B5EF4-FFF2-40B4-BE49-F238E27FC236}">
                <a16:creationId xmlns:a16="http://schemas.microsoft.com/office/drawing/2014/main" id="{F392161F-8B86-4715-A3CA-EED564BFB318}"/>
              </a:ext>
            </a:extLst>
          </p:cNvPr>
          <p:cNvSpPr>
            <a:spLocks xmlns:a="http://schemas.openxmlformats.org/drawingml/2006/main" noGrp="1"/>
          </p:cNvSpPr>
          <p:nvPr/>
        </p:nvSpPr>
        <p:spPr>
          <a:xfrm xmlns:a="http://schemas.openxmlformats.org/drawingml/2006/main">
            <a:off x="2971800" y="183832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D6570"/>
                </a:solidFill>
                <a:latin typeface="Helvetica Neue"/>
                <a:ea typeface="Helvetica Neue"/>
                <a:cs typeface="Helvetica Neue"/>
              </a:defRPr>
            </a:pPr>
            <a:r>
              <a:rPr sz="1350" b="1">
                <a:solidFill>
                  <a:srgbClr val="5D6570"/>
                </a:solidFill>
                <a:latin typeface="Helvetica Neue"/>
                <a:ea typeface="Helvetica Neue"/>
                <a:cs typeface="Helvetica Neue"/>
              </a:rPr>
              <a:t>Prüfung</a:t>
            </a:r>
          </a:p>
        </p:txBody>
      </p:sp>
      <p:sp>
        <p:nvSpPr>
          <p:cNvPr id="6" name="">
            <a:extLst xmlns:a="http://schemas.openxmlformats.org/drawingml/2006/main">
              <a:ext uri="{FF2B5EF4-FFF2-40B4-BE49-F238E27FC236}">
                <a16:creationId xmlns:a16="http://schemas.microsoft.com/office/drawing/2014/main" id="{48448A19-44F0-4B63-905E-AC923F1E176C}"/>
              </a:ext>
            </a:extLst>
          </p:cNvPr>
          <p:cNvSpPr>
            <a:spLocks xmlns:a="http://schemas.openxmlformats.org/drawingml/2006/main" noGrp="1"/>
          </p:cNvSpPr>
          <p:nvPr/>
        </p:nvSpPr>
        <p:spPr>
          <a:xfrm xmlns:a="http://schemas.openxmlformats.org/drawingml/2006/main">
            <a:off x="8305800" y="18383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D6570"/>
                </a:solidFill>
                <a:latin typeface="Helvetica Neue"/>
                <a:ea typeface="Helvetica Neue"/>
                <a:cs typeface="Helvetica Neue"/>
              </a:defRPr>
            </a:pPr>
            <a:r>
              <a:rPr sz="1350" b="1">
                <a:solidFill>
                  <a:srgbClr val="5D6570"/>
                </a:solidFill>
                <a:latin typeface="Helvetica Neue"/>
                <a:ea typeface="Helvetica Neue"/>
                <a:cs typeface="Helvetica Neue"/>
              </a:rPr>
              <a:t>Erwartung</a:t>
            </a:r>
          </a:p>
        </p:txBody>
      </p:sp>
      <p:sp>
        <p:nvSpPr>
          <p:cNvPr id="7" name="">
            <a:extLst xmlns:a="http://schemas.openxmlformats.org/drawingml/2006/main">
              <a:ext uri="{FF2B5EF4-FFF2-40B4-BE49-F238E27FC236}">
                <a16:creationId xmlns:a16="http://schemas.microsoft.com/office/drawing/2014/main" id="{6C25EF9C-F368-4930-BCDB-C82355779A1F}"/>
              </a:ext>
            </a:extLst>
          </p:cNvPr>
          <p:cNvSpPr>
            <a:spLocks xmlns:a="http://schemas.openxmlformats.org/drawingml/2006/main" noGrp="1"/>
          </p:cNvSpPr>
          <p:nvPr/>
        </p:nvSpPr>
        <p:spPr>
          <a:xfrm xmlns:a="http://schemas.openxmlformats.org/drawingml/2006/main">
            <a:off x="571500" y="2143125"/>
            <a:ext cx="11049000" cy="5905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E9EDF55-923D-4B73-A0F2-567A7A4D9715}"/>
              </a:ext>
            </a:extLst>
          </p:cNvPr>
          <p:cNvSpPr>
            <a:spLocks xmlns:a="http://schemas.openxmlformats.org/drawingml/2006/main" noGrp="1"/>
          </p:cNvSpPr>
          <p:nvPr/>
        </p:nvSpPr>
        <p:spPr>
          <a:xfrm xmlns:a="http://schemas.openxmlformats.org/drawingml/2006/main">
            <a:off x="685800" y="22383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Cluster</a:t>
            </a:r>
          </a:p>
        </p:txBody>
      </p:sp>
      <p:sp>
        <p:nvSpPr>
          <p:cNvPr id="9" name="">
            <a:extLst xmlns:a="http://schemas.openxmlformats.org/drawingml/2006/main">
              <a:ext uri="{FF2B5EF4-FFF2-40B4-BE49-F238E27FC236}">
                <a16:creationId xmlns:a16="http://schemas.microsoft.com/office/drawing/2014/main" id="{C63C03DF-2393-4F28-84BD-C1C7884B3BF0}"/>
              </a:ext>
            </a:extLst>
          </p:cNvPr>
          <p:cNvSpPr>
            <a:spLocks xmlns:a="http://schemas.openxmlformats.org/drawingml/2006/main" noGrp="1"/>
          </p:cNvSpPr>
          <p:nvPr/>
        </p:nvSpPr>
        <p:spPr>
          <a:xfrm xmlns:a="http://schemas.openxmlformats.org/drawingml/2006/main">
            <a:off x="2971800" y="22383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make nodes-all</a:t>
            </a:r>
          </a:p>
        </p:txBody>
      </p:sp>
      <p:sp>
        <p:nvSpPr>
          <p:cNvPr id="10" name="">
            <a:extLst xmlns:a="http://schemas.openxmlformats.org/drawingml/2006/main">
              <a:ext uri="{FF2B5EF4-FFF2-40B4-BE49-F238E27FC236}">
                <a16:creationId xmlns:a16="http://schemas.microsoft.com/office/drawing/2014/main" id="{D1A3815D-6147-4C2C-A979-88C2DB4C2D96}"/>
              </a:ext>
            </a:extLst>
          </p:cNvPr>
          <p:cNvSpPr>
            <a:spLocks xmlns:a="http://schemas.openxmlformats.org/drawingml/2006/main" noGrp="1"/>
          </p:cNvSpPr>
          <p:nvPr/>
        </p:nvSpPr>
        <p:spPr>
          <a:xfrm xmlns:a="http://schemas.openxmlformats.org/drawingml/2006/main">
            <a:off x="8305800" y="223837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Beide Nodes Ready</a:t>
            </a:r>
          </a:p>
        </p:txBody>
      </p:sp>
      <p:sp>
        <p:nvSpPr>
          <p:cNvPr id="11" name="">
            <a:extLst xmlns:a="http://schemas.openxmlformats.org/drawingml/2006/main">
              <a:ext uri="{FF2B5EF4-FFF2-40B4-BE49-F238E27FC236}">
                <a16:creationId xmlns:a16="http://schemas.microsoft.com/office/drawing/2014/main" id="{6336087E-C196-4306-AED4-1EF2A1885002}"/>
              </a:ext>
            </a:extLst>
          </p:cNvPr>
          <p:cNvSpPr>
            <a:spLocks xmlns:a="http://schemas.openxmlformats.org/drawingml/2006/main" noGrp="1"/>
          </p:cNvSpPr>
          <p:nvPr/>
        </p:nvSpPr>
        <p:spPr>
          <a:xfrm xmlns:a="http://schemas.openxmlformats.org/drawingml/2006/main">
            <a:off x="685800" y="29813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Crossplane</a:t>
            </a:r>
          </a:p>
        </p:txBody>
      </p:sp>
      <p:sp>
        <p:nvSpPr>
          <p:cNvPr id="12" name="">
            <a:extLst xmlns:a="http://schemas.openxmlformats.org/drawingml/2006/main">
              <a:ext uri="{FF2B5EF4-FFF2-40B4-BE49-F238E27FC236}">
                <a16:creationId xmlns:a16="http://schemas.microsoft.com/office/drawing/2014/main" id="{DCF35844-6CE9-4288-8D86-9EC36F380475}"/>
              </a:ext>
            </a:extLst>
          </p:cNvPr>
          <p:cNvSpPr>
            <a:spLocks xmlns:a="http://schemas.openxmlformats.org/drawingml/2006/main" noGrp="1"/>
          </p:cNvSpPr>
          <p:nvPr/>
        </p:nvSpPr>
        <p:spPr>
          <a:xfrm xmlns:a="http://schemas.openxmlformats.org/drawingml/2006/main">
            <a:off x="2971800" y="2981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kubectl … get providers.pkg.crossplane.io</a:t>
            </a:r>
          </a:p>
        </p:txBody>
      </p:sp>
      <p:sp>
        <p:nvSpPr>
          <p:cNvPr id="13" name="">
            <a:extLst xmlns:a="http://schemas.openxmlformats.org/drawingml/2006/main">
              <a:ext uri="{FF2B5EF4-FFF2-40B4-BE49-F238E27FC236}">
                <a16:creationId xmlns:a16="http://schemas.microsoft.com/office/drawing/2014/main" id="{8498BACD-3677-4DDB-96E7-D952BB9C8FC2}"/>
              </a:ext>
            </a:extLst>
          </p:cNvPr>
          <p:cNvSpPr>
            <a:spLocks xmlns:a="http://schemas.openxmlformats.org/drawingml/2006/main" noGrp="1"/>
          </p:cNvSpPr>
          <p:nvPr/>
        </p:nvSpPr>
        <p:spPr>
          <a:xfrm xmlns:a="http://schemas.openxmlformats.org/drawingml/2006/main">
            <a:off x="8305800" y="298132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Provider Healthy</a:t>
            </a:r>
          </a:p>
        </p:txBody>
      </p:sp>
      <p:sp>
        <p:nvSpPr>
          <p:cNvPr id="14" name="">
            <a:extLst xmlns:a="http://schemas.openxmlformats.org/drawingml/2006/main">
              <a:ext uri="{FF2B5EF4-FFF2-40B4-BE49-F238E27FC236}">
                <a16:creationId xmlns:a16="http://schemas.microsoft.com/office/drawing/2014/main" id="{6664D9C9-8398-4A1C-B1A1-77191B11BD55}"/>
              </a:ext>
            </a:extLst>
          </p:cNvPr>
          <p:cNvSpPr>
            <a:spLocks xmlns:a="http://schemas.openxmlformats.org/drawingml/2006/main" noGrp="1"/>
          </p:cNvSpPr>
          <p:nvPr/>
        </p:nvSpPr>
        <p:spPr>
          <a:xfrm xmlns:a="http://schemas.openxmlformats.org/drawingml/2006/main">
            <a:off x="571500" y="3629025"/>
            <a:ext cx="11049000" cy="5905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5355EA7-D1A0-43FD-A3D8-A4428206C3E1}"/>
              </a:ext>
            </a:extLst>
          </p:cNvPr>
          <p:cNvSpPr>
            <a:spLocks xmlns:a="http://schemas.openxmlformats.org/drawingml/2006/main" noGrp="1"/>
          </p:cNvSpPr>
          <p:nvPr/>
        </p:nvSpPr>
        <p:spPr>
          <a:xfrm xmlns:a="http://schemas.openxmlformats.org/drawingml/2006/main">
            <a:off x="685800" y="37242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Ollama</a:t>
            </a:r>
          </a:p>
        </p:txBody>
      </p:sp>
      <p:sp>
        <p:nvSpPr>
          <p:cNvPr id="16" name="">
            <a:extLst xmlns:a="http://schemas.openxmlformats.org/drawingml/2006/main">
              <a:ext uri="{FF2B5EF4-FFF2-40B4-BE49-F238E27FC236}">
                <a16:creationId xmlns:a16="http://schemas.microsoft.com/office/drawing/2014/main" id="{13C02861-479E-4A9B-BABB-0AE9C0522FB5}"/>
              </a:ext>
            </a:extLst>
          </p:cNvPr>
          <p:cNvSpPr>
            <a:spLocks xmlns:a="http://schemas.openxmlformats.org/drawingml/2006/main" noGrp="1"/>
          </p:cNvSpPr>
          <p:nvPr/>
        </p:nvSpPr>
        <p:spPr>
          <a:xfrm xmlns:a="http://schemas.openxmlformats.org/drawingml/2006/main">
            <a:off x="2971800" y="3724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make ollama-status</a:t>
            </a:r>
          </a:p>
        </p:txBody>
      </p:sp>
      <p:sp>
        <p:nvSpPr>
          <p:cNvPr id="17" name="">
            <a:extLst xmlns:a="http://schemas.openxmlformats.org/drawingml/2006/main">
              <a:ext uri="{FF2B5EF4-FFF2-40B4-BE49-F238E27FC236}">
                <a16:creationId xmlns:a16="http://schemas.microsoft.com/office/drawing/2014/main" id="{873C8439-7BED-45C3-9D28-FB370502F736}"/>
              </a:ext>
            </a:extLst>
          </p:cNvPr>
          <p:cNvSpPr>
            <a:spLocks xmlns:a="http://schemas.openxmlformats.org/drawingml/2006/main" noGrp="1"/>
          </p:cNvSpPr>
          <p:nvPr/>
        </p:nvSpPr>
        <p:spPr>
          <a:xfrm xmlns:a="http://schemas.openxmlformats.org/drawingml/2006/main">
            <a:off x="8305800" y="372427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Pod Ready + qwen3:4b</a:t>
            </a:r>
          </a:p>
        </p:txBody>
      </p:sp>
      <p:sp>
        <p:nvSpPr>
          <p:cNvPr id="18" name="">
            <a:extLst xmlns:a="http://schemas.openxmlformats.org/drawingml/2006/main">
              <a:ext uri="{FF2B5EF4-FFF2-40B4-BE49-F238E27FC236}">
                <a16:creationId xmlns:a16="http://schemas.microsoft.com/office/drawing/2014/main" id="{64D0A801-41A0-4DD1-80A0-4E621E62439A}"/>
              </a:ext>
            </a:extLst>
          </p:cNvPr>
          <p:cNvSpPr>
            <a:spLocks xmlns:a="http://schemas.openxmlformats.org/drawingml/2006/main" noGrp="1"/>
          </p:cNvSpPr>
          <p:nvPr/>
        </p:nvSpPr>
        <p:spPr>
          <a:xfrm xmlns:a="http://schemas.openxmlformats.org/drawingml/2006/main">
            <a:off x="685800" y="44672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Open WebUI</a:t>
            </a:r>
          </a:p>
        </p:txBody>
      </p:sp>
      <p:sp>
        <p:nvSpPr>
          <p:cNvPr id="19" name="">
            <a:extLst xmlns:a="http://schemas.openxmlformats.org/drawingml/2006/main">
              <a:ext uri="{FF2B5EF4-FFF2-40B4-BE49-F238E27FC236}">
                <a16:creationId xmlns:a16="http://schemas.microsoft.com/office/drawing/2014/main" id="{B228F8F5-E298-4C10-8228-BF18ADFE19BF}"/>
              </a:ext>
            </a:extLst>
          </p:cNvPr>
          <p:cNvSpPr>
            <a:spLocks xmlns:a="http://schemas.openxmlformats.org/drawingml/2006/main" noGrp="1"/>
          </p:cNvSpPr>
          <p:nvPr/>
        </p:nvSpPr>
        <p:spPr>
          <a:xfrm xmlns:a="http://schemas.openxmlformats.org/drawingml/2006/main">
            <a:off x="2971800" y="4467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make webui-status</a:t>
            </a:r>
          </a:p>
        </p:txBody>
      </p:sp>
      <p:sp>
        <p:nvSpPr>
          <p:cNvPr id="20" name="">
            <a:extLst xmlns:a="http://schemas.openxmlformats.org/drawingml/2006/main">
              <a:ext uri="{FF2B5EF4-FFF2-40B4-BE49-F238E27FC236}">
                <a16:creationId xmlns:a16="http://schemas.microsoft.com/office/drawing/2014/main" id="{09A07A0D-1C01-4C3D-B383-045EC1836DF6}"/>
              </a:ext>
            </a:extLst>
          </p:cNvPr>
          <p:cNvSpPr>
            <a:spLocks xmlns:a="http://schemas.openxmlformats.org/drawingml/2006/main" noGrp="1"/>
          </p:cNvSpPr>
          <p:nvPr/>
        </p:nvSpPr>
        <p:spPr>
          <a:xfrm xmlns:a="http://schemas.openxmlformats.org/drawingml/2006/main">
            <a:off x="8305800" y="446722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WebUI + Redis Ready</a:t>
            </a:r>
          </a:p>
        </p:txBody>
      </p:sp>
      <p:sp>
        <p:nvSpPr>
          <p:cNvPr id="21" name="">
            <a:extLst xmlns:a="http://schemas.openxmlformats.org/drawingml/2006/main">
              <a:ext uri="{FF2B5EF4-FFF2-40B4-BE49-F238E27FC236}">
                <a16:creationId xmlns:a16="http://schemas.microsoft.com/office/drawing/2014/main" id="{3039D179-AD05-47BF-911A-7E4F68FFDBB0}"/>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PHASE 0 CHECK</a:t>
            </a:r>
          </a:p>
        </p:txBody>
      </p:sp>
      <p:sp>
        <p:nvSpPr>
          <p:cNvPr id="22" name="">
            <a:extLst xmlns:a="http://schemas.openxmlformats.org/drawingml/2006/main">
              <a:ext uri="{FF2B5EF4-FFF2-40B4-BE49-F238E27FC236}">
                <a16:creationId xmlns:a16="http://schemas.microsoft.com/office/drawing/2014/main" id="{44FCE0BD-890F-4768-A548-ACE66E5D13F9}"/>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07</a:t>
            </a:r>
          </a:p>
        </p:txBody>
      </p:sp>
    </p:spTree>
    <p:extLst>
      <p:ext uri="{BB962C8B-B14F-4D97-AF65-F5344CB8AC3E}">
        <p14:creationId xmlns:p14="http://schemas.microsoft.com/office/powerpoint/2010/main" val="17644750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lide-title">
            <a:extLst xmlns:a="http://schemas.openxmlformats.org/drawingml/2006/main">
              <a:ext uri="{FF2B5EF4-FFF2-40B4-BE49-F238E27FC236}">
                <a16:creationId xmlns:a16="http://schemas.microsoft.com/office/drawing/2014/main" id="{31D0D2FA-2307-4D1D-9CDE-4505F4AAF920}"/>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Phase 1 macht kagent zum read-only Werkzeug</a:t>
            </a:r>
          </a:p>
        </p:txBody>
      </p:sp>
      <p:sp>
        <p:nvSpPr>
          <p:cNvPr id="2" name="">
            <a:extLst xmlns:a="http://schemas.openxmlformats.org/drawingml/2006/main">
              <a:ext uri="{FF2B5EF4-FFF2-40B4-BE49-F238E27FC236}">
                <a16:creationId xmlns:a16="http://schemas.microsoft.com/office/drawing/2014/main" id="{36E543B4-2C69-4D21-80AE-A71C265E24F5}"/>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Der Agent wird zuerst ohne OpenClaw installiert und geprüft.</a:t>
            </a:r>
          </a:p>
        </p:txBody>
      </p:sp>
      <p:cxnSp>
        <p:nvCxnSpPr>
          <p:cNvPr id="36"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76D717A6-2F8E-437F-96D7-DCB3E28C58ED}"/>
              </a:ext>
            </a:extLst>
          </p:cNvPr>
          <p:cNvSpPr>
            <a:spLocks xmlns:a="http://schemas.openxmlformats.org/drawingml/2006/main" noGrp="1"/>
          </p:cNvSpPr>
          <p:nvPr/>
        </p:nvSpPr>
        <p:spPr>
          <a:xfrm xmlns:a="http://schemas.openxmlformats.org/drawingml/2006/main">
            <a:off x="647700" y="2171700"/>
            <a:ext cx="3429000" cy="3314700"/>
          </a:xfrm>
          <a:prstGeom xmlns:a="http://schemas.openxmlformats.org/drawingml/2006/main" prst="roundRect">
            <a:avLst>
              <a:gd name="adj" fmla="val 2299"/>
            </a:avLst>
          </a:prstGeom>
          <a:solidFill xmlns:a="http://schemas.openxmlformats.org/drawingml/2006/main">
            <a:srgbClr val="EEF7FD"/>
          </a:solidFill>
          <a:ln xmlns:a="http://schemas.openxmlformats.org/drawingml/2006/main" w="9525">
            <a:solidFill>
              <a:srgbClr val="3D8DFF"/>
            </a:solidFill>
            <a:prstDash val="solid"/>
          </a:ln>
        </p:spPr>
      </p:sp>
      <p:sp>
        <p:nvSpPr>
          <p:cNvPr id="5" name="">
            <a:extLst xmlns:a="http://schemas.openxmlformats.org/drawingml/2006/main">
              <a:ext uri="{FF2B5EF4-FFF2-40B4-BE49-F238E27FC236}">
                <a16:creationId xmlns:a16="http://schemas.microsoft.com/office/drawing/2014/main" id="{118C7454-2690-4883-B918-F5C3FDF798E6}"/>
              </a:ext>
            </a:extLst>
          </p:cNvPr>
          <p:cNvSpPr>
            <a:spLocks xmlns:a="http://schemas.openxmlformats.org/drawingml/2006/main" noGrp="1"/>
          </p:cNvSpPr>
          <p:nvPr/>
        </p:nvSpPr>
        <p:spPr>
          <a:xfrm xmlns:a="http://schemas.openxmlformats.org/drawingml/2006/main">
            <a:off x="933450" y="2514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kagent</a:t>
            </a:r>
          </a:p>
        </p:txBody>
      </p:sp>
      <p:sp>
        <p:nvSpPr>
          <p:cNvPr id="6" name="">
            <a:extLst xmlns:a="http://schemas.openxmlformats.org/drawingml/2006/main">
              <a:ext uri="{FF2B5EF4-FFF2-40B4-BE49-F238E27FC236}">
                <a16:creationId xmlns:a16="http://schemas.microsoft.com/office/drawing/2014/main" id="{B2966888-09F4-4535-BFDE-9B2019C4A0DF}"/>
              </a:ext>
            </a:extLst>
          </p:cNvPr>
          <p:cNvSpPr>
            <a:spLocks xmlns:a="http://schemas.openxmlformats.org/drawingml/2006/main" noGrp="1"/>
          </p:cNvSpPr>
          <p:nvPr/>
        </p:nvSpPr>
        <p:spPr>
          <a:xfrm xmlns:a="http://schemas.openxmlformats.org/drawingml/2006/main">
            <a:off x="933450" y="32575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C75F10D3-410F-47B9-A6DC-7E27BDC1763C}"/>
              </a:ext>
            </a:extLst>
          </p:cNvPr>
          <p:cNvSpPr>
            <a:spLocks xmlns:a="http://schemas.openxmlformats.org/drawingml/2006/main" noGrp="1"/>
          </p:cNvSpPr>
          <p:nvPr/>
        </p:nvSpPr>
        <p:spPr>
          <a:xfrm xmlns:a="http://schemas.openxmlformats.org/drawingml/2006/main">
            <a:off x="1238250" y="325755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Controller</a:t>
            </a:r>
          </a:p>
        </p:txBody>
      </p:sp>
      <p:sp>
        <p:nvSpPr>
          <p:cNvPr id="8" name="">
            <a:extLst xmlns:a="http://schemas.openxmlformats.org/drawingml/2006/main">
              <a:ext uri="{FF2B5EF4-FFF2-40B4-BE49-F238E27FC236}">
                <a16:creationId xmlns:a16="http://schemas.microsoft.com/office/drawing/2014/main" id="{C21CE9B9-37DC-4611-B0B5-0C7927DAF089}"/>
              </a:ext>
            </a:extLst>
          </p:cNvPr>
          <p:cNvSpPr>
            <a:spLocks xmlns:a="http://schemas.openxmlformats.org/drawingml/2006/main" noGrp="1"/>
          </p:cNvSpPr>
          <p:nvPr/>
        </p:nvSpPr>
        <p:spPr>
          <a:xfrm xmlns:a="http://schemas.openxmlformats.org/drawingml/2006/main">
            <a:off x="933450" y="370522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DBC98F1D-16C1-454B-89B4-B7B7F67E6345}"/>
              </a:ext>
            </a:extLst>
          </p:cNvPr>
          <p:cNvSpPr>
            <a:spLocks xmlns:a="http://schemas.openxmlformats.org/drawingml/2006/main" noGrp="1"/>
          </p:cNvSpPr>
          <p:nvPr/>
        </p:nvSpPr>
        <p:spPr>
          <a:xfrm xmlns:a="http://schemas.openxmlformats.org/drawingml/2006/main">
            <a:off x="1238250" y="3705225"/>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PostgreSQL</a:t>
            </a:r>
          </a:p>
        </p:txBody>
      </p:sp>
      <p:sp>
        <p:nvSpPr>
          <p:cNvPr id="10" name="">
            <a:extLst xmlns:a="http://schemas.openxmlformats.org/drawingml/2006/main">
              <a:ext uri="{FF2B5EF4-FFF2-40B4-BE49-F238E27FC236}">
                <a16:creationId xmlns:a16="http://schemas.microsoft.com/office/drawing/2014/main" id="{81513A2A-114B-4251-8D83-12198FAFC1B3}"/>
              </a:ext>
            </a:extLst>
          </p:cNvPr>
          <p:cNvSpPr>
            <a:spLocks xmlns:a="http://schemas.openxmlformats.org/drawingml/2006/main" noGrp="1"/>
          </p:cNvSpPr>
          <p:nvPr/>
        </p:nvSpPr>
        <p:spPr>
          <a:xfrm xmlns:a="http://schemas.openxmlformats.org/drawingml/2006/main">
            <a:off x="933450" y="41529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6E3B6386-D9CA-45E1-807A-475D7BA6C1BB}"/>
              </a:ext>
            </a:extLst>
          </p:cNvPr>
          <p:cNvSpPr>
            <a:spLocks xmlns:a="http://schemas.openxmlformats.org/drawingml/2006/main" noGrp="1"/>
          </p:cNvSpPr>
          <p:nvPr/>
        </p:nvSpPr>
        <p:spPr>
          <a:xfrm xmlns:a="http://schemas.openxmlformats.org/drawingml/2006/main">
            <a:off x="1238250" y="415290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Dashboard</a:t>
            </a:r>
          </a:p>
        </p:txBody>
      </p:sp>
      <p:sp>
        <p:nvSpPr>
          <p:cNvPr id="12" name="">
            <a:extLst xmlns:a="http://schemas.openxmlformats.org/drawingml/2006/main">
              <a:ext uri="{FF2B5EF4-FFF2-40B4-BE49-F238E27FC236}">
                <a16:creationId xmlns:a16="http://schemas.microsoft.com/office/drawing/2014/main" id="{B9DFD896-8AF2-462B-A13C-B8DCC251BD1B}"/>
              </a:ext>
            </a:extLst>
          </p:cNvPr>
          <p:cNvSpPr>
            <a:spLocks xmlns:a="http://schemas.openxmlformats.org/drawingml/2006/main" noGrp="1"/>
          </p:cNvSpPr>
          <p:nvPr/>
        </p:nvSpPr>
        <p:spPr>
          <a:xfrm xmlns:a="http://schemas.openxmlformats.org/drawingml/2006/main">
            <a:off x="933450" y="460057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3ECF06C6-3522-4B01-ACB3-2AFFF50DE8A4}"/>
              </a:ext>
            </a:extLst>
          </p:cNvPr>
          <p:cNvSpPr>
            <a:spLocks xmlns:a="http://schemas.openxmlformats.org/drawingml/2006/main" noGrp="1"/>
          </p:cNvSpPr>
          <p:nvPr/>
        </p:nvSpPr>
        <p:spPr>
          <a:xfrm xmlns:a="http://schemas.openxmlformats.org/drawingml/2006/main">
            <a:off x="1238250" y="4600575"/>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Go Agent</a:t>
            </a:r>
          </a:p>
        </p:txBody>
      </p:sp>
      <p:sp>
        <p:nvSpPr>
          <p:cNvPr id="14" name="">
            <a:extLst xmlns:a="http://schemas.openxmlformats.org/drawingml/2006/main">
              <a:ext uri="{FF2B5EF4-FFF2-40B4-BE49-F238E27FC236}">
                <a16:creationId xmlns:a16="http://schemas.microsoft.com/office/drawing/2014/main" id="{6132937B-AC8F-4782-9BAD-75825D3FC004}"/>
              </a:ext>
            </a:extLst>
          </p:cNvPr>
          <p:cNvSpPr>
            <a:spLocks xmlns:a="http://schemas.openxmlformats.org/drawingml/2006/main" noGrp="1"/>
          </p:cNvSpPr>
          <p:nvPr/>
        </p:nvSpPr>
        <p:spPr>
          <a:xfrm xmlns:a="http://schemas.openxmlformats.org/drawingml/2006/main">
            <a:off x="4419600" y="2171700"/>
            <a:ext cx="3276600" cy="3314700"/>
          </a:xfrm>
          <a:prstGeom xmlns:a="http://schemas.openxmlformats.org/drawingml/2006/main" prst="roundRect">
            <a:avLst>
              <a:gd name="adj" fmla="val 2326"/>
            </a:avLst>
          </a:prstGeom>
          <a:solidFill xmlns:a="http://schemas.openxmlformats.org/drawingml/2006/main">
            <a:srgbClr val="F6F7F8"/>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C8D5FD87-1042-42CC-9021-9A97DBE746A4}"/>
              </a:ext>
            </a:extLst>
          </p:cNvPr>
          <p:cNvSpPr>
            <a:spLocks xmlns:a="http://schemas.openxmlformats.org/drawingml/2006/main" noGrp="1"/>
          </p:cNvSpPr>
          <p:nvPr/>
        </p:nvSpPr>
        <p:spPr>
          <a:xfrm xmlns:a="http://schemas.openxmlformats.org/drawingml/2006/main">
            <a:off x="4705350" y="2514600"/>
            <a:ext cx="2705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Tool-Server</a:t>
            </a:r>
          </a:p>
        </p:txBody>
      </p:sp>
      <p:sp>
        <p:nvSpPr>
          <p:cNvPr id="16" name="">
            <a:extLst xmlns:a="http://schemas.openxmlformats.org/drawingml/2006/main">
              <a:ext uri="{FF2B5EF4-FFF2-40B4-BE49-F238E27FC236}">
                <a16:creationId xmlns:a16="http://schemas.microsoft.com/office/drawing/2014/main" id="{9FD4573C-89B6-4B4C-A16C-DB69C73496EA}"/>
              </a:ext>
            </a:extLst>
          </p:cNvPr>
          <p:cNvSpPr>
            <a:spLocks xmlns:a="http://schemas.openxmlformats.org/drawingml/2006/main" noGrp="1"/>
          </p:cNvSpPr>
          <p:nvPr/>
        </p:nvSpPr>
        <p:spPr>
          <a:xfrm xmlns:a="http://schemas.openxmlformats.org/drawingml/2006/main">
            <a:off x="4705350" y="32575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F992CDBE-61F5-4B32-BAAA-68BA2D4061E5}"/>
              </a:ext>
            </a:extLst>
          </p:cNvPr>
          <p:cNvSpPr>
            <a:spLocks xmlns:a="http://schemas.openxmlformats.org/drawingml/2006/main" noGrp="1"/>
          </p:cNvSpPr>
          <p:nvPr/>
        </p:nvSpPr>
        <p:spPr>
          <a:xfrm xmlns:a="http://schemas.openxmlformats.org/drawingml/2006/main">
            <a:off x="5010150" y="3257550"/>
            <a:ext cx="2266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Kubernetes lesen</a:t>
            </a:r>
          </a:p>
        </p:txBody>
      </p:sp>
      <p:sp>
        <p:nvSpPr>
          <p:cNvPr id="18" name="">
            <a:extLst xmlns:a="http://schemas.openxmlformats.org/drawingml/2006/main">
              <a:ext uri="{FF2B5EF4-FFF2-40B4-BE49-F238E27FC236}">
                <a16:creationId xmlns:a16="http://schemas.microsoft.com/office/drawing/2014/main" id="{9BB8D4B6-75DC-4B8A-AC13-92B066928AD1}"/>
              </a:ext>
            </a:extLst>
          </p:cNvPr>
          <p:cNvSpPr>
            <a:spLocks xmlns:a="http://schemas.openxmlformats.org/drawingml/2006/main" noGrp="1"/>
          </p:cNvSpPr>
          <p:nvPr/>
        </p:nvSpPr>
        <p:spPr>
          <a:xfrm xmlns:a="http://schemas.openxmlformats.org/drawingml/2006/main">
            <a:off x="4705350" y="370522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CDF5B3E3-069E-42D4-9EBB-E3261B78BCE6}"/>
              </a:ext>
            </a:extLst>
          </p:cNvPr>
          <p:cNvSpPr>
            <a:spLocks xmlns:a="http://schemas.openxmlformats.org/drawingml/2006/main" noGrp="1"/>
          </p:cNvSpPr>
          <p:nvPr/>
        </p:nvSpPr>
        <p:spPr>
          <a:xfrm xmlns:a="http://schemas.openxmlformats.org/drawingml/2006/main">
            <a:off x="5010150" y="3705225"/>
            <a:ext cx="2266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Keine Secrets</a:t>
            </a:r>
          </a:p>
        </p:txBody>
      </p:sp>
      <p:sp>
        <p:nvSpPr>
          <p:cNvPr id="20" name="">
            <a:extLst xmlns:a="http://schemas.openxmlformats.org/drawingml/2006/main">
              <a:ext uri="{FF2B5EF4-FFF2-40B4-BE49-F238E27FC236}">
                <a16:creationId xmlns:a16="http://schemas.microsoft.com/office/drawing/2014/main" id="{2F0FD8F8-0E10-4DAA-A99D-D4BA10305D64}"/>
              </a:ext>
            </a:extLst>
          </p:cNvPr>
          <p:cNvSpPr>
            <a:spLocks xmlns:a="http://schemas.openxmlformats.org/drawingml/2006/main" noGrp="1"/>
          </p:cNvSpPr>
          <p:nvPr/>
        </p:nvSpPr>
        <p:spPr>
          <a:xfrm xmlns:a="http://schemas.openxmlformats.org/drawingml/2006/main">
            <a:off x="4705350" y="41529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424674CD-D3EC-42A4-8033-3FFA6FE8364A}"/>
              </a:ext>
            </a:extLst>
          </p:cNvPr>
          <p:cNvSpPr>
            <a:spLocks xmlns:a="http://schemas.openxmlformats.org/drawingml/2006/main" noGrp="1"/>
          </p:cNvSpPr>
          <p:nvPr/>
        </p:nvSpPr>
        <p:spPr>
          <a:xfrm xmlns:a="http://schemas.openxmlformats.org/drawingml/2006/main">
            <a:off x="5010150" y="4152900"/>
            <a:ext cx="2266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Keine Writes</a:t>
            </a:r>
          </a:p>
        </p:txBody>
      </p:sp>
      <p:sp>
        <p:nvSpPr>
          <p:cNvPr id="22" name="">
            <a:extLst xmlns:a="http://schemas.openxmlformats.org/drawingml/2006/main">
              <a:ext uri="{FF2B5EF4-FFF2-40B4-BE49-F238E27FC236}">
                <a16:creationId xmlns:a16="http://schemas.microsoft.com/office/drawing/2014/main" id="{68320DF4-15C7-4C5B-982A-BE795ED9BF39}"/>
              </a:ext>
            </a:extLst>
          </p:cNvPr>
          <p:cNvSpPr>
            <a:spLocks xmlns:a="http://schemas.openxmlformats.org/drawingml/2006/main" noGrp="1"/>
          </p:cNvSpPr>
          <p:nvPr/>
        </p:nvSpPr>
        <p:spPr>
          <a:xfrm xmlns:a="http://schemas.openxmlformats.org/drawingml/2006/main">
            <a:off x="4705350" y="460057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358B2F7C-3FC2-437B-B140-EDACB20B85AA}"/>
              </a:ext>
            </a:extLst>
          </p:cNvPr>
          <p:cNvSpPr>
            <a:spLocks xmlns:a="http://schemas.openxmlformats.org/drawingml/2006/main" noGrp="1"/>
          </p:cNvSpPr>
          <p:nvPr/>
        </p:nvSpPr>
        <p:spPr>
          <a:xfrm xmlns:a="http://schemas.openxmlformats.org/drawingml/2006/main">
            <a:off x="5010150" y="4600575"/>
            <a:ext cx="2266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Keine Wildcards</a:t>
            </a:r>
          </a:p>
        </p:txBody>
      </p:sp>
      <p:sp>
        <p:nvSpPr>
          <p:cNvPr id="24" name="">
            <a:extLst xmlns:a="http://schemas.openxmlformats.org/drawingml/2006/main">
              <a:ext uri="{FF2B5EF4-FFF2-40B4-BE49-F238E27FC236}">
                <a16:creationId xmlns:a16="http://schemas.microsoft.com/office/drawing/2014/main" id="{E0DF43C5-DB84-4A51-911D-C3930314FCBD}"/>
              </a:ext>
            </a:extLst>
          </p:cNvPr>
          <p:cNvSpPr>
            <a:spLocks xmlns:a="http://schemas.openxmlformats.org/drawingml/2006/main" noGrp="1"/>
          </p:cNvSpPr>
          <p:nvPr/>
        </p:nvSpPr>
        <p:spPr>
          <a:xfrm xmlns:a="http://schemas.openxmlformats.org/drawingml/2006/main">
            <a:off x="8039100" y="2171700"/>
            <a:ext cx="3505200" cy="3314700"/>
          </a:xfrm>
          <a:prstGeom xmlns:a="http://schemas.openxmlformats.org/drawingml/2006/main" prst="roundRect">
            <a:avLst>
              <a:gd name="adj" fmla="val 2299"/>
            </a:avLst>
          </a:prstGeom>
          <a:solidFill xmlns:a="http://schemas.openxmlformats.org/drawingml/2006/main">
            <a:srgbClr val="F6F7F8"/>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75AE7E52-84C2-442F-B43C-901E88773832}"/>
              </a:ext>
            </a:extLst>
          </p:cNvPr>
          <p:cNvSpPr>
            <a:spLocks xmlns:a="http://schemas.openxmlformats.org/drawingml/2006/main" noGrp="1"/>
          </p:cNvSpPr>
          <p:nvPr/>
        </p:nvSpPr>
        <p:spPr>
          <a:xfrm xmlns:a="http://schemas.openxmlformats.org/drawingml/2006/main">
            <a:off x="8324850" y="2514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Fixtures</a:t>
            </a:r>
          </a:p>
        </p:txBody>
      </p:sp>
      <p:sp>
        <p:nvSpPr>
          <p:cNvPr id="26" name="">
            <a:extLst xmlns:a="http://schemas.openxmlformats.org/drawingml/2006/main">
              <a:ext uri="{FF2B5EF4-FFF2-40B4-BE49-F238E27FC236}">
                <a16:creationId xmlns:a16="http://schemas.microsoft.com/office/drawing/2014/main" id="{E7005F18-992E-42DA-A345-2A5A3D43AD0E}"/>
              </a:ext>
            </a:extLst>
          </p:cNvPr>
          <p:cNvSpPr>
            <a:spLocks xmlns:a="http://schemas.openxmlformats.org/drawingml/2006/main" noGrp="1"/>
          </p:cNvSpPr>
          <p:nvPr/>
        </p:nvSpPr>
        <p:spPr>
          <a:xfrm xmlns:a="http://schemas.openxmlformats.org/drawingml/2006/main">
            <a:off x="8324850" y="32575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37800"/>
                </a:solidFill>
                <a:latin typeface="Helvetica Neue"/>
                <a:ea typeface="Helvetica Neue"/>
                <a:cs typeface="Helvetica Neue"/>
              </a:defRPr>
            </a:pPr>
            <a:r>
              <a:rPr sz="1500" b="1">
                <a:solidFill>
                  <a:srgbClr val="C37800"/>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C88AF1B6-32DB-4313-BC9B-071470BB896C}"/>
              </a:ext>
            </a:extLst>
          </p:cNvPr>
          <p:cNvSpPr>
            <a:spLocks xmlns:a="http://schemas.openxmlformats.org/drawingml/2006/main" noGrp="1"/>
          </p:cNvSpPr>
          <p:nvPr/>
        </p:nvSpPr>
        <p:spPr>
          <a:xfrm xmlns:a="http://schemas.openxmlformats.org/drawingml/2006/main">
            <a:off x="8629650" y="3257550"/>
            <a:ext cx="2362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healthy</a:t>
            </a:r>
          </a:p>
        </p:txBody>
      </p:sp>
      <p:sp>
        <p:nvSpPr>
          <p:cNvPr id="28" name="">
            <a:extLst xmlns:a="http://schemas.openxmlformats.org/drawingml/2006/main">
              <a:ext uri="{FF2B5EF4-FFF2-40B4-BE49-F238E27FC236}">
                <a16:creationId xmlns:a16="http://schemas.microsoft.com/office/drawing/2014/main" id="{127402CC-3BD4-4AA6-A6A0-0307EE6BB08B}"/>
              </a:ext>
            </a:extLst>
          </p:cNvPr>
          <p:cNvSpPr>
            <a:spLocks xmlns:a="http://schemas.openxmlformats.org/drawingml/2006/main" noGrp="1"/>
          </p:cNvSpPr>
          <p:nvPr/>
        </p:nvSpPr>
        <p:spPr>
          <a:xfrm xmlns:a="http://schemas.openxmlformats.org/drawingml/2006/main">
            <a:off x="8324850" y="38100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37800"/>
                </a:solidFill>
                <a:latin typeface="Helvetica Neue"/>
                <a:ea typeface="Helvetica Neue"/>
                <a:cs typeface="Helvetica Neue"/>
              </a:defRPr>
            </a:pPr>
            <a:r>
              <a:rPr sz="1500" b="1">
                <a:solidFill>
                  <a:srgbClr val="C37800"/>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75EA8F28-4C38-46B4-A98F-58C0572CB97D}"/>
              </a:ext>
            </a:extLst>
          </p:cNvPr>
          <p:cNvSpPr>
            <a:spLocks xmlns:a="http://schemas.openxmlformats.org/drawingml/2006/main" noGrp="1"/>
          </p:cNvSpPr>
          <p:nvPr/>
        </p:nvSpPr>
        <p:spPr>
          <a:xfrm xmlns:a="http://schemas.openxmlformats.org/drawingml/2006/main">
            <a:off x="8629650" y="3810000"/>
            <a:ext cx="2362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imagepull</a:t>
            </a:r>
          </a:p>
        </p:txBody>
      </p:sp>
      <p:sp>
        <p:nvSpPr>
          <p:cNvPr id="30" name="">
            <a:extLst xmlns:a="http://schemas.openxmlformats.org/drawingml/2006/main">
              <a:ext uri="{FF2B5EF4-FFF2-40B4-BE49-F238E27FC236}">
                <a16:creationId xmlns:a16="http://schemas.microsoft.com/office/drawing/2014/main" id="{531BCA8A-3879-4C8B-A002-DA3FE6E4489A}"/>
              </a:ext>
            </a:extLst>
          </p:cNvPr>
          <p:cNvSpPr>
            <a:spLocks xmlns:a="http://schemas.openxmlformats.org/drawingml/2006/main" noGrp="1"/>
          </p:cNvSpPr>
          <p:nvPr/>
        </p:nvSpPr>
        <p:spPr>
          <a:xfrm xmlns:a="http://schemas.openxmlformats.org/drawingml/2006/main">
            <a:off x="8324850" y="43624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37800"/>
                </a:solidFill>
                <a:latin typeface="Helvetica Neue"/>
                <a:ea typeface="Helvetica Neue"/>
                <a:cs typeface="Helvetica Neue"/>
              </a:defRPr>
            </a:pPr>
            <a:r>
              <a:rPr sz="1500" b="1">
                <a:solidFill>
                  <a:srgbClr val="C37800"/>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11591F83-6F57-47BA-85A8-64F3D672E587}"/>
              </a:ext>
            </a:extLst>
          </p:cNvPr>
          <p:cNvSpPr>
            <a:spLocks xmlns:a="http://schemas.openxmlformats.org/drawingml/2006/main" noGrp="1"/>
          </p:cNvSpPr>
          <p:nvPr/>
        </p:nvSpPr>
        <p:spPr>
          <a:xfrm xmlns:a="http://schemas.openxmlformats.org/drawingml/2006/main">
            <a:off x="8629650" y="4362450"/>
            <a:ext cx="2362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crashloop</a:t>
            </a:r>
          </a:p>
        </p:txBody>
      </p:sp>
      <p:sp>
        <p:nvSpPr>
          <p:cNvPr id="32" name="">
            <a:extLst xmlns:a="http://schemas.openxmlformats.org/drawingml/2006/main">
              <a:ext uri="{FF2B5EF4-FFF2-40B4-BE49-F238E27FC236}">
                <a16:creationId xmlns:a16="http://schemas.microsoft.com/office/drawing/2014/main" id="{68625EA5-DC2B-4748-BED9-088489DA066A}"/>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PHASE 1</a:t>
            </a:r>
          </a:p>
        </p:txBody>
      </p:sp>
      <p:sp>
        <p:nvSpPr>
          <p:cNvPr id="33" name="">
            <a:extLst xmlns:a="http://schemas.openxmlformats.org/drawingml/2006/main">
              <a:ext uri="{FF2B5EF4-FFF2-40B4-BE49-F238E27FC236}">
                <a16:creationId xmlns:a16="http://schemas.microsoft.com/office/drawing/2014/main" id="{79AB79AB-2643-4ECB-9B44-0DD0F953E243}"/>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08</a:t>
            </a:r>
          </a:p>
        </p:txBody>
      </p:sp>
    </p:spTree>
    <p:extLst>
      <p:ext uri="{BB962C8B-B14F-4D97-AF65-F5344CB8AC3E}">
        <p14:creationId xmlns:p14="http://schemas.microsoft.com/office/powerpoint/2010/main" val="18098789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21416805-7DFF-4192-986F-25B6935E5F13}"/>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Drei Fixtures machen Diagnoseergebnisse reproduzierbar</a:t>
            </a:r>
          </a:p>
        </p:txBody>
      </p:sp>
      <p:sp>
        <p:nvSpPr>
          <p:cNvPr id="2" name="">
            <a:extLst xmlns:a="http://schemas.openxmlformats.org/drawingml/2006/main">
              <a:ext uri="{FF2B5EF4-FFF2-40B4-BE49-F238E27FC236}">
                <a16:creationId xmlns:a16="http://schemas.microsoft.com/office/drawing/2014/main" id="{54CAFE07-98F4-425F-83DF-22631F9704C7}"/>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Jeder Fall besitzt eindeutige Kubernetes-Evidenz.</a:t>
            </a:r>
          </a:p>
        </p:txBody>
      </p:sp>
      <p:cxnSp>
        <p:nvCxnSpPr>
          <p:cNvPr id="24"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9A66A1BE-0977-4455-B676-02492F5E1602}"/>
              </a:ext>
            </a:extLst>
          </p:cNvPr>
          <p:cNvSpPr>
            <a:spLocks xmlns:a="http://schemas.openxmlformats.org/drawingml/2006/main" noGrp="1"/>
          </p:cNvSpPr>
          <p:nvPr/>
        </p:nvSpPr>
        <p:spPr>
          <a:xfrm xmlns:a="http://schemas.openxmlformats.org/drawingml/2006/main">
            <a:off x="628650" y="2190750"/>
            <a:ext cx="10953750" cy="5905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F1623E-14B7-4F7D-B00F-5D7EAFDFA6F3}"/>
              </a:ext>
            </a:extLst>
          </p:cNvPr>
          <p:cNvSpPr>
            <a:spLocks xmlns:a="http://schemas.openxmlformats.org/drawingml/2006/main" noGrp="1"/>
          </p:cNvSpPr>
          <p:nvPr/>
        </p:nvSpPr>
        <p:spPr>
          <a:xfrm xmlns:a="http://schemas.openxmlformats.org/drawingml/2006/main">
            <a:off x="800100" y="23431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Fixture</a:t>
            </a:r>
          </a:p>
        </p:txBody>
      </p:sp>
      <p:sp>
        <p:nvSpPr>
          <p:cNvPr id="6" name="">
            <a:extLst xmlns:a="http://schemas.openxmlformats.org/drawingml/2006/main">
              <a:ext uri="{FF2B5EF4-FFF2-40B4-BE49-F238E27FC236}">
                <a16:creationId xmlns:a16="http://schemas.microsoft.com/office/drawing/2014/main" id="{6C6706EC-E515-41B5-9592-729881BC0772}"/>
              </a:ext>
            </a:extLst>
          </p:cNvPr>
          <p:cNvSpPr>
            <a:spLocks xmlns:a="http://schemas.openxmlformats.org/drawingml/2006/main" noGrp="1"/>
          </p:cNvSpPr>
          <p:nvPr/>
        </p:nvSpPr>
        <p:spPr>
          <a:xfrm xmlns:a="http://schemas.openxmlformats.org/drawingml/2006/main">
            <a:off x="2990850" y="2343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Erwarteter Zustand</a:t>
            </a:r>
          </a:p>
        </p:txBody>
      </p:sp>
      <p:sp>
        <p:nvSpPr>
          <p:cNvPr id="7" name="">
            <a:extLst xmlns:a="http://schemas.openxmlformats.org/drawingml/2006/main">
              <a:ext uri="{FF2B5EF4-FFF2-40B4-BE49-F238E27FC236}">
                <a16:creationId xmlns:a16="http://schemas.microsoft.com/office/drawing/2014/main" id="{8E6DA98C-9653-479D-A61E-815889883704}"/>
              </a:ext>
            </a:extLst>
          </p:cNvPr>
          <p:cNvSpPr>
            <a:spLocks xmlns:a="http://schemas.openxmlformats.org/drawingml/2006/main" noGrp="1"/>
          </p:cNvSpPr>
          <p:nvPr/>
        </p:nvSpPr>
        <p:spPr>
          <a:xfrm xmlns:a="http://schemas.openxmlformats.org/drawingml/2006/main">
            <a:off x="5848350" y="23431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Entscheidende Evidenz</a:t>
            </a:r>
          </a:p>
        </p:txBody>
      </p:sp>
      <p:sp>
        <p:nvSpPr>
          <p:cNvPr id="8" name="">
            <a:extLst xmlns:a="http://schemas.openxmlformats.org/drawingml/2006/main">
              <a:ext uri="{FF2B5EF4-FFF2-40B4-BE49-F238E27FC236}">
                <a16:creationId xmlns:a16="http://schemas.microsoft.com/office/drawing/2014/main" id="{8EE4FAF2-54C5-49E7-A6F6-9C417ACA058C}"/>
              </a:ext>
            </a:extLst>
          </p:cNvPr>
          <p:cNvSpPr>
            <a:spLocks xmlns:a="http://schemas.openxmlformats.org/drawingml/2006/main" noGrp="1"/>
          </p:cNvSpPr>
          <p:nvPr/>
        </p:nvSpPr>
        <p:spPr>
          <a:xfrm xmlns:a="http://schemas.openxmlformats.org/drawingml/2006/main">
            <a:off x="628650" y="2781300"/>
            <a:ext cx="1095375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9BC47E6D-FB81-4C05-AF6D-660D00DB2AA9}"/>
              </a:ext>
            </a:extLst>
          </p:cNvPr>
          <p:cNvSpPr>
            <a:spLocks xmlns:a="http://schemas.openxmlformats.org/drawingml/2006/main" noGrp="1"/>
          </p:cNvSpPr>
          <p:nvPr/>
        </p:nvSpPr>
        <p:spPr>
          <a:xfrm xmlns:a="http://schemas.openxmlformats.org/drawingml/2006/main">
            <a:off x="800100" y="29718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healthy</a:t>
            </a:r>
          </a:p>
        </p:txBody>
      </p:sp>
      <p:sp>
        <p:nvSpPr>
          <p:cNvPr id="10" name="">
            <a:extLst xmlns:a="http://schemas.openxmlformats.org/drawingml/2006/main">
              <a:ext uri="{FF2B5EF4-FFF2-40B4-BE49-F238E27FC236}">
                <a16:creationId xmlns:a16="http://schemas.microsoft.com/office/drawing/2014/main" id="{99025513-CA9F-4098-8E20-68A9D0030DD6}"/>
              </a:ext>
            </a:extLst>
          </p:cNvPr>
          <p:cNvSpPr>
            <a:spLocks xmlns:a="http://schemas.openxmlformats.org/drawingml/2006/main" noGrp="1"/>
          </p:cNvSpPr>
          <p:nvPr/>
        </p:nvSpPr>
        <p:spPr>
          <a:xfrm xmlns:a="http://schemas.openxmlformats.org/drawingml/2006/main">
            <a:off x="2990850" y="29718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Running / Ready</a:t>
            </a:r>
          </a:p>
        </p:txBody>
      </p:sp>
      <p:sp>
        <p:nvSpPr>
          <p:cNvPr id="11" name="">
            <a:extLst xmlns:a="http://schemas.openxmlformats.org/drawingml/2006/main">
              <a:ext uri="{FF2B5EF4-FFF2-40B4-BE49-F238E27FC236}">
                <a16:creationId xmlns:a16="http://schemas.microsoft.com/office/drawing/2014/main" id="{EA61DEDB-6D23-401B-80BA-C35DFE29D70E}"/>
              </a:ext>
            </a:extLst>
          </p:cNvPr>
          <p:cNvSpPr>
            <a:spLocks xmlns:a="http://schemas.openxmlformats.org/drawingml/2006/main" noGrp="1"/>
          </p:cNvSpPr>
          <p:nvPr/>
        </p:nvSpPr>
        <p:spPr>
          <a:xfrm xmlns:a="http://schemas.openxmlformats.org/drawingml/2006/main">
            <a:off x="5848350" y="2971800"/>
            <a:ext cx="5600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Container bereit, Ready-Conditions gesetzt</a:t>
            </a:r>
          </a:p>
        </p:txBody>
      </p:sp>
      <p:sp>
        <p:nvSpPr>
          <p:cNvPr id="12" name="">
            <a:extLst xmlns:a="http://schemas.openxmlformats.org/drawingml/2006/main">
              <a:ext uri="{FF2B5EF4-FFF2-40B4-BE49-F238E27FC236}">
                <a16:creationId xmlns:a16="http://schemas.microsoft.com/office/drawing/2014/main" id="{DAA5F46C-33E4-4136-8A78-74F1732EB823}"/>
              </a:ext>
            </a:extLst>
          </p:cNvPr>
          <p:cNvSpPr>
            <a:spLocks xmlns:a="http://schemas.openxmlformats.org/drawingml/2006/main" noGrp="1"/>
          </p:cNvSpPr>
          <p:nvPr/>
        </p:nvSpPr>
        <p:spPr>
          <a:xfrm xmlns:a="http://schemas.openxmlformats.org/drawingml/2006/main">
            <a:off x="628650" y="3733800"/>
            <a:ext cx="10953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DD356D7-E3E4-4A1B-83BE-5AF92E33327B}"/>
              </a:ext>
            </a:extLst>
          </p:cNvPr>
          <p:cNvSpPr>
            <a:spLocks xmlns:a="http://schemas.openxmlformats.org/drawingml/2006/main" noGrp="1"/>
          </p:cNvSpPr>
          <p:nvPr/>
        </p:nvSpPr>
        <p:spPr>
          <a:xfrm xmlns:a="http://schemas.openxmlformats.org/drawingml/2006/main">
            <a:off x="800100" y="3924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imagepull</a:t>
            </a:r>
          </a:p>
        </p:txBody>
      </p:sp>
      <p:sp>
        <p:nvSpPr>
          <p:cNvPr id="14" name="">
            <a:extLst xmlns:a="http://schemas.openxmlformats.org/drawingml/2006/main">
              <a:ext uri="{FF2B5EF4-FFF2-40B4-BE49-F238E27FC236}">
                <a16:creationId xmlns:a16="http://schemas.microsoft.com/office/drawing/2014/main" id="{6B49548C-DD60-494E-8A53-84539EAF952C}"/>
              </a:ext>
            </a:extLst>
          </p:cNvPr>
          <p:cNvSpPr>
            <a:spLocks xmlns:a="http://schemas.openxmlformats.org/drawingml/2006/main" noGrp="1"/>
          </p:cNvSpPr>
          <p:nvPr/>
        </p:nvSpPr>
        <p:spPr>
          <a:xfrm xmlns:a="http://schemas.openxmlformats.org/drawingml/2006/main">
            <a:off x="2990850" y="39243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C37800"/>
                </a:solidFill>
                <a:latin typeface="Helvetica Neue"/>
                <a:ea typeface="Helvetica Neue"/>
                <a:cs typeface="Helvetica Neue"/>
              </a:defRPr>
            </a:pPr>
            <a:r>
              <a:rPr sz="1500" b="0">
                <a:solidFill>
                  <a:srgbClr val="C37800"/>
                </a:solidFill>
                <a:latin typeface="Helvetica Neue"/>
                <a:ea typeface="Helvetica Neue"/>
                <a:cs typeface="Helvetica Neue"/>
              </a:rPr>
              <a:t>Pending</a:t>
            </a:r>
          </a:p>
        </p:txBody>
      </p:sp>
      <p:sp>
        <p:nvSpPr>
          <p:cNvPr id="15" name="">
            <a:extLst xmlns:a="http://schemas.openxmlformats.org/drawingml/2006/main">
              <a:ext uri="{FF2B5EF4-FFF2-40B4-BE49-F238E27FC236}">
                <a16:creationId xmlns:a16="http://schemas.microsoft.com/office/drawing/2014/main" id="{369ABA3F-C80B-49D4-80A0-860CF2C47CD8}"/>
              </a:ext>
            </a:extLst>
          </p:cNvPr>
          <p:cNvSpPr>
            <a:spLocks xmlns:a="http://schemas.openxmlformats.org/drawingml/2006/main" noGrp="1"/>
          </p:cNvSpPr>
          <p:nvPr/>
        </p:nvSpPr>
        <p:spPr>
          <a:xfrm xmlns:a="http://schemas.openxmlformats.org/drawingml/2006/main">
            <a:off x="5848350" y="3924300"/>
            <a:ext cx="5600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ImagePullBackOff oder ErrImagePull</a:t>
            </a:r>
          </a:p>
        </p:txBody>
      </p:sp>
      <p:sp>
        <p:nvSpPr>
          <p:cNvPr id="16" name="">
            <a:extLst xmlns:a="http://schemas.openxmlformats.org/drawingml/2006/main">
              <a:ext uri="{FF2B5EF4-FFF2-40B4-BE49-F238E27FC236}">
                <a16:creationId xmlns:a16="http://schemas.microsoft.com/office/drawing/2014/main" id="{A379FE4A-BA1F-4C25-94A7-716B19D56C62}"/>
              </a:ext>
            </a:extLst>
          </p:cNvPr>
          <p:cNvSpPr>
            <a:spLocks xmlns:a="http://schemas.openxmlformats.org/drawingml/2006/main" noGrp="1"/>
          </p:cNvSpPr>
          <p:nvPr/>
        </p:nvSpPr>
        <p:spPr>
          <a:xfrm xmlns:a="http://schemas.openxmlformats.org/drawingml/2006/main">
            <a:off x="628650" y="4686300"/>
            <a:ext cx="1095375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6638C927-B344-43C2-83B2-B2C51A40CAA0}"/>
              </a:ext>
            </a:extLst>
          </p:cNvPr>
          <p:cNvSpPr>
            <a:spLocks xmlns:a="http://schemas.openxmlformats.org/drawingml/2006/main" noGrp="1"/>
          </p:cNvSpPr>
          <p:nvPr/>
        </p:nvSpPr>
        <p:spPr>
          <a:xfrm xmlns:a="http://schemas.openxmlformats.org/drawingml/2006/main">
            <a:off x="800100" y="48768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crashloop</a:t>
            </a:r>
          </a:p>
        </p:txBody>
      </p:sp>
      <p:sp>
        <p:nvSpPr>
          <p:cNvPr id="18" name="">
            <a:extLst xmlns:a="http://schemas.openxmlformats.org/drawingml/2006/main">
              <a:ext uri="{FF2B5EF4-FFF2-40B4-BE49-F238E27FC236}">
                <a16:creationId xmlns:a16="http://schemas.microsoft.com/office/drawing/2014/main" id="{B06517DA-7E4D-4CF3-B012-1088AB108681}"/>
              </a:ext>
            </a:extLst>
          </p:cNvPr>
          <p:cNvSpPr>
            <a:spLocks xmlns:a="http://schemas.openxmlformats.org/drawingml/2006/main" noGrp="1"/>
          </p:cNvSpPr>
          <p:nvPr/>
        </p:nvSpPr>
        <p:spPr>
          <a:xfrm xmlns:a="http://schemas.openxmlformats.org/drawingml/2006/main">
            <a:off x="2990850" y="48768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C37800"/>
                </a:solidFill>
                <a:latin typeface="Helvetica Neue"/>
                <a:ea typeface="Helvetica Neue"/>
                <a:cs typeface="Helvetica Neue"/>
              </a:defRPr>
            </a:pPr>
            <a:r>
              <a:rPr sz="1500" b="0">
                <a:solidFill>
                  <a:srgbClr val="C37800"/>
                </a:solidFill>
                <a:latin typeface="Helvetica Neue"/>
                <a:ea typeface="Helvetica Neue"/>
                <a:cs typeface="Helvetica Neue"/>
              </a:rPr>
              <a:t>Not Ready</a:t>
            </a:r>
          </a:p>
        </p:txBody>
      </p:sp>
      <p:sp>
        <p:nvSpPr>
          <p:cNvPr id="19" name="">
            <a:extLst xmlns:a="http://schemas.openxmlformats.org/drawingml/2006/main">
              <a:ext uri="{FF2B5EF4-FFF2-40B4-BE49-F238E27FC236}">
                <a16:creationId xmlns:a16="http://schemas.microsoft.com/office/drawing/2014/main" id="{DE8632D7-D92B-4127-AB6F-146C7BD4749F}"/>
              </a:ext>
            </a:extLst>
          </p:cNvPr>
          <p:cNvSpPr>
            <a:spLocks xmlns:a="http://schemas.openxmlformats.org/drawingml/2006/main" noGrp="1"/>
          </p:cNvSpPr>
          <p:nvPr/>
        </p:nvSpPr>
        <p:spPr>
          <a:xfrm xmlns:a="http://schemas.openxmlformats.org/drawingml/2006/main">
            <a:off x="5848350" y="4876800"/>
            <a:ext cx="5600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Exit-Code 42, Restarts und BackOff-Events</a:t>
            </a:r>
          </a:p>
        </p:txBody>
      </p:sp>
      <p:sp>
        <p:nvSpPr>
          <p:cNvPr id="20" name="">
            <a:extLst xmlns:a="http://schemas.openxmlformats.org/drawingml/2006/main">
              <a:ext uri="{FF2B5EF4-FFF2-40B4-BE49-F238E27FC236}">
                <a16:creationId xmlns:a16="http://schemas.microsoft.com/office/drawing/2014/main" id="{7FAFCADA-1ED2-4A71-82A4-37D9F25F722A}"/>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DIAGNOSE-FIXTURES</a:t>
            </a:r>
          </a:p>
        </p:txBody>
      </p:sp>
      <p:sp>
        <p:nvSpPr>
          <p:cNvPr id="21" name="">
            <a:extLst xmlns:a="http://schemas.openxmlformats.org/drawingml/2006/main">
              <a:ext uri="{FF2B5EF4-FFF2-40B4-BE49-F238E27FC236}">
                <a16:creationId xmlns:a16="http://schemas.microsoft.com/office/drawing/2014/main" id="{11A9FD22-72EE-40C6-92E6-F48890916F87}"/>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09</a:t>
            </a:r>
          </a:p>
        </p:txBody>
      </p:sp>
    </p:spTree>
    <p:extLst>
      <p:ext uri="{BB962C8B-B14F-4D97-AF65-F5344CB8AC3E}">
        <p14:creationId xmlns:p14="http://schemas.microsoft.com/office/powerpoint/2010/main" val="13869887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46C63070-4FE9-4C84-824D-31FEEB7AD108}"/>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Ein Make-Workflow installiert und beweist Phase 1</a:t>
            </a:r>
          </a:p>
        </p:txBody>
      </p:sp>
      <p:sp>
        <p:nvSpPr>
          <p:cNvPr id="2" name="">
            <a:extLst xmlns:a="http://schemas.openxmlformats.org/drawingml/2006/main">
              <a:ext uri="{FF2B5EF4-FFF2-40B4-BE49-F238E27FC236}">
                <a16:creationId xmlns:a16="http://schemas.microsoft.com/office/drawing/2014/main" id="{CE7BD648-A627-4107-899A-7B0AE37FEA03}"/>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Vorprüfung, Installation und Live-Verifikation bleiben getrennt nachvollziehbar.</a:t>
            </a:r>
          </a:p>
        </p:txBody>
      </p:sp>
      <p:cxnSp>
        <p:nvCxnSpPr>
          <p:cNvPr id="18"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4B1B5A6E-61D2-488D-A0BD-A432080CE9D7}"/>
              </a:ext>
            </a:extLst>
          </p:cNvPr>
          <p:cNvSpPr>
            <a:spLocks xmlns:a="http://schemas.openxmlformats.org/drawingml/2006/main" noGrp="1"/>
          </p:cNvSpPr>
          <p:nvPr/>
        </p:nvSpPr>
        <p:spPr>
          <a:xfrm xmlns:a="http://schemas.openxmlformats.org/drawingml/2006/main">
            <a:off x="666750" y="2190750"/>
            <a:ext cx="5619750" cy="2724150"/>
          </a:xfrm>
          <a:prstGeom xmlns:a="http://schemas.openxmlformats.org/drawingml/2006/main" prst="roundRect">
            <a:avLst>
              <a:gd name="adj" fmla="val 2797"/>
            </a:avLst>
          </a:prstGeom>
          <a:solidFill xmlns:a="http://schemas.openxmlformats.org/drawingml/2006/main">
            <a:srgbClr val="151A21"/>
          </a:solidFill>
          <a:ln xmlns:a="http://schemas.openxmlformats.org/drawingml/2006/main" w="0">
            <a:noFill/>
            <a:prstDash val="solid"/>
          </a:ln>
        </p:spPr>
      </p:sp>
      <p:sp>
        <p:nvSpPr>
          <p:cNvPr id="5" name="command">
            <a:extLst xmlns:a="http://schemas.openxmlformats.org/drawingml/2006/main">
              <a:ext uri="{FF2B5EF4-FFF2-40B4-BE49-F238E27FC236}">
                <a16:creationId xmlns:a16="http://schemas.microsoft.com/office/drawing/2014/main" id="{E2C05014-40B9-4669-BBE2-1763DDE3A7B6}"/>
              </a:ext>
            </a:extLst>
          </p:cNvPr>
          <p:cNvSpPr>
            <a:spLocks xmlns:a="http://schemas.openxmlformats.org/drawingml/2006/main" noGrp="1"/>
          </p:cNvSpPr>
          <p:nvPr/>
        </p:nvSpPr>
        <p:spPr>
          <a:xfrm xmlns:a="http://schemas.openxmlformats.org/drawingml/2006/main">
            <a:off x="895350" y="2362200"/>
            <a:ext cx="51625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kagent preflight</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kagent install</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kagent status</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kagent verify-kagent</a:t>
            </a:r>
          </a:p>
        </p:txBody>
      </p:sp>
      <p:sp>
        <p:nvSpPr>
          <p:cNvPr id="6" name="">
            <a:extLst xmlns:a="http://schemas.openxmlformats.org/drawingml/2006/main">
              <a:ext uri="{FF2B5EF4-FFF2-40B4-BE49-F238E27FC236}">
                <a16:creationId xmlns:a16="http://schemas.microsoft.com/office/drawing/2014/main" id="{FD95732E-84F7-4B08-89A2-0586CE191719}"/>
              </a:ext>
            </a:extLst>
          </p:cNvPr>
          <p:cNvSpPr>
            <a:spLocks xmlns:a="http://schemas.openxmlformats.org/drawingml/2006/main" noGrp="1"/>
          </p:cNvSpPr>
          <p:nvPr/>
        </p:nvSpPr>
        <p:spPr>
          <a:xfrm xmlns:a="http://schemas.openxmlformats.org/drawingml/2006/main">
            <a:off x="6953250" y="21907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6845B"/>
                </a:solidFill>
                <a:latin typeface="Helvetica Neue"/>
                <a:ea typeface="Helvetica Neue"/>
                <a:cs typeface="Helvetica Neue"/>
              </a:defRPr>
            </a:pPr>
            <a:r>
              <a:rPr sz="1800" b="1">
                <a:solidFill>
                  <a:srgbClr val="16845B"/>
                </a:solidFill>
                <a:latin typeface="Helvetica Neue"/>
                <a:ea typeface="Helvetica Neue"/>
                <a:cs typeface="Helvetica Neue"/>
              </a:rPr>
              <a:t>Erfolgszeichen</a:t>
            </a:r>
          </a:p>
        </p:txBody>
      </p:sp>
      <p:sp>
        <p:nvSpPr>
          <p:cNvPr id="7" name="">
            <a:extLst xmlns:a="http://schemas.openxmlformats.org/drawingml/2006/main">
              <a:ext uri="{FF2B5EF4-FFF2-40B4-BE49-F238E27FC236}">
                <a16:creationId xmlns:a16="http://schemas.microsoft.com/office/drawing/2014/main" id="{FE337329-84C4-44AC-BF63-7DEDD7C95145}"/>
              </a:ext>
            </a:extLst>
          </p:cNvPr>
          <p:cNvSpPr>
            <a:spLocks xmlns:a="http://schemas.openxmlformats.org/drawingml/2006/main" noGrp="1"/>
          </p:cNvSpPr>
          <p:nvPr/>
        </p:nvSpPr>
        <p:spPr>
          <a:xfrm xmlns:a="http://schemas.openxmlformats.org/drawingml/2006/main">
            <a:off x="6953250" y="2743200"/>
            <a:ext cx="428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Phase 1 verification PASS</a:t>
            </a:r>
          </a:p>
        </p:txBody>
      </p:sp>
      <p:sp>
        <p:nvSpPr>
          <p:cNvPr id="8" name="">
            <a:extLst xmlns:a="http://schemas.openxmlformats.org/drawingml/2006/main">
              <a:ext uri="{FF2B5EF4-FFF2-40B4-BE49-F238E27FC236}">
                <a16:creationId xmlns:a16="http://schemas.microsoft.com/office/drawing/2014/main" id="{29344295-8B34-412E-A5B9-C5B60D9F1C28}"/>
              </a:ext>
            </a:extLst>
          </p:cNvPr>
          <p:cNvSpPr>
            <a:spLocks xmlns:a="http://schemas.openxmlformats.org/drawingml/2006/main" noGrp="1"/>
          </p:cNvSpPr>
          <p:nvPr/>
        </p:nvSpPr>
        <p:spPr>
          <a:xfrm xmlns:a="http://schemas.openxmlformats.org/drawingml/2006/main">
            <a:off x="6953250" y="36385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2609F95F-5193-49F5-A2CD-251AFF204A3C}"/>
              </a:ext>
            </a:extLst>
          </p:cNvPr>
          <p:cNvSpPr>
            <a:spLocks xmlns:a="http://schemas.openxmlformats.org/drawingml/2006/main" noGrp="1"/>
          </p:cNvSpPr>
          <p:nvPr/>
        </p:nvSpPr>
        <p:spPr>
          <a:xfrm xmlns:a="http://schemas.openxmlformats.org/drawingml/2006/main">
            <a:off x="7258050" y="3638550"/>
            <a:ext cx="3981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Agent und Tool-Server Accepted</a:t>
            </a:r>
          </a:p>
        </p:txBody>
      </p:sp>
      <p:sp>
        <p:nvSpPr>
          <p:cNvPr id="10" name="">
            <a:extLst xmlns:a="http://schemas.openxmlformats.org/drawingml/2006/main">
              <a:ext uri="{FF2B5EF4-FFF2-40B4-BE49-F238E27FC236}">
                <a16:creationId xmlns:a16="http://schemas.microsoft.com/office/drawing/2014/main" id="{464FF44C-D2C0-4A8B-9B2A-74B98CC93789}"/>
              </a:ext>
            </a:extLst>
          </p:cNvPr>
          <p:cNvSpPr>
            <a:spLocks xmlns:a="http://schemas.openxmlformats.org/drawingml/2006/main" noGrp="1"/>
          </p:cNvSpPr>
          <p:nvPr/>
        </p:nvSpPr>
        <p:spPr>
          <a:xfrm xmlns:a="http://schemas.openxmlformats.org/drawingml/2006/main">
            <a:off x="6953250" y="41910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DE8E62BD-5926-46F2-A2B7-A8CB9333B495}"/>
              </a:ext>
            </a:extLst>
          </p:cNvPr>
          <p:cNvSpPr>
            <a:spLocks xmlns:a="http://schemas.openxmlformats.org/drawingml/2006/main" noGrp="1"/>
          </p:cNvSpPr>
          <p:nvPr/>
        </p:nvSpPr>
        <p:spPr>
          <a:xfrm xmlns:a="http://schemas.openxmlformats.org/drawingml/2006/main">
            <a:off x="7258050" y="4191000"/>
            <a:ext cx="3981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Alle drei Fixtures erkannt</a:t>
            </a:r>
          </a:p>
        </p:txBody>
      </p:sp>
      <p:sp>
        <p:nvSpPr>
          <p:cNvPr id="12" name="">
            <a:extLst xmlns:a="http://schemas.openxmlformats.org/drawingml/2006/main">
              <a:ext uri="{FF2B5EF4-FFF2-40B4-BE49-F238E27FC236}">
                <a16:creationId xmlns:a16="http://schemas.microsoft.com/office/drawing/2014/main" id="{CA20B776-66F7-4A92-A502-0BA6114B6B11}"/>
              </a:ext>
            </a:extLst>
          </p:cNvPr>
          <p:cNvSpPr>
            <a:spLocks xmlns:a="http://schemas.openxmlformats.org/drawingml/2006/main" noGrp="1"/>
          </p:cNvSpPr>
          <p:nvPr/>
        </p:nvSpPr>
        <p:spPr>
          <a:xfrm xmlns:a="http://schemas.openxmlformats.org/drawingml/2006/main">
            <a:off x="6953250" y="47434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3EC8CA3A-C858-4C0C-B5ED-0CA92E232959}"/>
              </a:ext>
            </a:extLst>
          </p:cNvPr>
          <p:cNvSpPr>
            <a:spLocks xmlns:a="http://schemas.openxmlformats.org/drawingml/2006/main" noGrp="1"/>
          </p:cNvSpPr>
          <p:nvPr/>
        </p:nvSpPr>
        <p:spPr>
          <a:xfrm xmlns:a="http://schemas.openxmlformats.org/drawingml/2006/main">
            <a:off x="7258050" y="4743450"/>
            <a:ext cx="3981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Read yes — Writes, Secrets, Wildcards no</a:t>
            </a:r>
          </a:p>
        </p:txBody>
      </p:sp>
      <p:sp>
        <p:nvSpPr>
          <p:cNvPr id="14" name="">
            <a:extLst xmlns:a="http://schemas.openxmlformats.org/drawingml/2006/main">
              <a:ext uri="{FF2B5EF4-FFF2-40B4-BE49-F238E27FC236}">
                <a16:creationId xmlns:a16="http://schemas.microsoft.com/office/drawing/2014/main" id="{8E9FE907-DAC6-4471-9DA1-7EE25A661F1E}"/>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PHASE 1 VERIFIZIEREN</a:t>
            </a:r>
          </a:p>
        </p:txBody>
      </p:sp>
      <p:sp>
        <p:nvSpPr>
          <p:cNvPr id="15" name="">
            <a:extLst xmlns:a="http://schemas.openxmlformats.org/drawingml/2006/main">
              <a:ext uri="{FF2B5EF4-FFF2-40B4-BE49-F238E27FC236}">
                <a16:creationId xmlns:a16="http://schemas.microsoft.com/office/drawing/2014/main" id="{238C9E96-157B-4AB6-9FB7-7A4CF12A092B}"/>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10</a:t>
            </a:r>
          </a:p>
        </p:txBody>
      </p:sp>
    </p:spTree>
    <p:extLst>
      <p:ext uri="{BB962C8B-B14F-4D97-AF65-F5344CB8AC3E}">
        <p14:creationId xmlns:p14="http://schemas.microsoft.com/office/powerpoint/2010/main" val="16212512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AD1C5D3D-E483-423F-ABC3-DE5E0129BF56}"/>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Phase 2 verbindet die Benutzerfrage mit geprüfter Evidenz</a:t>
            </a:r>
          </a:p>
        </p:txBody>
      </p:sp>
      <p:sp>
        <p:nvSpPr>
          <p:cNvPr id="2" name="">
            <a:extLst xmlns:a="http://schemas.openxmlformats.org/drawingml/2006/main">
              <a:ext uri="{FF2B5EF4-FFF2-40B4-BE49-F238E27FC236}">
                <a16:creationId xmlns:a16="http://schemas.microsoft.com/office/drawing/2014/main" id="{D84FAF32-ABB7-4EA3-B2E5-FE402217E167}"/>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Jede Schicht hat eine klar begrenzte Aufgabe.</a:t>
            </a:r>
          </a:p>
        </p:txBody>
      </p:sp>
      <p:cxnSp>
        <p:nvCxnSpPr>
          <p:cNvPr id="37"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cxnSp>
        <p:nvCxnSpPr>
          <p:cNvPr id="38" name=""/>
          <p:cNvCxnSpPr/>
          <p:nvPr/>
        </p:nvCxnSpPr>
        <p:spPr>
          <a:xfrm xmlns:a="http://schemas.openxmlformats.org/drawingml/2006/main">
            <a:off x="1943100"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5" name="">
            <a:extLst xmlns:a="http://schemas.openxmlformats.org/drawingml/2006/main">
              <a:ext uri="{FF2B5EF4-FFF2-40B4-BE49-F238E27FC236}">
                <a16:creationId xmlns:a16="http://schemas.microsoft.com/office/drawing/2014/main" id="{443AC00E-61BE-4795-9730-4431C9FD6A15}"/>
              </a:ext>
            </a:extLst>
          </p:cNvPr>
          <p:cNvSpPr>
            <a:spLocks xmlns:a="http://schemas.openxmlformats.org/drawingml/2006/main" noGrp="1"/>
          </p:cNvSpPr>
          <p:nvPr/>
        </p:nvSpPr>
        <p:spPr>
          <a:xfrm xmlns:a="http://schemas.openxmlformats.org/drawingml/2006/main">
            <a:off x="2028825"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cxnSp>
        <p:nvCxnSpPr>
          <p:cNvPr id="40" name=""/>
          <p:cNvCxnSpPr/>
          <p:nvPr/>
        </p:nvCxnSpPr>
        <p:spPr>
          <a:xfrm xmlns:a="http://schemas.openxmlformats.org/drawingml/2006/main">
            <a:off x="3895725"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7" name="">
            <a:extLst xmlns:a="http://schemas.openxmlformats.org/drawingml/2006/main">
              <a:ext uri="{FF2B5EF4-FFF2-40B4-BE49-F238E27FC236}">
                <a16:creationId xmlns:a16="http://schemas.microsoft.com/office/drawing/2014/main" id="{9F5080DC-92F7-49EA-8BAC-808C04280ED9}"/>
              </a:ext>
            </a:extLst>
          </p:cNvPr>
          <p:cNvSpPr>
            <a:spLocks xmlns:a="http://schemas.openxmlformats.org/drawingml/2006/main" noGrp="1"/>
          </p:cNvSpPr>
          <p:nvPr/>
        </p:nvSpPr>
        <p:spPr>
          <a:xfrm xmlns:a="http://schemas.openxmlformats.org/drawingml/2006/main">
            <a:off x="3981450"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cxnSp>
        <p:nvCxnSpPr>
          <p:cNvPr id="42" name=""/>
          <p:cNvCxnSpPr/>
          <p:nvPr/>
        </p:nvCxnSpPr>
        <p:spPr>
          <a:xfrm xmlns:a="http://schemas.openxmlformats.org/drawingml/2006/main">
            <a:off x="5848350"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9" name="">
            <a:extLst xmlns:a="http://schemas.openxmlformats.org/drawingml/2006/main">
              <a:ext uri="{FF2B5EF4-FFF2-40B4-BE49-F238E27FC236}">
                <a16:creationId xmlns:a16="http://schemas.microsoft.com/office/drawing/2014/main" id="{5BB79B01-19D6-44C9-A4A0-D08B04E9155C}"/>
              </a:ext>
            </a:extLst>
          </p:cNvPr>
          <p:cNvSpPr>
            <a:spLocks xmlns:a="http://schemas.openxmlformats.org/drawingml/2006/main" noGrp="1"/>
          </p:cNvSpPr>
          <p:nvPr/>
        </p:nvSpPr>
        <p:spPr>
          <a:xfrm xmlns:a="http://schemas.openxmlformats.org/drawingml/2006/main">
            <a:off x="5934075"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cxnSp>
        <p:nvCxnSpPr>
          <p:cNvPr id="44" name=""/>
          <p:cNvCxnSpPr/>
          <p:nvPr/>
        </p:nvCxnSpPr>
        <p:spPr>
          <a:xfrm xmlns:a="http://schemas.openxmlformats.org/drawingml/2006/main">
            <a:off x="7800975"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11" name="">
            <a:extLst xmlns:a="http://schemas.openxmlformats.org/drawingml/2006/main">
              <a:ext uri="{FF2B5EF4-FFF2-40B4-BE49-F238E27FC236}">
                <a16:creationId xmlns:a16="http://schemas.microsoft.com/office/drawing/2014/main" id="{616E930A-FE04-437B-8424-C36D112AB9D1}"/>
              </a:ext>
            </a:extLst>
          </p:cNvPr>
          <p:cNvSpPr>
            <a:spLocks xmlns:a="http://schemas.openxmlformats.org/drawingml/2006/main" noGrp="1"/>
          </p:cNvSpPr>
          <p:nvPr/>
        </p:nvSpPr>
        <p:spPr>
          <a:xfrm xmlns:a="http://schemas.openxmlformats.org/drawingml/2006/main">
            <a:off x="7886700"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cxnSp>
        <p:nvCxnSpPr>
          <p:cNvPr id="46" name=""/>
          <p:cNvCxnSpPr/>
          <p:nvPr/>
        </p:nvCxnSpPr>
        <p:spPr>
          <a:xfrm xmlns:a="http://schemas.openxmlformats.org/drawingml/2006/main">
            <a:off x="9753600"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13" name="">
            <a:extLst xmlns:a="http://schemas.openxmlformats.org/drawingml/2006/main">
              <a:ext uri="{FF2B5EF4-FFF2-40B4-BE49-F238E27FC236}">
                <a16:creationId xmlns:a16="http://schemas.microsoft.com/office/drawing/2014/main" id="{72D7C081-D2A6-4F0C-B474-14AECF26B24C}"/>
              </a:ext>
            </a:extLst>
          </p:cNvPr>
          <p:cNvSpPr>
            <a:spLocks xmlns:a="http://schemas.openxmlformats.org/drawingml/2006/main" noGrp="1"/>
          </p:cNvSpPr>
          <p:nvPr/>
        </p:nvSpPr>
        <p:spPr>
          <a:xfrm xmlns:a="http://schemas.openxmlformats.org/drawingml/2006/main">
            <a:off x="9839325"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78F67FCA-DBFC-406F-80F6-74D037D4088B}"/>
              </a:ext>
            </a:extLst>
          </p:cNvPr>
          <p:cNvSpPr>
            <a:spLocks xmlns:a="http://schemas.openxmlformats.org/drawingml/2006/main" noGrp="1"/>
          </p:cNvSpPr>
          <p:nvPr/>
        </p:nvSpPr>
        <p:spPr>
          <a:xfrm xmlns:a="http://schemas.openxmlformats.org/drawingml/2006/main">
            <a:off x="400050" y="2724150"/>
            <a:ext cx="1543050" cy="1428750"/>
          </a:xfrm>
          <a:prstGeom xmlns:a="http://schemas.openxmlformats.org/drawingml/2006/main" prst="roundRect">
            <a:avLst>
              <a:gd name="adj" fmla="val 5333"/>
            </a:avLst>
          </a:prstGeom>
          <a:solidFill xmlns:a="http://schemas.openxmlformats.org/drawingml/2006/main">
            <a:srgbClr val="EEF7FD"/>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516FC181-8D79-4177-8928-5A755679FE7D}"/>
              </a:ext>
            </a:extLst>
          </p:cNvPr>
          <p:cNvSpPr>
            <a:spLocks xmlns:a="http://schemas.openxmlformats.org/drawingml/2006/main" noGrp="1"/>
          </p:cNvSpPr>
          <p:nvPr/>
        </p:nvSpPr>
        <p:spPr>
          <a:xfrm xmlns:a="http://schemas.openxmlformats.org/drawingml/2006/main">
            <a:off x="533400"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Open WebUI</a:t>
            </a:r>
          </a:p>
        </p:txBody>
      </p:sp>
      <p:sp>
        <p:nvSpPr>
          <p:cNvPr id="16" name="">
            <a:extLst xmlns:a="http://schemas.openxmlformats.org/drawingml/2006/main">
              <a:ext uri="{FF2B5EF4-FFF2-40B4-BE49-F238E27FC236}">
                <a16:creationId xmlns:a16="http://schemas.microsoft.com/office/drawing/2014/main" id="{28D87B72-9482-45CC-AF9C-9729E12DC910}"/>
              </a:ext>
            </a:extLst>
          </p:cNvPr>
          <p:cNvSpPr>
            <a:spLocks xmlns:a="http://schemas.openxmlformats.org/drawingml/2006/main" noGrp="1"/>
          </p:cNvSpPr>
          <p:nvPr/>
        </p:nvSpPr>
        <p:spPr>
          <a:xfrm xmlns:a="http://schemas.openxmlformats.org/drawingml/2006/main">
            <a:off x="514350"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Login + Chat</a:t>
            </a:r>
          </a:p>
        </p:txBody>
      </p:sp>
      <p:sp>
        <p:nvSpPr>
          <p:cNvPr id="17" name="">
            <a:extLst xmlns:a="http://schemas.openxmlformats.org/drawingml/2006/main">
              <a:ext uri="{FF2B5EF4-FFF2-40B4-BE49-F238E27FC236}">
                <a16:creationId xmlns:a16="http://schemas.microsoft.com/office/drawing/2014/main" id="{53294656-6080-46A3-B73B-C425B08DEEB3}"/>
              </a:ext>
            </a:extLst>
          </p:cNvPr>
          <p:cNvSpPr>
            <a:spLocks xmlns:a="http://schemas.openxmlformats.org/drawingml/2006/main" noGrp="1"/>
          </p:cNvSpPr>
          <p:nvPr/>
        </p:nvSpPr>
        <p:spPr>
          <a:xfrm xmlns:a="http://schemas.openxmlformats.org/drawingml/2006/main">
            <a:off x="2352675"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58B499C-45B6-4F78-8114-9893639658F7}"/>
              </a:ext>
            </a:extLst>
          </p:cNvPr>
          <p:cNvSpPr>
            <a:spLocks xmlns:a="http://schemas.openxmlformats.org/drawingml/2006/main" noGrp="1"/>
          </p:cNvSpPr>
          <p:nvPr/>
        </p:nvSpPr>
        <p:spPr>
          <a:xfrm xmlns:a="http://schemas.openxmlformats.org/drawingml/2006/main">
            <a:off x="2486025"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OpenClaw</a:t>
            </a:r>
          </a:p>
        </p:txBody>
      </p:sp>
      <p:sp>
        <p:nvSpPr>
          <p:cNvPr id="19" name="">
            <a:extLst xmlns:a="http://schemas.openxmlformats.org/drawingml/2006/main">
              <a:ext uri="{FF2B5EF4-FFF2-40B4-BE49-F238E27FC236}">
                <a16:creationId xmlns:a16="http://schemas.microsoft.com/office/drawing/2014/main" id="{16236280-1824-450D-BD65-DF8FF1D06BE4}"/>
              </a:ext>
            </a:extLst>
          </p:cNvPr>
          <p:cNvSpPr>
            <a:spLocks xmlns:a="http://schemas.openxmlformats.org/drawingml/2006/main" noGrp="1"/>
          </p:cNvSpPr>
          <p:nvPr/>
        </p:nvSpPr>
        <p:spPr>
          <a:xfrm xmlns:a="http://schemas.openxmlformats.org/drawingml/2006/main">
            <a:off x="2466975"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Consumer</a:t>
            </a:r>
          </a:p>
        </p:txBody>
      </p:sp>
      <p:sp>
        <p:nvSpPr>
          <p:cNvPr id="20" name="">
            <a:extLst xmlns:a="http://schemas.openxmlformats.org/drawingml/2006/main">
              <a:ext uri="{FF2B5EF4-FFF2-40B4-BE49-F238E27FC236}">
                <a16:creationId xmlns:a16="http://schemas.microsoft.com/office/drawing/2014/main" id="{3B5630EA-58CC-4052-91F2-8DDAE9784DA2}"/>
              </a:ext>
            </a:extLst>
          </p:cNvPr>
          <p:cNvSpPr>
            <a:spLocks xmlns:a="http://schemas.openxmlformats.org/drawingml/2006/main" noGrp="1"/>
          </p:cNvSpPr>
          <p:nvPr/>
        </p:nvSpPr>
        <p:spPr>
          <a:xfrm xmlns:a="http://schemas.openxmlformats.org/drawingml/2006/main">
            <a:off x="4305300"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F516387E-4217-4024-8277-2BEEE638FBAD}"/>
              </a:ext>
            </a:extLst>
          </p:cNvPr>
          <p:cNvSpPr>
            <a:spLocks xmlns:a="http://schemas.openxmlformats.org/drawingml/2006/main" noGrp="1"/>
          </p:cNvSpPr>
          <p:nvPr/>
        </p:nvSpPr>
        <p:spPr>
          <a:xfrm xmlns:a="http://schemas.openxmlformats.org/drawingml/2006/main">
            <a:off x="4438650"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MCP adapter</a:t>
            </a:r>
          </a:p>
        </p:txBody>
      </p:sp>
      <p:sp>
        <p:nvSpPr>
          <p:cNvPr id="22" name="">
            <a:extLst xmlns:a="http://schemas.openxmlformats.org/drawingml/2006/main">
              <a:ext uri="{FF2B5EF4-FFF2-40B4-BE49-F238E27FC236}">
                <a16:creationId xmlns:a16="http://schemas.microsoft.com/office/drawing/2014/main" id="{465043A3-9D0E-4FBA-8129-1D05B322C367}"/>
              </a:ext>
            </a:extLst>
          </p:cNvPr>
          <p:cNvSpPr>
            <a:spLocks xmlns:a="http://schemas.openxmlformats.org/drawingml/2006/main" noGrp="1"/>
          </p:cNvSpPr>
          <p:nvPr/>
        </p:nvSpPr>
        <p:spPr>
          <a:xfrm xmlns:a="http://schemas.openxmlformats.org/drawingml/2006/main">
            <a:off x="4419600"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3 Funktionen</a:t>
            </a:r>
          </a:p>
        </p:txBody>
      </p:sp>
      <p:sp>
        <p:nvSpPr>
          <p:cNvPr id="23" name="">
            <a:extLst xmlns:a="http://schemas.openxmlformats.org/drawingml/2006/main">
              <a:ext uri="{FF2B5EF4-FFF2-40B4-BE49-F238E27FC236}">
                <a16:creationId xmlns:a16="http://schemas.microsoft.com/office/drawing/2014/main" id="{E4E129F1-5C41-431D-A111-C0653275BF09}"/>
              </a:ext>
            </a:extLst>
          </p:cNvPr>
          <p:cNvSpPr>
            <a:spLocks xmlns:a="http://schemas.openxmlformats.org/drawingml/2006/main" noGrp="1"/>
          </p:cNvSpPr>
          <p:nvPr/>
        </p:nvSpPr>
        <p:spPr>
          <a:xfrm xmlns:a="http://schemas.openxmlformats.org/drawingml/2006/main">
            <a:off x="6257925"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BA50A8BE-205A-4126-A586-972EA6CFF44D}"/>
              </a:ext>
            </a:extLst>
          </p:cNvPr>
          <p:cNvSpPr>
            <a:spLocks xmlns:a="http://schemas.openxmlformats.org/drawingml/2006/main" noGrp="1"/>
          </p:cNvSpPr>
          <p:nvPr/>
        </p:nvSpPr>
        <p:spPr>
          <a:xfrm xmlns:a="http://schemas.openxmlformats.org/drawingml/2006/main">
            <a:off x="6391275"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Facade</a:t>
            </a:r>
          </a:p>
        </p:txBody>
      </p:sp>
      <p:sp>
        <p:nvSpPr>
          <p:cNvPr id="25" name="">
            <a:extLst xmlns:a="http://schemas.openxmlformats.org/drawingml/2006/main">
              <a:ext uri="{FF2B5EF4-FFF2-40B4-BE49-F238E27FC236}">
                <a16:creationId xmlns:a16="http://schemas.microsoft.com/office/drawing/2014/main" id="{A55D858B-F0F3-4750-8FC5-9260877AC8E3}"/>
              </a:ext>
            </a:extLst>
          </p:cNvPr>
          <p:cNvSpPr>
            <a:spLocks xmlns:a="http://schemas.openxmlformats.org/drawingml/2006/main" noGrp="1"/>
          </p:cNvSpPr>
          <p:nvPr/>
        </p:nvSpPr>
        <p:spPr>
          <a:xfrm xmlns:a="http://schemas.openxmlformats.org/drawingml/2006/main">
            <a:off x="6372225"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Contract</a:t>
            </a:r>
          </a:p>
        </p:txBody>
      </p:sp>
      <p:sp>
        <p:nvSpPr>
          <p:cNvPr id="26" name="">
            <a:extLst xmlns:a="http://schemas.openxmlformats.org/drawingml/2006/main">
              <a:ext uri="{FF2B5EF4-FFF2-40B4-BE49-F238E27FC236}">
                <a16:creationId xmlns:a16="http://schemas.microsoft.com/office/drawing/2014/main" id="{7ACE604C-36C2-47AA-8745-D61202CFA028}"/>
              </a:ext>
            </a:extLst>
          </p:cNvPr>
          <p:cNvSpPr>
            <a:spLocks xmlns:a="http://schemas.openxmlformats.org/drawingml/2006/main" noGrp="1"/>
          </p:cNvSpPr>
          <p:nvPr/>
        </p:nvSpPr>
        <p:spPr>
          <a:xfrm xmlns:a="http://schemas.openxmlformats.org/drawingml/2006/main">
            <a:off x="8210550"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9F77F682-397D-4BFC-A4A8-3AD6B5BCD91E}"/>
              </a:ext>
            </a:extLst>
          </p:cNvPr>
          <p:cNvSpPr>
            <a:spLocks xmlns:a="http://schemas.openxmlformats.org/drawingml/2006/main" noGrp="1"/>
          </p:cNvSpPr>
          <p:nvPr/>
        </p:nvSpPr>
        <p:spPr>
          <a:xfrm xmlns:a="http://schemas.openxmlformats.org/drawingml/2006/main">
            <a:off x="8343900"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kagent</a:t>
            </a:r>
          </a:p>
        </p:txBody>
      </p:sp>
      <p:sp>
        <p:nvSpPr>
          <p:cNvPr id="28" name="">
            <a:extLst xmlns:a="http://schemas.openxmlformats.org/drawingml/2006/main">
              <a:ext uri="{FF2B5EF4-FFF2-40B4-BE49-F238E27FC236}">
                <a16:creationId xmlns:a16="http://schemas.microsoft.com/office/drawing/2014/main" id="{C62E6DB8-6EA2-4C9A-8604-F67EB74008DF}"/>
              </a:ext>
            </a:extLst>
          </p:cNvPr>
          <p:cNvSpPr>
            <a:spLocks xmlns:a="http://schemas.openxmlformats.org/drawingml/2006/main" noGrp="1"/>
          </p:cNvSpPr>
          <p:nvPr/>
        </p:nvSpPr>
        <p:spPr>
          <a:xfrm xmlns:a="http://schemas.openxmlformats.org/drawingml/2006/main">
            <a:off x="8324850"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Agent</a:t>
            </a:r>
          </a:p>
        </p:txBody>
      </p:sp>
      <p:sp>
        <p:nvSpPr>
          <p:cNvPr id="29" name="">
            <a:extLst xmlns:a="http://schemas.openxmlformats.org/drawingml/2006/main">
              <a:ext uri="{FF2B5EF4-FFF2-40B4-BE49-F238E27FC236}">
                <a16:creationId xmlns:a16="http://schemas.microsoft.com/office/drawing/2014/main" id="{F3CF1E30-A2B7-463A-91F7-605C194E388B}"/>
              </a:ext>
            </a:extLst>
          </p:cNvPr>
          <p:cNvSpPr>
            <a:spLocks xmlns:a="http://schemas.openxmlformats.org/drawingml/2006/main" noGrp="1"/>
          </p:cNvSpPr>
          <p:nvPr/>
        </p:nvSpPr>
        <p:spPr>
          <a:xfrm xmlns:a="http://schemas.openxmlformats.org/drawingml/2006/main">
            <a:off x="10163175"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30" name="">
            <a:extLst xmlns:a="http://schemas.openxmlformats.org/drawingml/2006/main">
              <a:ext uri="{FF2B5EF4-FFF2-40B4-BE49-F238E27FC236}">
                <a16:creationId xmlns:a16="http://schemas.microsoft.com/office/drawing/2014/main" id="{036D3BC8-1CBC-49D3-A5B6-7E9BB7615A6D}"/>
              </a:ext>
            </a:extLst>
          </p:cNvPr>
          <p:cNvSpPr>
            <a:spLocks xmlns:a="http://schemas.openxmlformats.org/drawingml/2006/main" noGrp="1"/>
          </p:cNvSpPr>
          <p:nvPr/>
        </p:nvSpPr>
        <p:spPr>
          <a:xfrm xmlns:a="http://schemas.openxmlformats.org/drawingml/2006/main">
            <a:off x="10296525"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Tool-Server</a:t>
            </a:r>
          </a:p>
        </p:txBody>
      </p:sp>
      <p:sp>
        <p:nvSpPr>
          <p:cNvPr id="31" name="">
            <a:extLst xmlns:a="http://schemas.openxmlformats.org/drawingml/2006/main">
              <a:ext uri="{FF2B5EF4-FFF2-40B4-BE49-F238E27FC236}">
                <a16:creationId xmlns:a16="http://schemas.microsoft.com/office/drawing/2014/main" id="{AD9E56B8-24DA-4B67-AF96-FF1B8F64A6A3}"/>
              </a:ext>
            </a:extLst>
          </p:cNvPr>
          <p:cNvSpPr>
            <a:spLocks xmlns:a="http://schemas.openxmlformats.org/drawingml/2006/main" noGrp="1"/>
          </p:cNvSpPr>
          <p:nvPr/>
        </p:nvSpPr>
        <p:spPr>
          <a:xfrm xmlns:a="http://schemas.openxmlformats.org/drawingml/2006/main">
            <a:off x="10277475"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K8s read-only</a:t>
            </a:r>
          </a:p>
        </p:txBody>
      </p:sp>
      <p:sp>
        <p:nvSpPr>
          <p:cNvPr id="32" name="">
            <a:extLst xmlns:a="http://schemas.openxmlformats.org/drawingml/2006/main">
              <a:ext uri="{FF2B5EF4-FFF2-40B4-BE49-F238E27FC236}">
                <a16:creationId xmlns:a16="http://schemas.microsoft.com/office/drawing/2014/main" id="{25DDCFB3-96B8-4C57-946A-BBE7654E54E1}"/>
              </a:ext>
            </a:extLst>
          </p:cNvPr>
          <p:cNvSpPr>
            <a:spLocks xmlns:a="http://schemas.openxmlformats.org/drawingml/2006/main" noGrp="1"/>
          </p:cNvSpPr>
          <p:nvPr/>
        </p:nvSpPr>
        <p:spPr>
          <a:xfrm xmlns:a="http://schemas.openxmlformats.org/drawingml/2006/main">
            <a:off x="8972550" y="46101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6845B"/>
                </a:solidFill>
                <a:latin typeface="Helvetica Neue"/>
                <a:ea typeface="Helvetica Neue"/>
                <a:cs typeface="Helvetica Neue"/>
              </a:defRPr>
            </a:pPr>
            <a:r>
              <a:rPr sz="1350" b="1">
                <a:solidFill>
                  <a:srgbClr val="16845B"/>
                </a:solidFill>
                <a:latin typeface="Helvetica Neue"/>
                <a:ea typeface="Helvetica Neue"/>
                <a:cs typeface="Helvetica Neue"/>
              </a:rPr>
              <a:t>Nur hier liegt eine Kubernetes-API-Identität</a:t>
            </a:r>
          </a:p>
        </p:txBody>
      </p:sp>
      <p:sp>
        <p:nvSpPr>
          <p:cNvPr id="33" name="">
            <a:extLst xmlns:a="http://schemas.openxmlformats.org/drawingml/2006/main">
              <a:ext uri="{FF2B5EF4-FFF2-40B4-BE49-F238E27FC236}">
                <a16:creationId xmlns:a16="http://schemas.microsoft.com/office/drawing/2014/main" id="{AD3A6FA2-42C9-41E8-8E1C-5C875A2BFF9A}"/>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PHASE 2 ARCHITEKTUR</a:t>
            </a:r>
          </a:p>
        </p:txBody>
      </p:sp>
      <p:sp>
        <p:nvSpPr>
          <p:cNvPr id="34" name="">
            <a:extLst xmlns:a="http://schemas.openxmlformats.org/drawingml/2006/main">
              <a:ext uri="{FF2B5EF4-FFF2-40B4-BE49-F238E27FC236}">
                <a16:creationId xmlns:a16="http://schemas.microsoft.com/office/drawing/2014/main" id="{48D6F30F-BEDA-477A-A6ED-47A458002BC0}"/>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11</a:t>
            </a:r>
          </a:p>
        </p:txBody>
      </p:sp>
    </p:spTree>
    <p:extLst>
      <p:ext uri="{BB962C8B-B14F-4D97-AF65-F5344CB8AC3E}">
        <p14:creationId xmlns:p14="http://schemas.microsoft.com/office/powerpoint/2010/main" val="14742020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A6768EDF-3D3A-4120-A1E8-37DD4E463990}"/>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OpenClaw sieht exakt drei Diagnosefunktionen</a:t>
            </a:r>
          </a:p>
        </p:txBody>
      </p:sp>
      <p:sp>
        <p:nvSpPr>
          <p:cNvPr id="2" name="">
            <a:extLst xmlns:a="http://schemas.openxmlformats.org/drawingml/2006/main">
              <a:ext uri="{FF2B5EF4-FFF2-40B4-BE49-F238E27FC236}">
                <a16:creationId xmlns:a16="http://schemas.microsoft.com/office/drawing/2014/main" id="{272065E4-8052-4932-B1B4-E6B08CD34FBB}"/>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Eine Allowlist begrenzt die Fähigkeiten unabhängig von der Formulierung des Prompts.</a:t>
            </a:r>
          </a:p>
        </p:txBody>
      </p:sp>
      <p:cxnSp>
        <p:nvCxnSpPr>
          <p:cNvPr id="19"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AE5E4DD1-5CFB-4BA2-B2BF-B70E4835F8CF}"/>
              </a:ext>
            </a:extLst>
          </p:cNvPr>
          <p:cNvSpPr>
            <a:spLocks xmlns:a="http://schemas.openxmlformats.org/drawingml/2006/main" noGrp="1"/>
          </p:cNvSpPr>
          <p:nvPr/>
        </p:nvSpPr>
        <p:spPr>
          <a:xfrm xmlns:a="http://schemas.openxmlformats.org/drawingml/2006/main">
            <a:off x="742950" y="215265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4A74C109-4A02-4145-AB39-D9CF0D281F79}"/>
              </a:ext>
            </a:extLst>
          </p:cNvPr>
          <p:cNvSpPr>
            <a:spLocks xmlns:a="http://schemas.openxmlformats.org/drawingml/2006/main" noGrp="1"/>
          </p:cNvSpPr>
          <p:nvPr/>
        </p:nvSpPr>
        <p:spPr>
          <a:xfrm xmlns:a="http://schemas.openxmlformats.org/drawingml/2006/main">
            <a:off x="1562100" y="21145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get_platform_health</a:t>
            </a:r>
          </a:p>
        </p:txBody>
      </p:sp>
      <p:sp>
        <p:nvSpPr>
          <p:cNvPr id="6" name="">
            <a:extLst xmlns:a="http://schemas.openxmlformats.org/drawingml/2006/main">
              <a:ext uri="{FF2B5EF4-FFF2-40B4-BE49-F238E27FC236}">
                <a16:creationId xmlns:a16="http://schemas.microsoft.com/office/drawing/2014/main" id="{34963C6E-F2BC-41CE-A82D-A89B0B4B1622}"/>
              </a:ext>
            </a:extLst>
          </p:cNvPr>
          <p:cNvSpPr>
            <a:spLocks xmlns:a="http://schemas.openxmlformats.org/drawingml/2006/main" noGrp="1"/>
          </p:cNvSpPr>
          <p:nvPr/>
        </p:nvSpPr>
        <p:spPr>
          <a:xfrm xmlns:a="http://schemas.openxmlformats.org/drawingml/2006/main">
            <a:off x="6572250" y="21526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Bewertet den Zustand von ok-infra-local.</a:t>
            </a:r>
          </a:p>
        </p:txBody>
      </p:sp>
      <p:cxnSp>
        <p:nvCxnSpPr>
          <p:cNvPr id="23" name=""/>
          <p:cNvCxnSpPr/>
          <p:nvPr/>
        </p:nvCxnSpPr>
        <p:spPr>
          <a:xfrm xmlns:a="http://schemas.openxmlformats.org/drawingml/2006/main">
            <a:off x="742950" y="2876550"/>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DD093517-A03D-4F1C-8A97-6858679901CF}"/>
              </a:ext>
            </a:extLst>
          </p:cNvPr>
          <p:cNvSpPr>
            <a:spLocks xmlns:a="http://schemas.openxmlformats.org/drawingml/2006/main" noGrp="1"/>
          </p:cNvSpPr>
          <p:nvPr/>
        </p:nvSpPr>
        <p:spPr>
          <a:xfrm xmlns:a="http://schemas.openxmlformats.org/drawingml/2006/main">
            <a:off x="742950" y="331470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C45FD197-652A-4398-98C7-C7F5CAD15704}"/>
              </a:ext>
            </a:extLst>
          </p:cNvPr>
          <p:cNvSpPr>
            <a:spLocks xmlns:a="http://schemas.openxmlformats.org/drawingml/2006/main" noGrp="1"/>
          </p:cNvSpPr>
          <p:nvPr/>
        </p:nvSpPr>
        <p:spPr>
          <a:xfrm xmlns:a="http://schemas.openxmlformats.org/drawingml/2006/main">
            <a:off x="1562100" y="32766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investigate_workload</a:t>
            </a:r>
          </a:p>
        </p:txBody>
      </p:sp>
      <p:sp>
        <p:nvSpPr>
          <p:cNvPr id="10" name="">
            <a:extLst xmlns:a="http://schemas.openxmlformats.org/drawingml/2006/main">
              <a:ext uri="{FF2B5EF4-FFF2-40B4-BE49-F238E27FC236}">
                <a16:creationId xmlns:a16="http://schemas.microsoft.com/office/drawing/2014/main" id="{0CA5E7E8-D24A-4CF3-85A7-04DBCA4DF7A8}"/>
              </a:ext>
            </a:extLst>
          </p:cNvPr>
          <p:cNvSpPr>
            <a:spLocks xmlns:a="http://schemas.openxmlformats.org/drawingml/2006/main" noGrp="1"/>
          </p:cNvSpPr>
          <p:nvPr/>
        </p:nvSpPr>
        <p:spPr>
          <a:xfrm xmlns:a="http://schemas.openxmlformats.org/drawingml/2006/main">
            <a:off x="6572250" y="331470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Untersucht healthy, imagepull oder crashloop.</a:t>
            </a:r>
          </a:p>
        </p:txBody>
      </p:sp>
      <p:cxnSp>
        <p:nvCxnSpPr>
          <p:cNvPr id="27" name=""/>
          <p:cNvCxnSpPr/>
          <p:nvPr/>
        </p:nvCxnSpPr>
        <p:spPr>
          <a:xfrm xmlns:a="http://schemas.openxmlformats.org/drawingml/2006/main">
            <a:off x="742950" y="4038600"/>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9ED9C40B-8E84-446E-9E09-1C12D913ED95}"/>
              </a:ext>
            </a:extLst>
          </p:cNvPr>
          <p:cNvSpPr>
            <a:spLocks xmlns:a="http://schemas.openxmlformats.org/drawingml/2006/main" noGrp="1"/>
          </p:cNvSpPr>
          <p:nvPr/>
        </p:nvSpPr>
        <p:spPr>
          <a:xfrm xmlns:a="http://schemas.openxmlformats.org/drawingml/2006/main">
            <a:off x="742950" y="447675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9138FBDF-A496-4F5D-87AF-B379E3BC2915}"/>
              </a:ext>
            </a:extLst>
          </p:cNvPr>
          <p:cNvSpPr>
            <a:spLocks xmlns:a="http://schemas.openxmlformats.org/drawingml/2006/main" noGrp="1"/>
          </p:cNvSpPr>
          <p:nvPr/>
        </p:nvSpPr>
        <p:spPr>
          <a:xfrm xmlns:a="http://schemas.openxmlformats.org/drawingml/2006/main">
            <a:off x="1562100" y="44386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collect_diagnostic_evidence</a:t>
            </a:r>
          </a:p>
        </p:txBody>
      </p:sp>
      <p:sp>
        <p:nvSpPr>
          <p:cNvPr id="14" name="">
            <a:extLst xmlns:a="http://schemas.openxmlformats.org/drawingml/2006/main">
              <a:ext uri="{FF2B5EF4-FFF2-40B4-BE49-F238E27FC236}">
                <a16:creationId xmlns:a16="http://schemas.microsoft.com/office/drawing/2014/main" id="{C881365A-5A6F-4B1F-ADE2-0180A24F2BA6}"/>
              </a:ext>
            </a:extLst>
          </p:cNvPr>
          <p:cNvSpPr>
            <a:spLocks xmlns:a="http://schemas.openxmlformats.org/drawingml/2006/main" noGrp="1"/>
          </p:cNvSpPr>
          <p:nvPr/>
        </p:nvSpPr>
        <p:spPr>
          <a:xfrm xmlns:a="http://schemas.openxmlformats.org/drawingml/2006/main">
            <a:off x="6572250" y="44767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Sammelt nachvollziehbare Diagnose-Evidenz.</a:t>
            </a:r>
          </a:p>
        </p:txBody>
      </p:sp>
      <p:sp>
        <p:nvSpPr>
          <p:cNvPr id="15" name="">
            <a:extLst xmlns:a="http://schemas.openxmlformats.org/drawingml/2006/main">
              <a:ext uri="{FF2B5EF4-FFF2-40B4-BE49-F238E27FC236}">
                <a16:creationId xmlns:a16="http://schemas.microsoft.com/office/drawing/2014/main" id="{692D24F8-5E2A-42E1-B6E7-BC88ECFBEF87}"/>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MCP-OBERFLÄCHE</a:t>
            </a:r>
          </a:p>
        </p:txBody>
      </p:sp>
      <p:sp>
        <p:nvSpPr>
          <p:cNvPr id="16" name="">
            <a:extLst xmlns:a="http://schemas.openxmlformats.org/drawingml/2006/main">
              <a:ext uri="{FF2B5EF4-FFF2-40B4-BE49-F238E27FC236}">
                <a16:creationId xmlns:a16="http://schemas.microsoft.com/office/drawing/2014/main" id="{C9F7354E-B4DF-4E30-A517-3141852BBA98}"/>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12</a:t>
            </a:r>
          </a:p>
        </p:txBody>
      </p:sp>
    </p:spTree>
    <p:extLst>
      <p:ext uri="{BB962C8B-B14F-4D97-AF65-F5344CB8AC3E}">
        <p14:creationId xmlns:p14="http://schemas.microsoft.com/office/powerpoint/2010/main" val="17289135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78C3BEB8-76A4-40D3-86AE-DED7F8277922}"/>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Die harte Sicherheitsgrenze liegt beim Tool-Server</a:t>
            </a:r>
          </a:p>
        </p:txBody>
      </p:sp>
      <p:sp>
        <p:nvSpPr>
          <p:cNvPr id="2" name="">
            <a:extLst xmlns:a="http://schemas.openxmlformats.org/drawingml/2006/main">
              <a:ext uri="{FF2B5EF4-FFF2-40B4-BE49-F238E27FC236}">
                <a16:creationId xmlns:a16="http://schemas.microsoft.com/office/drawing/2014/main" id="{5EDD2254-DA50-46F9-9153-5F98A72E6722}"/>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Prompts erklären Verhalten — RBAC und Token-Mounts erzwingen es.</a:t>
            </a:r>
          </a:p>
        </p:txBody>
      </p:sp>
      <p:cxnSp>
        <p:nvCxnSpPr>
          <p:cNvPr id="29"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CEE79F43-C019-4341-AFC1-4E7F2A2C8174}"/>
              </a:ext>
            </a:extLst>
          </p:cNvPr>
          <p:cNvSpPr>
            <a:spLocks xmlns:a="http://schemas.openxmlformats.org/drawingml/2006/main" noGrp="1"/>
          </p:cNvSpPr>
          <p:nvPr/>
        </p:nvSpPr>
        <p:spPr>
          <a:xfrm xmlns:a="http://schemas.openxmlformats.org/drawingml/2006/main">
            <a:off x="628650" y="2152650"/>
            <a:ext cx="5219700" cy="3371850"/>
          </a:xfrm>
          <a:prstGeom xmlns:a="http://schemas.openxmlformats.org/drawingml/2006/main" prst="roundRect">
            <a:avLst>
              <a:gd name="adj" fmla="val 2260"/>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5E216E4D-E8D1-460F-80CB-D483AA6754FF}"/>
              </a:ext>
            </a:extLst>
          </p:cNvPr>
          <p:cNvSpPr>
            <a:spLocks xmlns:a="http://schemas.openxmlformats.org/drawingml/2006/main" noGrp="1"/>
          </p:cNvSpPr>
          <p:nvPr/>
        </p:nvSpPr>
        <p:spPr>
          <a:xfrm xmlns:a="http://schemas.openxmlformats.org/drawingml/2006/main">
            <a:off x="933450" y="24765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Ohne Kubernetes-Zugriff</a:t>
            </a:r>
          </a:p>
        </p:txBody>
      </p:sp>
      <p:sp>
        <p:nvSpPr>
          <p:cNvPr id="6" name="">
            <a:extLst xmlns:a="http://schemas.openxmlformats.org/drawingml/2006/main">
              <a:ext uri="{FF2B5EF4-FFF2-40B4-BE49-F238E27FC236}">
                <a16:creationId xmlns:a16="http://schemas.microsoft.com/office/drawing/2014/main" id="{68431F55-0149-4531-BD3B-15679611878E}"/>
              </a:ext>
            </a:extLst>
          </p:cNvPr>
          <p:cNvSpPr>
            <a:spLocks xmlns:a="http://schemas.openxmlformats.org/drawingml/2006/main" noGrp="1"/>
          </p:cNvSpPr>
          <p:nvPr/>
        </p:nvSpPr>
        <p:spPr>
          <a:xfrm xmlns:a="http://schemas.openxmlformats.org/drawingml/2006/main">
            <a:off x="933450" y="31813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74444"/>
                </a:solidFill>
                <a:latin typeface="Helvetica Neue"/>
                <a:ea typeface="Helvetica Neue"/>
                <a:cs typeface="Helvetica Neue"/>
              </a:defRPr>
            </a:pPr>
            <a:r>
              <a:rPr sz="1500" b="1">
                <a:solidFill>
                  <a:srgbClr val="C74444"/>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E7647D5E-7874-4BEE-B43B-C834802FE51E}"/>
              </a:ext>
            </a:extLst>
          </p:cNvPr>
          <p:cNvSpPr>
            <a:spLocks xmlns:a="http://schemas.openxmlformats.org/drawingml/2006/main" noGrp="1"/>
          </p:cNvSpPr>
          <p:nvPr/>
        </p:nvSpPr>
        <p:spPr>
          <a:xfrm xmlns:a="http://schemas.openxmlformats.org/drawingml/2006/main">
            <a:off x="1238250" y="3181350"/>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Open WebUI</a:t>
            </a:r>
          </a:p>
        </p:txBody>
      </p:sp>
      <p:sp>
        <p:nvSpPr>
          <p:cNvPr id="8" name="">
            <a:extLst xmlns:a="http://schemas.openxmlformats.org/drawingml/2006/main">
              <a:ext uri="{FF2B5EF4-FFF2-40B4-BE49-F238E27FC236}">
                <a16:creationId xmlns:a16="http://schemas.microsoft.com/office/drawing/2014/main" id="{D99A6D29-0959-4346-B48A-9CCB6C903147}"/>
              </a:ext>
            </a:extLst>
          </p:cNvPr>
          <p:cNvSpPr>
            <a:spLocks xmlns:a="http://schemas.openxmlformats.org/drawingml/2006/main" noGrp="1"/>
          </p:cNvSpPr>
          <p:nvPr/>
        </p:nvSpPr>
        <p:spPr>
          <a:xfrm xmlns:a="http://schemas.openxmlformats.org/drawingml/2006/main">
            <a:off x="933450" y="36576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74444"/>
                </a:solidFill>
                <a:latin typeface="Helvetica Neue"/>
                <a:ea typeface="Helvetica Neue"/>
                <a:cs typeface="Helvetica Neue"/>
              </a:defRPr>
            </a:pPr>
            <a:r>
              <a:rPr sz="1500" b="1">
                <a:solidFill>
                  <a:srgbClr val="C74444"/>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C8ACBCA5-0DC2-4790-B690-B0E52B940ADB}"/>
              </a:ext>
            </a:extLst>
          </p:cNvPr>
          <p:cNvSpPr>
            <a:spLocks xmlns:a="http://schemas.openxmlformats.org/drawingml/2006/main" noGrp="1"/>
          </p:cNvSpPr>
          <p:nvPr/>
        </p:nvSpPr>
        <p:spPr>
          <a:xfrm xmlns:a="http://schemas.openxmlformats.org/drawingml/2006/main">
            <a:off x="1238250" y="3657600"/>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OpenClaw</a:t>
            </a:r>
          </a:p>
        </p:txBody>
      </p:sp>
      <p:sp>
        <p:nvSpPr>
          <p:cNvPr id="10" name="">
            <a:extLst xmlns:a="http://schemas.openxmlformats.org/drawingml/2006/main">
              <a:ext uri="{FF2B5EF4-FFF2-40B4-BE49-F238E27FC236}">
                <a16:creationId xmlns:a16="http://schemas.microsoft.com/office/drawing/2014/main" id="{04A6B58E-B158-462B-8C31-B10C5355098D}"/>
              </a:ext>
            </a:extLst>
          </p:cNvPr>
          <p:cNvSpPr>
            <a:spLocks xmlns:a="http://schemas.openxmlformats.org/drawingml/2006/main" noGrp="1"/>
          </p:cNvSpPr>
          <p:nvPr/>
        </p:nvSpPr>
        <p:spPr>
          <a:xfrm xmlns:a="http://schemas.openxmlformats.org/drawingml/2006/main">
            <a:off x="933450" y="41338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74444"/>
                </a:solidFill>
                <a:latin typeface="Helvetica Neue"/>
                <a:ea typeface="Helvetica Neue"/>
                <a:cs typeface="Helvetica Neue"/>
              </a:defRPr>
            </a:pPr>
            <a:r>
              <a:rPr sz="1500" b="1">
                <a:solidFill>
                  <a:srgbClr val="C74444"/>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8E2F1158-3FA5-479E-A043-47632A0A98A5}"/>
              </a:ext>
            </a:extLst>
          </p:cNvPr>
          <p:cNvSpPr>
            <a:spLocks xmlns:a="http://schemas.openxmlformats.org/drawingml/2006/main" noGrp="1"/>
          </p:cNvSpPr>
          <p:nvPr/>
        </p:nvSpPr>
        <p:spPr>
          <a:xfrm xmlns:a="http://schemas.openxmlformats.org/drawingml/2006/main">
            <a:off x="1238250" y="4133850"/>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MCP-Adapter und Facade</a:t>
            </a:r>
          </a:p>
        </p:txBody>
      </p:sp>
      <p:sp>
        <p:nvSpPr>
          <p:cNvPr id="12" name="">
            <a:extLst xmlns:a="http://schemas.openxmlformats.org/drawingml/2006/main">
              <a:ext uri="{FF2B5EF4-FFF2-40B4-BE49-F238E27FC236}">
                <a16:creationId xmlns:a16="http://schemas.microsoft.com/office/drawing/2014/main" id="{61080204-30D5-458F-B69B-0087D7D42B64}"/>
              </a:ext>
            </a:extLst>
          </p:cNvPr>
          <p:cNvSpPr>
            <a:spLocks xmlns:a="http://schemas.openxmlformats.org/drawingml/2006/main" noGrp="1"/>
          </p:cNvSpPr>
          <p:nvPr/>
        </p:nvSpPr>
        <p:spPr>
          <a:xfrm xmlns:a="http://schemas.openxmlformats.org/drawingml/2006/main">
            <a:off x="933450" y="46101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74444"/>
                </a:solidFill>
                <a:latin typeface="Helvetica Neue"/>
                <a:ea typeface="Helvetica Neue"/>
                <a:cs typeface="Helvetica Neue"/>
              </a:defRPr>
            </a:pPr>
            <a:r>
              <a:rPr sz="1500" b="1">
                <a:solidFill>
                  <a:srgbClr val="C74444"/>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5EE63226-537F-443B-BD5D-705C4A632075}"/>
              </a:ext>
            </a:extLst>
          </p:cNvPr>
          <p:cNvSpPr>
            <a:spLocks xmlns:a="http://schemas.openxmlformats.org/drawingml/2006/main" noGrp="1"/>
          </p:cNvSpPr>
          <p:nvPr/>
        </p:nvSpPr>
        <p:spPr>
          <a:xfrm xmlns:a="http://schemas.openxmlformats.org/drawingml/2006/main">
            <a:off x="1238250" y="4610100"/>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Vier kagent-Agenten</a:t>
            </a:r>
          </a:p>
        </p:txBody>
      </p:sp>
      <p:sp>
        <p:nvSpPr>
          <p:cNvPr id="14" name="">
            <a:extLst xmlns:a="http://schemas.openxmlformats.org/drawingml/2006/main">
              <a:ext uri="{FF2B5EF4-FFF2-40B4-BE49-F238E27FC236}">
                <a16:creationId xmlns:a16="http://schemas.microsoft.com/office/drawing/2014/main" id="{CF737317-FCE1-4E4B-83A1-CA874B63CD8E}"/>
              </a:ext>
            </a:extLst>
          </p:cNvPr>
          <p:cNvSpPr>
            <a:spLocks xmlns:a="http://schemas.openxmlformats.org/drawingml/2006/main" noGrp="1"/>
          </p:cNvSpPr>
          <p:nvPr/>
        </p:nvSpPr>
        <p:spPr>
          <a:xfrm xmlns:a="http://schemas.openxmlformats.org/drawingml/2006/main">
            <a:off x="6343650" y="2152650"/>
            <a:ext cx="5219700" cy="3371850"/>
          </a:xfrm>
          <a:prstGeom xmlns:a="http://schemas.openxmlformats.org/drawingml/2006/main" prst="roundRect">
            <a:avLst>
              <a:gd name="adj" fmla="val 2260"/>
            </a:avLst>
          </a:prstGeom>
          <a:solidFill xmlns:a="http://schemas.openxmlformats.org/drawingml/2006/main">
            <a:srgbClr val="EEF7FD"/>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2EB62624-EAD8-42C6-A093-DE4D99E73035}"/>
              </a:ext>
            </a:extLst>
          </p:cNvPr>
          <p:cNvSpPr>
            <a:spLocks xmlns:a="http://schemas.openxmlformats.org/drawingml/2006/main" noGrp="1"/>
          </p:cNvSpPr>
          <p:nvPr/>
        </p:nvSpPr>
        <p:spPr>
          <a:xfrm xmlns:a="http://schemas.openxmlformats.org/drawingml/2006/main">
            <a:off x="6648450" y="24765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Mit begrenztem Zugriff</a:t>
            </a:r>
          </a:p>
        </p:txBody>
      </p:sp>
      <p:sp>
        <p:nvSpPr>
          <p:cNvPr id="16" name="">
            <a:extLst xmlns:a="http://schemas.openxmlformats.org/drawingml/2006/main">
              <a:ext uri="{FF2B5EF4-FFF2-40B4-BE49-F238E27FC236}">
                <a16:creationId xmlns:a16="http://schemas.microsoft.com/office/drawing/2014/main" id="{7069DE3D-378A-4170-A678-47037F7B4728}"/>
              </a:ext>
            </a:extLst>
          </p:cNvPr>
          <p:cNvSpPr>
            <a:spLocks xmlns:a="http://schemas.openxmlformats.org/drawingml/2006/main" noGrp="1"/>
          </p:cNvSpPr>
          <p:nvPr/>
        </p:nvSpPr>
        <p:spPr>
          <a:xfrm xmlns:a="http://schemas.openxmlformats.org/drawingml/2006/main">
            <a:off x="6648450" y="31813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platform-diagnostics-tools</a:t>
            </a:r>
          </a:p>
        </p:txBody>
      </p:sp>
      <p:sp>
        <p:nvSpPr>
          <p:cNvPr id="17" name="">
            <a:extLst xmlns:a="http://schemas.openxmlformats.org/drawingml/2006/main">
              <a:ext uri="{FF2B5EF4-FFF2-40B4-BE49-F238E27FC236}">
                <a16:creationId xmlns:a16="http://schemas.microsoft.com/office/drawing/2014/main" id="{A830B860-BEA0-4CEC-B369-3401084BA50A}"/>
              </a:ext>
            </a:extLst>
          </p:cNvPr>
          <p:cNvSpPr>
            <a:spLocks xmlns:a="http://schemas.openxmlformats.org/drawingml/2006/main" noGrp="1"/>
          </p:cNvSpPr>
          <p:nvPr/>
        </p:nvSpPr>
        <p:spPr>
          <a:xfrm xmlns:a="http://schemas.openxmlformats.org/drawingml/2006/main">
            <a:off x="6648450" y="37528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1700FF5A-44C7-4B02-8075-CDB957AEA9AA}"/>
              </a:ext>
            </a:extLst>
          </p:cNvPr>
          <p:cNvSpPr>
            <a:spLocks xmlns:a="http://schemas.openxmlformats.org/drawingml/2006/main" noGrp="1"/>
          </p:cNvSpPr>
          <p:nvPr/>
        </p:nvSpPr>
        <p:spPr>
          <a:xfrm xmlns:a="http://schemas.openxmlformats.org/drawingml/2006/main">
            <a:off x="6953250" y="3752850"/>
            <a:ext cx="3981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get, list, watch</a:t>
            </a:r>
          </a:p>
        </p:txBody>
      </p:sp>
      <p:sp>
        <p:nvSpPr>
          <p:cNvPr id="19" name="">
            <a:extLst xmlns:a="http://schemas.openxmlformats.org/drawingml/2006/main">
              <a:ext uri="{FF2B5EF4-FFF2-40B4-BE49-F238E27FC236}">
                <a16:creationId xmlns:a16="http://schemas.microsoft.com/office/drawing/2014/main" id="{261ED1BB-E709-4162-8A26-9A290AFEAE2F}"/>
              </a:ext>
            </a:extLst>
          </p:cNvPr>
          <p:cNvSpPr>
            <a:spLocks xmlns:a="http://schemas.openxmlformats.org/drawingml/2006/main" noGrp="1"/>
          </p:cNvSpPr>
          <p:nvPr/>
        </p:nvSpPr>
        <p:spPr>
          <a:xfrm xmlns:a="http://schemas.openxmlformats.org/drawingml/2006/main">
            <a:off x="6648450" y="416242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8A93A4F6-7D0B-4BC6-9325-7A89B927E947}"/>
              </a:ext>
            </a:extLst>
          </p:cNvPr>
          <p:cNvSpPr>
            <a:spLocks xmlns:a="http://schemas.openxmlformats.org/drawingml/2006/main" noGrp="1"/>
          </p:cNvSpPr>
          <p:nvPr/>
        </p:nvSpPr>
        <p:spPr>
          <a:xfrm xmlns:a="http://schemas.openxmlformats.org/drawingml/2006/main">
            <a:off x="6953250" y="4162425"/>
            <a:ext cx="3981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Keine Secrets</a:t>
            </a:r>
          </a:p>
        </p:txBody>
      </p:sp>
      <p:sp>
        <p:nvSpPr>
          <p:cNvPr id="21" name="">
            <a:extLst xmlns:a="http://schemas.openxmlformats.org/drawingml/2006/main">
              <a:ext uri="{FF2B5EF4-FFF2-40B4-BE49-F238E27FC236}">
                <a16:creationId xmlns:a16="http://schemas.microsoft.com/office/drawing/2014/main" id="{11AF9589-953E-480D-9700-E5F0D9985935}"/>
              </a:ext>
            </a:extLst>
          </p:cNvPr>
          <p:cNvSpPr>
            <a:spLocks xmlns:a="http://schemas.openxmlformats.org/drawingml/2006/main" noGrp="1"/>
          </p:cNvSpPr>
          <p:nvPr/>
        </p:nvSpPr>
        <p:spPr>
          <a:xfrm xmlns:a="http://schemas.openxmlformats.org/drawingml/2006/main">
            <a:off x="6648450" y="45720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0017F782-3686-4F65-982C-B59FEB4C65E9}"/>
              </a:ext>
            </a:extLst>
          </p:cNvPr>
          <p:cNvSpPr>
            <a:spLocks xmlns:a="http://schemas.openxmlformats.org/drawingml/2006/main" noGrp="1"/>
          </p:cNvSpPr>
          <p:nvPr/>
        </p:nvSpPr>
        <p:spPr>
          <a:xfrm xmlns:a="http://schemas.openxmlformats.org/drawingml/2006/main">
            <a:off x="6953250" y="4572000"/>
            <a:ext cx="3981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Keine Writes</a:t>
            </a:r>
          </a:p>
        </p:txBody>
      </p:sp>
      <p:sp>
        <p:nvSpPr>
          <p:cNvPr id="23" name="">
            <a:extLst xmlns:a="http://schemas.openxmlformats.org/drawingml/2006/main">
              <a:ext uri="{FF2B5EF4-FFF2-40B4-BE49-F238E27FC236}">
                <a16:creationId xmlns:a16="http://schemas.microsoft.com/office/drawing/2014/main" id="{86901F56-947D-4EBD-AED6-EB02E1B77A99}"/>
              </a:ext>
            </a:extLst>
          </p:cNvPr>
          <p:cNvSpPr>
            <a:spLocks xmlns:a="http://schemas.openxmlformats.org/drawingml/2006/main" noGrp="1"/>
          </p:cNvSpPr>
          <p:nvPr/>
        </p:nvSpPr>
        <p:spPr>
          <a:xfrm xmlns:a="http://schemas.openxmlformats.org/drawingml/2006/main">
            <a:off x="6648450" y="498157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4" name="">
            <a:extLst xmlns:a="http://schemas.openxmlformats.org/drawingml/2006/main">
              <a:ext uri="{FF2B5EF4-FFF2-40B4-BE49-F238E27FC236}">
                <a16:creationId xmlns:a16="http://schemas.microsoft.com/office/drawing/2014/main" id="{40DFFD03-F2A0-47B4-9751-7E971FF5E5EE}"/>
              </a:ext>
            </a:extLst>
          </p:cNvPr>
          <p:cNvSpPr>
            <a:spLocks xmlns:a="http://schemas.openxmlformats.org/drawingml/2006/main" noGrp="1"/>
          </p:cNvSpPr>
          <p:nvPr/>
        </p:nvSpPr>
        <p:spPr>
          <a:xfrm xmlns:a="http://schemas.openxmlformats.org/drawingml/2006/main">
            <a:off x="6953250" y="4981575"/>
            <a:ext cx="3981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Keine Wildcards</a:t>
            </a:r>
          </a:p>
        </p:txBody>
      </p:sp>
      <p:sp>
        <p:nvSpPr>
          <p:cNvPr id="25" name="">
            <a:extLst xmlns:a="http://schemas.openxmlformats.org/drawingml/2006/main">
              <a:ext uri="{FF2B5EF4-FFF2-40B4-BE49-F238E27FC236}">
                <a16:creationId xmlns:a16="http://schemas.microsoft.com/office/drawing/2014/main" id="{445B359F-43B0-4D4A-A362-45A849DBED6A}"/>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SECURITY BY DESIGN</a:t>
            </a:r>
          </a:p>
        </p:txBody>
      </p:sp>
      <p:sp>
        <p:nvSpPr>
          <p:cNvPr id="26" name="">
            <a:extLst xmlns:a="http://schemas.openxmlformats.org/drawingml/2006/main">
              <a:ext uri="{FF2B5EF4-FFF2-40B4-BE49-F238E27FC236}">
                <a16:creationId xmlns:a16="http://schemas.microsoft.com/office/drawing/2014/main" id="{C8229A5A-D02A-4216-A81B-E278D19B0DAB}"/>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13</a:t>
            </a:r>
          </a:p>
        </p:txBody>
      </p:sp>
    </p:spTree>
    <p:extLst>
      <p:ext uri="{BB962C8B-B14F-4D97-AF65-F5344CB8AC3E}">
        <p14:creationId xmlns:p14="http://schemas.microsoft.com/office/powerpoint/2010/main" val="1024054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9C444016-948C-4C69-BE71-9F0C4EEFFFA0}"/>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Ein Befehl installiert und testet die gesamte Phase 2</a:t>
            </a:r>
          </a:p>
        </p:txBody>
      </p:sp>
      <p:sp>
        <p:nvSpPr>
          <p:cNvPr id="2" name="">
            <a:extLst xmlns:a="http://schemas.openxmlformats.org/drawingml/2006/main">
              <a:ext uri="{FF2B5EF4-FFF2-40B4-BE49-F238E27FC236}">
                <a16:creationId xmlns:a16="http://schemas.microsoft.com/office/drawing/2014/main" id="{A653535C-4576-4B9D-B828-08683493E535}"/>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Der Install-Target endet erst nach dem authentifizierten E2E-Test.</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BF7A518D-7D64-4B75-927A-FA66D01E5F96}"/>
              </a:ext>
            </a:extLst>
          </p:cNvPr>
          <p:cNvSpPr>
            <a:spLocks xmlns:a="http://schemas.openxmlformats.org/drawingml/2006/main" noGrp="1"/>
          </p:cNvSpPr>
          <p:nvPr/>
        </p:nvSpPr>
        <p:spPr>
          <a:xfrm xmlns:a="http://schemas.openxmlformats.org/drawingml/2006/main">
            <a:off x="666750" y="2190750"/>
            <a:ext cx="5619750" cy="2724150"/>
          </a:xfrm>
          <a:prstGeom xmlns:a="http://schemas.openxmlformats.org/drawingml/2006/main" prst="roundRect">
            <a:avLst>
              <a:gd name="adj" fmla="val 2797"/>
            </a:avLst>
          </a:prstGeom>
          <a:solidFill xmlns:a="http://schemas.openxmlformats.org/drawingml/2006/main">
            <a:srgbClr val="151A21"/>
          </a:solidFill>
          <a:ln xmlns:a="http://schemas.openxmlformats.org/drawingml/2006/main" w="0">
            <a:noFill/>
            <a:prstDash val="solid"/>
          </a:ln>
        </p:spPr>
      </p:sp>
      <p:sp>
        <p:nvSpPr>
          <p:cNvPr id="5" name="command">
            <a:extLst xmlns:a="http://schemas.openxmlformats.org/drawingml/2006/main">
              <a:ext uri="{FF2B5EF4-FFF2-40B4-BE49-F238E27FC236}">
                <a16:creationId xmlns:a16="http://schemas.microsoft.com/office/drawing/2014/main" id="{697E8393-FBB5-4689-978F-BF3C4D8B01B5}"/>
              </a:ext>
            </a:extLst>
          </p:cNvPr>
          <p:cNvSpPr>
            <a:spLocks xmlns:a="http://schemas.openxmlformats.org/drawingml/2006/main" noGrp="1"/>
          </p:cNvSpPr>
          <p:nvPr/>
        </p:nvSpPr>
        <p:spPr>
          <a:xfrm xmlns:a="http://schemas.openxmlformats.org/drawingml/2006/main">
            <a:off x="895350" y="2362200"/>
            <a:ext cx="51625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openclaw preflight</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openclaw install</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openclaw status</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openclaw verify</a:t>
            </a:r>
          </a:p>
        </p:txBody>
      </p:sp>
      <p:sp>
        <p:nvSpPr>
          <p:cNvPr id="6" name="">
            <a:extLst xmlns:a="http://schemas.openxmlformats.org/drawingml/2006/main">
              <a:ext uri="{FF2B5EF4-FFF2-40B4-BE49-F238E27FC236}">
                <a16:creationId xmlns:a16="http://schemas.microsoft.com/office/drawing/2014/main" id="{026DDA8D-0E4D-49F1-8234-54BFCF1ED243}"/>
              </a:ext>
            </a:extLst>
          </p:cNvPr>
          <p:cNvSpPr>
            <a:spLocks xmlns:a="http://schemas.openxmlformats.org/drawingml/2006/main" noGrp="1"/>
          </p:cNvSpPr>
          <p:nvPr/>
        </p:nvSpPr>
        <p:spPr>
          <a:xfrm xmlns:a="http://schemas.openxmlformats.org/drawingml/2006/main">
            <a:off x="6858000" y="21526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Was install automatisch erledigt</a:t>
            </a:r>
          </a:p>
        </p:txBody>
      </p:sp>
      <p:sp>
        <p:nvSpPr>
          <p:cNvPr id="7" name="">
            <a:extLst xmlns:a="http://schemas.openxmlformats.org/drawingml/2006/main">
              <a:ext uri="{FF2B5EF4-FFF2-40B4-BE49-F238E27FC236}">
                <a16:creationId xmlns:a16="http://schemas.microsoft.com/office/drawing/2014/main" id="{289545F9-7717-44B4-A2F2-6FCEB58A3A67}"/>
              </a:ext>
            </a:extLst>
          </p:cNvPr>
          <p:cNvSpPr>
            <a:spLocks xmlns:a="http://schemas.openxmlformats.org/drawingml/2006/main" noGrp="1"/>
          </p:cNvSpPr>
          <p:nvPr/>
        </p:nvSpPr>
        <p:spPr>
          <a:xfrm xmlns:a="http://schemas.openxmlformats.org/drawingml/2006/main">
            <a:off x="6858000" y="28575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EF5D68B6-867C-4E65-9923-5493AD9CFCD6}"/>
              </a:ext>
            </a:extLst>
          </p:cNvPr>
          <p:cNvSpPr>
            <a:spLocks xmlns:a="http://schemas.openxmlformats.org/drawingml/2006/main" noGrp="1"/>
          </p:cNvSpPr>
          <p:nvPr/>
        </p:nvSpPr>
        <p:spPr>
          <a:xfrm xmlns:a="http://schemas.openxmlformats.org/drawingml/2006/main">
            <a:off x="7162800" y="285750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Modell und gepinnte Quellen</a:t>
            </a:r>
          </a:p>
        </p:txBody>
      </p:sp>
      <p:sp>
        <p:nvSpPr>
          <p:cNvPr id="9" name="">
            <a:extLst xmlns:a="http://schemas.openxmlformats.org/drawingml/2006/main">
              <a:ext uri="{FF2B5EF4-FFF2-40B4-BE49-F238E27FC236}">
                <a16:creationId xmlns:a16="http://schemas.microsoft.com/office/drawing/2014/main" id="{C1329598-4EB8-4973-B134-1AE114485ABB}"/>
              </a:ext>
            </a:extLst>
          </p:cNvPr>
          <p:cNvSpPr>
            <a:spLocks xmlns:a="http://schemas.openxmlformats.org/drawingml/2006/main" noGrp="1"/>
          </p:cNvSpPr>
          <p:nvPr/>
        </p:nvSpPr>
        <p:spPr>
          <a:xfrm xmlns:a="http://schemas.openxmlformats.org/drawingml/2006/main">
            <a:off x="6858000" y="34099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37F8C520-E35B-46F6-ADB0-0749ED85A538}"/>
              </a:ext>
            </a:extLst>
          </p:cNvPr>
          <p:cNvSpPr>
            <a:spLocks xmlns:a="http://schemas.openxmlformats.org/drawingml/2006/main" noGrp="1"/>
          </p:cNvSpPr>
          <p:nvPr/>
        </p:nvSpPr>
        <p:spPr>
          <a:xfrm xmlns:a="http://schemas.openxmlformats.org/drawingml/2006/main">
            <a:off x="7162800" y="340995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Tool-Server, Agents, Facade, Adapter</a:t>
            </a:r>
          </a:p>
        </p:txBody>
      </p:sp>
      <p:sp>
        <p:nvSpPr>
          <p:cNvPr id="11" name="">
            <a:extLst xmlns:a="http://schemas.openxmlformats.org/drawingml/2006/main">
              <a:ext uri="{FF2B5EF4-FFF2-40B4-BE49-F238E27FC236}">
                <a16:creationId xmlns:a16="http://schemas.microsoft.com/office/drawing/2014/main" id="{F09CDE40-54F3-4BCE-A1CC-A47D85F97C09}"/>
              </a:ext>
            </a:extLst>
          </p:cNvPr>
          <p:cNvSpPr>
            <a:spLocks xmlns:a="http://schemas.openxmlformats.org/drawingml/2006/main" noGrp="1"/>
          </p:cNvSpPr>
          <p:nvPr/>
        </p:nvSpPr>
        <p:spPr>
          <a:xfrm xmlns:a="http://schemas.openxmlformats.org/drawingml/2006/main">
            <a:off x="6858000" y="39624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F96AB1E6-1103-4650-8D3E-692F4361D69F}"/>
              </a:ext>
            </a:extLst>
          </p:cNvPr>
          <p:cNvSpPr>
            <a:spLocks xmlns:a="http://schemas.openxmlformats.org/drawingml/2006/main" noGrp="1"/>
          </p:cNvSpPr>
          <p:nvPr/>
        </p:nvSpPr>
        <p:spPr>
          <a:xfrm xmlns:a="http://schemas.openxmlformats.org/drawingml/2006/main">
            <a:off x="7162800" y="396240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OpenClaw + Open-WebUI-Verbindung</a:t>
            </a:r>
          </a:p>
        </p:txBody>
      </p:sp>
      <p:sp>
        <p:nvSpPr>
          <p:cNvPr id="13" name="">
            <a:extLst xmlns:a="http://schemas.openxmlformats.org/drawingml/2006/main">
              <a:ext uri="{FF2B5EF4-FFF2-40B4-BE49-F238E27FC236}">
                <a16:creationId xmlns:a16="http://schemas.microsoft.com/office/drawing/2014/main" id="{E6962687-B01B-45DA-AC11-5AB9649533AC}"/>
              </a:ext>
            </a:extLst>
          </p:cNvPr>
          <p:cNvSpPr>
            <a:spLocks xmlns:a="http://schemas.openxmlformats.org/drawingml/2006/main" noGrp="1"/>
          </p:cNvSpPr>
          <p:nvPr/>
        </p:nvSpPr>
        <p:spPr>
          <a:xfrm xmlns:a="http://schemas.openxmlformats.org/drawingml/2006/main">
            <a:off x="6858000" y="45148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E9F8D013-5EFB-4E69-917F-995760CC4181}"/>
              </a:ext>
            </a:extLst>
          </p:cNvPr>
          <p:cNvSpPr>
            <a:spLocks xmlns:a="http://schemas.openxmlformats.org/drawingml/2006/main" noGrp="1"/>
          </p:cNvSpPr>
          <p:nvPr/>
        </p:nvSpPr>
        <p:spPr>
          <a:xfrm xmlns:a="http://schemas.openxmlformats.org/drawingml/2006/main">
            <a:off x="7162800" y="451485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Fünf vollständige Akzeptanzszenarien</a:t>
            </a:r>
          </a:p>
        </p:txBody>
      </p:sp>
      <p:sp>
        <p:nvSpPr>
          <p:cNvPr id="15" name="">
            <a:extLst xmlns:a="http://schemas.openxmlformats.org/drawingml/2006/main">
              <a:ext uri="{FF2B5EF4-FFF2-40B4-BE49-F238E27FC236}">
                <a16:creationId xmlns:a16="http://schemas.microsoft.com/office/drawing/2014/main" id="{656328F3-A6C8-4240-8657-00413F4F4376}"/>
              </a:ext>
            </a:extLst>
          </p:cNvPr>
          <p:cNvSpPr>
            <a:spLocks xmlns:a="http://schemas.openxmlformats.org/drawingml/2006/main" noGrp="1"/>
          </p:cNvSpPr>
          <p:nvPr/>
        </p:nvSpPr>
        <p:spPr>
          <a:xfrm xmlns:a="http://schemas.openxmlformats.org/drawingml/2006/main">
            <a:off x="6858000" y="52197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C37800"/>
                </a:solidFill>
                <a:latin typeface="Helvetica Neue"/>
                <a:ea typeface="Helvetica Neue"/>
                <a:cs typeface="Helvetica Neue"/>
              </a:defRPr>
            </a:pPr>
            <a:r>
              <a:rPr sz="1425" b="1">
                <a:solidFill>
                  <a:srgbClr val="C37800"/>
                </a:solidFill>
                <a:latin typeface="Helvetica Neue"/>
                <a:ea typeface="Helvetica Neue"/>
                <a:cs typeface="Helvetica Neue"/>
              </a:rPr>
              <a:t>≈ 30–40 min auf lokaler CPU</a:t>
            </a:r>
          </a:p>
        </p:txBody>
      </p:sp>
      <p:sp>
        <p:nvSpPr>
          <p:cNvPr id="16" name="">
            <a:extLst xmlns:a="http://schemas.openxmlformats.org/drawingml/2006/main">
              <a:ext uri="{FF2B5EF4-FFF2-40B4-BE49-F238E27FC236}">
                <a16:creationId xmlns:a16="http://schemas.microsoft.com/office/drawing/2014/main" id="{C70D5D37-6328-4DAA-BD87-70309C55770E}"/>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PHASE 2 INSTALLIEREN</a:t>
            </a:r>
          </a:p>
        </p:txBody>
      </p:sp>
      <p:sp>
        <p:nvSpPr>
          <p:cNvPr id="17" name="">
            <a:extLst xmlns:a="http://schemas.openxmlformats.org/drawingml/2006/main">
              <a:ext uri="{FF2B5EF4-FFF2-40B4-BE49-F238E27FC236}">
                <a16:creationId xmlns:a16="http://schemas.microsoft.com/office/drawing/2014/main" id="{58F30169-85F8-496B-81FB-AF6D1E9238CB}"/>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14</a:t>
            </a:r>
          </a:p>
        </p:txBody>
      </p:sp>
    </p:spTree>
    <p:extLst>
      <p:ext uri="{BB962C8B-B14F-4D97-AF65-F5344CB8AC3E}">
        <p14:creationId xmlns:p14="http://schemas.microsoft.com/office/powerpoint/2010/main" val="18792786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D881E33B-BA63-4221-838B-768096F08DD9}"/>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Gute Fragen nennen Cluster, Namespace und Workload</a:t>
            </a:r>
          </a:p>
        </p:txBody>
      </p:sp>
      <p:sp>
        <p:nvSpPr>
          <p:cNvPr id="2" name="">
            <a:extLst xmlns:a="http://schemas.openxmlformats.org/drawingml/2006/main">
              <a:ext uri="{FF2B5EF4-FFF2-40B4-BE49-F238E27FC236}">
                <a16:creationId xmlns:a16="http://schemas.microsoft.com/office/drawing/2014/main" id="{6BF3194C-8392-4E7E-8F6A-6785FC6ADFF9}"/>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Konkrete Argumente machen Diagnose und Nachweis reproduzierbar.</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F4155386-4D4C-4120-8979-817601F3D68C}"/>
              </a:ext>
            </a:extLst>
          </p:cNvPr>
          <p:cNvSpPr>
            <a:spLocks xmlns:a="http://schemas.openxmlformats.org/drawingml/2006/main" noGrp="1"/>
          </p:cNvSpPr>
          <p:nvPr/>
        </p:nvSpPr>
        <p:spPr>
          <a:xfrm xmlns:a="http://schemas.openxmlformats.org/drawingml/2006/main">
            <a:off x="685800" y="21526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Cluster</a:t>
            </a:r>
          </a:p>
        </p:txBody>
      </p:sp>
      <p:sp>
        <p:nvSpPr>
          <p:cNvPr id="5" name="">
            <a:extLst xmlns:a="http://schemas.openxmlformats.org/drawingml/2006/main">
              <a:ext uri="{FF2B5EF4-FFF2-40B4-BE49-F238E27FC236}">
                <a16:creationId xmlns:a16="http://schemas.microsoft.com/office/drawing/2014/main" id="{1C4EE712-57D2-4F77-8B41-A593EFBBAA01}"/>
              </a:ext>
            </a:extLst>
          </p:cNvPr>
          <p:cNvSpPr>
            <a:spLocks xmlns:a="http://schemas.openxmlformats.org/drawingml/2006/main" noGrp="1"/>
          </p:cNvSpPr>
          <p:nvPr/>
        </p:nvSpPr>
        <p:spPr>
          <a:xfrm xmlns:a="http://schemas.openxmlformats.org/drawingml/2006/main">
            <a:off x="2381250" y="2038350"/>
            <a:ext cx="9105900" cy="666750"/>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670C48EE-CF27-480C-941D-41D68D102828}"/>
              </a:ext>
            </a:extLst>
          </p:cNvPr>
          <p:cNvSpPr>
            <a:spLocks xmlns:a="http://schemas.openxmlformats.org/drawingml/2006/main" noGrp="1"/>
          </p:cNvSpPr>
          <p:nvPr/>
        </p:nvSpPr>
        <p:spPr>
          <a:xfrm xmlns:a="http://schemas.openxmlformats.org/drawingml/2006/main">
            <a:off x="2609850" y="2200275"/>
            <a:ext cx="864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Check the health of cluster ok-infra-local.</a:t>
            </a:r>
          </a:p>
        </p:txBody>
      </p:sp>
      <p:sp>
        <p:nvSpPr>
          <p:cNvPr id="7" name="">
            <a:extLst xmlns:a="http://schemas.openxmlformats.org/drawingml/2006/main">
              <a:ext uri="{FF2B5EF4-FFF2-40B4-BE49-F238E27FC236}">
                <a16:creationId xmlns:a16="http://schemas.microsoft.com/office/drawing/2014/main" id="{11ED07DD-4A81-4EB0-B03C-C0D4AEFB1DC2}"/>
              </a:ext>
            </a:extLst>
          </p:cNvPr>
          <p:cNvSpPr>
            <a:spLocks xmlns:a="http://schemas.openxmlformats.org/drawingml/2006/main" noGrp="1"/>
          </p:cNvSpPr>
          <p:nvPr/>
        </p:nvSpPr>
        <p:spPr>
          <a:xfrm xmlns:a="http://schemas.openxmlformats.org/drawingml/2006/main">
            <a:off x="685800" y="31242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Healthy</a:t>
            </a:r>
          </a:p>
        </p:txBody>
      </p:sp>
      <p:sp>
        <p:nvSpPr>
          <p:cNvPr id="8" name="">
            <a:extLst xmlns:a="http://schemas.openxmlformats.org/drawingml/2006/main">
              <a:ext uri="{FF2B5EF4-FFF2-40B4-BE49-F238E27FC236}">
                <a16:creationId xmlns:a16="http://schemas.microsoft.com/office/drawing/2014/main" id="{E475DED6-59FB-4BFE-AEC2-4899EE3E1FAC}"/>
              </a:ext>
            </a:extLst>
          </p:cNvPr>
          <p:cNvSpPr>
            <a:spLocks xmlns:a="http://schemas.openxmlformats.org/drawingml/2006/main" noGrp="1"/>
          </p:cNvSpPr>
          <p:nvPr/>
        </p:nvSpPr>
        <p:spPr>
          <a:xfrm xmlns:a="http://schemas.openxmlformats.org/drawingml/2006/main">
            <a:off x="2381250" y="3009900"/>
            <a:ext cx="9105900" cy="666750"/>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2E003A1A-0A97-4E5E-A54E-099117EF80C6}"/>
              </a:ext>
            </a:extLst>
          </p:cNvPr>
          <p:cNvSpPr>
            <a:spLocks xmlns:a="http://schemas.openxmlformats.org/drawingml/2006/main" noGrp="1"/>
          </p:cNvSpPr>
          <p:nvPr/>
        </p:nvSpPr>
        <p:spPr>
          <a:xfrm xmlns:a="http://schemas.openxmlformats.org/drawingml/2006/main">
            <a:off x="2609850" y="3171825"/>
            <a:ext cx="864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Investigate the healthy workload in namespace kagent-lab on cluster ok-infra-local.</a:t>
            </a:r>
          </a:p>
        </p:txBody>
      </p:sp>
      <p:sp>
        <p:nvSpPr>
          <p:cNvPr id="10" name="">
            <a:extLst xmlns:a="http://schemas.openxmlformats.org/drawingml/2006/main">
              <a:ext uri="{FF2B5EF4-FFF2-40B4-BE49-F238E27FC236}">
                <a16:creationId xmlns:a16="http://schemas.microsoft.com/office/drawing/2014/main" id="{9C4E5C82-31E4-42BA-BA49-AB25D1A04E08}"/>
              </a:ext>
            </a:extLst>
          </p:cNvPr>
          <p:cNvSpPr>
            <a:spLocks xmlns:a="http://schemas.openxmlformats.org/drawingml/2006/main" noGrp="1"/>
          </p:cNvSpPr>
          <p:nvPr/>
        </p:nvSpPr>
        <p:spPr>
          <a:xfrm xmlns:a="http://schemas.openxmlformats.org/drawingml/2006/main">
            <a:off x="685800" y="40957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Image Pull</a:t>
            </a:r>
          </a:p>
        </p:txBody>
      </p:sp>
      <p:sp>
        <p:nvSpPr>
          <p:cNvPr id="11" name="">
            <a:extLst xmlns:a="http://schemas.openxmlformats.org/drawingml/2006/main">
              <a:ext uri="{FF2B5EF4-FFF2-40B4-BE49-F238E27FC236}">
                <a16:creationId xmlns:a16="http://schemas.microsoft.com/office/drawing/2014/main" id="{45774810-EE4D-4DE6-B1F6-E857F3727622}"/>
              </a:ext>
            </a:extLst>
          </p:cNvPr>
          <p:cNvSpPr>
            <a:spLocks xmlns:a="http://schemas.openxmlformats.org/drawingml/2006/main" noGrp="1"/>
          </p:cNvSpPr>
          <p:nvPr/>
        </p:nvSpPr>
        <p:spPr>
          <a:xfrm xmlns:a="http://schemas.openxmlformats.org/drawingml/2006/main">
            <a:off x="2381250" y="3981450"/>
            <a:ext cx="9105900" cy="666750"/>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CC9DC32A-C14A-4BDB-A85A-BF38C9F75BD2}"/>
              </a:ext>
            </a:extLst>
          </p:cNvPr>
          <p:cNvSpPr>
            <a:spLocks xmlns:a="http://schemas.openxmlformats.org/drawingml/2006/main" noGrp="1"/>
          </p:cNvSpPr>
          <p:nvPr/>
        </p:nvSpPr>
        <p:spPr>
          <a:xfrm xmlns:a="http://schemas.openxmlformats.org/drawingml/2006/main">
            <a:off x="2609850" y="4143375"/>
            <a:ext cx="864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Why is the imagepull workload in namespace kagent-lab not starting?</a:t>
            </a:r>
          </a:p>
        </p:txBody>
      </p:sp>
      <p:sp>
        <p:nvSpPr>
          <p:cNvPr id="13" name="">
            <a:extLst xmlns:a="http://schemas.openxmlformats.org/drawingml/2006/main">
              <a:ext uri="{FF2B5EF4-FFF2-40B4-BE49-F238E27FC236}">
                <a16:creationId xmlns:a16="http://schemas.microsoft.com/office/drawing/2014/main" id="{E976990E-0FD7-424D-8CA5-6C9A14A5B359}"/>
              </a:ext>
            </a:extLst>
          </p:cNvPr>
          <p:cNvSpPr>
            <a:spLocks xmlns:a="http://schemas.openxmlformats.org/drawingml/2006/main" noGrp="1"/>
          </p:cNvSpPr>
          <p:nvPr/>
        </p:nvSpPr>
        <p:spPr>
          <a:xfrm xmlns:a="http://schemas.openxmlformats.org/drawingml/2006/main">
            <a:off x="685800" y="50673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Crash Loop</a:t>
            </a:r>
          </a:p>
        </p:txBody>
      </p:sp>
      <p:sp>
        <p:nvSpPr>
          <p:cNvPr id="14" name="">
            <a:extLst xmlns:a="http://schemas.openxmlformats.org/drawingml/2006/main">
              <a:ext uri="{FF2B5EF4-FFF2-40B4-BE49-F238E27FC236}">
                <a16:creationId xmlns:a16="http://schemas.microsoft.com/office/drawing/2014/main" id="{5BF1B424-C86D-4B2A-9A55-8230C0187B3A}"/>
              </a:ext>
            </a:extLst>
          </p:cNvPr>
          <p:cNvSpPr>
            <a:spLocks xmlns:a="http://schemas.openxmlformats.org/drawingml/2006/main" noGrp="1"/>
          </p:cNvSpPr>
          <p:nvPr/>
        </p:nvSpPr>
        <p:spPr>
          <a:xfrm xmlns:a="http://schemas.openxmlformats.org/drawingml/2006/main">
            <a:off x="2381250" y="4953000"/>
            <a:ext cx="9105900" cy="666750"/>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2E0D8F2-2F2D-42A3-8DE1-AD7A4023C88B}"/>
              </a:ext>
            </a:extLst>
          </p:cNvPr>
          <p:cNvSpPr>
            <a:spLocks xmlns:a="http://schemas.openxmlformats.org/drawingml/2006/main" noGrp="1"/>
          </p:cNvSpPr>
          <p:nvPr/>
        </p:nvSpPr>
        <p:spPr>
          <a:xfrm xmlns:a="http://schemas.openxmlformats.org/drawingml/2006/main">
            <a:off x="2609850" y="5114925"/>
            <a:ext cx="864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Collect diagnostic evidence for crashloop in namespace kagent-lab on ok-infra-local.</a:t>
            </a:r>
          </a:p>
        </p:txBody>
      </p:sp>
      <p:sp>
        <p:nvSpPr>
          <p:cNvPr id="16" name="">
            <a:extLst xmlns:a="http://schemas.openxmlformats.org/drawingml/2006/main">
              <a:ext uri="{FF2B5EF4-FFF2-40B4-BE49-F238E27FC236}">
                <a16:creationId xmlns:a16="http://schemas.microsoft.com/office/drawing/2014/main" id="{81865481-4F12-465B-B2C3-5A261FF8F247}"/>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OPEN WEBUI NUTZEN</a:t>
            </a:r>
          </a:p>
        </p:txBody>
      </p:sp>
      <p:sp>
        <p:nvSpPr>
          <p:cNvPr id="17" name="">
            <a:extLst xmlns:a="http://schemas.openxmlformats.org/drawingml/2006/main">
              <a:ext uri="{FF2B5EF4-FFF2-40B4-BE49-F238E27FC236}">
                <a16:creationId xmlns:a16="http://schemas.microsoft.com/office/drawing/2014/main" id="{29B8164A-BF24-4BEC-B781-E9015145D397}"/>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15</a:t>
            </a:r>
          </a:p>
        </p:txBody>
      </p:sp>
    </p:spTree>
    <p:extLst>
      <p:ext uri="{BB962C8B-B14F-4D97-AF65-F5344CB8AC3E}">
        <p14:creationId xmlns:p14="http://schemas.microsoft.com/office/powerpoint/2010/main" val="200802509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A06FE3B3-CAFA-449F-B406-60F721E64043}"/>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Alle fünf E2E-Szenarien bestanden</a:t>
            </a:r>
          </a:p>
        </p:txBody>
      </p:sp>
      <p:sp>
        <p:nvSpPr>
          <p:cNvPr id="2" name="">
            <a:extLst xmlns:a="http://schemas.openxmlformats.org/drawingml/2006/main">
              <a:ext uri="{FF2B5EF4-FFF2-40B4-BE49-F238E27FC236}">
                <a16:creationId xmlns:a16="http://schemas.microsoft.com/office/drawing/2014/main" id="{464DD39D-2378-460E-A0E9-3DB3A50964A5}"/>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Die lokale CPU macht komplexe Fehleranalysen langsam, aber messbar und reproduzierbar.</a:t>
            </a:r>
          </a:p>
        </p:txBody>
      </p:sp>
      <p:cxnSp>
        <p:nvCxnSpPr>
          <p:cNvPr id="3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1E9EDB44-C277-453E-B13D-C9E1ECCEA016}"/>
              </a:ext>
            </a:extLst>
          </p:cNvPr>
          <p:cNvSpPr>
            <a:spLocks xmlns:a="http://schemas.openxmlformats.org/drawingml/2006/main" noGrp="1"/>
          </p:cNvSpPr>
          <p:nvPr/>
        </p:nvSpPr>
        <p:spPr>
          <a:xfrm xmlns:a="http://schemas.openxmlformats.org/drawingml/2006/main">
            <a:off x="685800" y="2143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Platform health</a:t>
            </a:r>
          </a:p>
        </p:txBody>
      </p:sp>
      <p:sp>
        <p:nvSpPr>
          <p:cNvPr id="5" name="">
            <a:extLst xmlns:a="http://schemas.openxmlformats.org/drawingml/2006/main">
              <a:ext uri="{FF2B5EF4-FFF2-40B4-BE49-F238E27FC236}">
                <a16:creationId xmlns:a16="http://schemas.microsoft.com/office/drawing/2014/main" id="{1744D7F1-4B51-46C7-9051-513A83683595}"/>
              </a:ext>
            </a:extLst>
          </p:cNvPr>
          <p:cNvSpPr>
            <a:spLocks xmlns:a="http://schemas.openxmlformats.org/drawingml/2006/main" noGrp="1"/>
          </p:cNvSpPr>
          <p:nvPr/>
        </p:nvSpPr>
        <p:spPr>
          <a:xfrm xmlns:a="http://schemas.openxmlformats.org/drawingml/2006/main">
            <a:off x="3143250" y="207645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BA2611-8EA4-496B-81E9-B08E55E252C8}"/>
              </a:ext>
            </a:extLst>
          </p:cNvPr>
          <p:cNvSpPr>
            <a:spLocks xmlns:a="http://schemas.openxmlformats.org/drawingml/2006/main" noGrp="1"/>
          </p:cNvSpPr>
          <p:nvPr/>
        </p:nvSpPr>
        <p:spPr>
          <a:xfrm xmlns:a="http://schemas.openxmlformats.org/drawingml/2006/main">
            <a:off x="3143250" y="2076450"/>
            <a:ext cx="2115312" cy="361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C979D1-79A2-4590-8687-AC2D732DA62D}"/>
              </a:ext>
            </a:extLst>
          </p:cNvPr>
          <p:cNvSpPr>
            <a:spLocks xmlns:a="http://schemas.openxmlformats.org/drawingml/2006/main" noGrp="1"/>
          </p:cNvSpPr>
          <p:nvPr/>
        </p:nvSpPr>
        <p:spPr>
          <a:xfrm xmlns:a="http://schemas.openxmlformats.org/drawingml/2006/main">
            <a:off x="10572750" y="2143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277.6 s</a:t>
            </a:r>
          </a:p>
        </p:txBody>
      </p:sp>
      <p:sp>
        <p:nvSpPr>
          <p:cNvPr id="8" name="">
            <a:extLst xmlns:a="http://schemas.openxmlformats.org/drawingml/2006/main">
              <a:ext uri="{FF2B5EF4-FFF2-40B4-BE49-F238E27FC236}">
                <a16:creationId xmlns:a16="http://schemas.microsoft.com/office/drawing/2014/main" id="{67EEFFC2-7B11-4F02-8513-89EBCE3DF2B4}"/>
              </a:ext>
            </a:extLst>
          </p:cNvPr>
          <p:cNvSpPr>
            <a:spLocks xmlns:a="http://schemas.openxmlformats.org/drawingml/2006/main" noGrp="1"/>
          </p:cNvSpPr>
          <p:nvPr/>
        </p:nvSpPr>
        <p:spPr>
          <a:xfrm xmlns:a="http://schemas.openxmlformats.org/drawingml/2006/main">
            <a:off x="685800" y="29241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Healthy</a:t>
            </a:r>
          </a:p>
        </p:txBody>
      </p:sp>
      <p:sp>
        <p:nvSpPr>
          <p:cNvPr id="9" name="">
            <a:extLst xmlns:a="http://schemas.openxmlformats.org/drawingml/2006/main">
              <a:ext uri="{FF2B5EF4-FFF2-40B4-BE49-F238E27FC236}">
                <a16:creationId xmlns:a16="http://schemas.microsoft.com/office/drawing/2014/main" id="{4CDE6B2C-748F-452C-8B88-03A08077C021}"/>
              </a:ext>
            </a:extLst>
          </p:cNvPr>
          <p:cNvSpPr>
            <a:spLocks xmlns:a="http://schemas.openxmlformats.org/drawingml/2006/main" noGrp="1"/>
          </p:cNvSpPr>
          <p:nvPr/>
        </p:nvSpPr>
        <p:spPr>
          <a:xfrm xmlns:a="http://schemas.openxmlformats.org/drawingml/2006/main">
            <a:off x="3143250" y="285750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611B074-23D5-41FB-BAF5-6BA113D68359}"/>
              </a:ext>
            </a:extLst>
          </p:cNvPr>
          <p:cNvSpPr>
            <a:spLocks xmlns:a="http://schemas.openxmlformats.org/drawingml/2006/main" noGrp="1"/>
          </p:cNvSpPr>
          <p:nvPr/>
        </p:nvSpPr>
        <p:spPr>
          <a:xfrm xmlns:a="http://schemas.openxmlformats.org/drawingml/2006/main">
            <a:off x="3143250" y="2857500"/>
            <a:ext cx="1004316" cy="361950"/>
          </a:xfrm>
          <a:prstGeom xmlns:a="http://schemas.openxmlformats.org/drawingml/2006/main" prst="rect">
            <a:avLst/>
          </a:prstGeom>
          <a:solidFill xmlns:a="http://schemas.openxmlformats.org/drawingml/2006/main">
            <a:srgbClr val="1684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EFB1E3E-B480-4C78-A7F3-B0A9AC79DE40}"/>
              </a:ext>
            </a:extLst>
          </p:cNvPr>
          <p:cNvSpPr>
            <a:spLocks xmlns:a="http://schemas.openxmlformats.org/drawingml/2006/main" noGrp="1"/>
          </p:cNvSpPr>
          <p:nvPr/>
        </p:nvSpPr>
        <p:spPr>
          <a:xfrm xmlns:a="http://schemas.openxmlformats.org/drawingml/2006/main">
            <a:off x="10572750" y="29241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131.8 s</a:t>
            </a:r>
          </a:p>
        </p:txBody>
      </p:sp>
      <p:sp>
        <p:nvSpPr>
          <p:cNvPr id="12" name="">
            <a:extLst xmlns:a="http://schemas.openxmlformats.org/drawingml/2006/main">
              <a:ext uri="{FF2B5EF4-FFF2-40B4-BE49-F238E27FC236}">
                <a16:creationId xmlns:a16="http://schemas.microsoft.com/office/drawing/2014/main" id="{60604CBC-6B76-42B2-857F-AFA79949EB74}"/>
              </a:ext>
            </a:extLst>
          </p:cNvPr>
          <p:cNvSpPr>
            <a:spLocks xmlns:a="http://schemas.openxmlformats.org/drawingml/2006/main" noGrp="1"/>
          </p:cNvSpPr>
          <p:nvPr/>
        </p:nvSpPr>
        <p:spPr>
          <a:xfrm xmlns:a="http://schemas.openxmlformats.org/drawingml/2006/main">
            <a:off x="685800" y="37052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ImagePullBackOff</a:t>
            </a:r>
          </a:p>
        </p:txBody>
      </p:sp>
      <p:sp>
        <p:nvSpPr>
          <p:cNvPr id="13" name="">
            <a:extLst xmlns:a="http://schemas.openxmlformats.org/drawingml/2006/main">
              <a:ext uri="{FF2B5EF4-FFF2-40B4-BE49-F238E27FC236}">
                <a16:creationId xmlns:a16="http://schemas.microsoft.com/office/drawing/2014/main" id="{53DB3F21-152D-4965-8874-EC87DC01275B}"/>
              </a:ext>
            </a:extLst>
          </p:cNvPr>
          <p:cNvSpPr>
            <a:spLocks xmlns:a="http://schemas.openxmlformats.org/drawingml/2006/main" noGrp="1"/>
          </p:cNvSpPr>
          <p:nvPr/>
        </p:nvSpPr>
        <p:spPr>
          <a:xfrm xmlns:a="http://schemas.openxmlformats.org/drawingml/2006/main">
            <a:off x="3143250" y="363855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D78008D-21EF-45F9-9F90-2AE10D8AA8E7}"/>
              </a:ext>
            </a:extLst>
          </p:cNvPr>
          <p:cNvSpPr>
            <a:spLocks xmlns:a="http://schemas.openxmlformats.org/drawingml/2006/main" noGrp="1"/>
          </p:cNvSpPr>
          <p:nvPr/>
        </p:nvSpPr>
        <p:spPr>
          <a:xfrm xmlns:a="http://schemas.openxmlformats.org/drawingml/2006/main">
            <a:off x="3143250" y="3638550"/>
            <a:ext cx="6957822" cy="361950"/>
          </a:xfrm>
          <a:prstGeom xmlns:a="http://schemas.openxmlformats.org/drawingml/2006/main" prst="rect">
            <a:avLst/>
          </a:prstGeom>
          <a:solidFill xmlns:a="http://schemas.openxmlformats.org/drawingml/2006/main">
            <a:srgbClr val="C378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A206428-9EA8-4F89-96DC-EBA1C2796B98}"/>
              </a:ext>
            </a:extLst>
          </p:cNvPr>
          <p:cNvSpPr>
            <a:spLocks xmlns:a="http://schemas.openxmlformats.org/drawingml/2006/main" noGrp="1"/>
          </p:cNvSpPr>
          <p:nvPr/>
        </p:nvSpPr>
        <p:spPr>
          <a:xfrm xmlns:a="http://schemas.openxmlformats.org/drawingml/2006/main">
            <a:off x="10572750" y="37052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913.1 s</a:t>
            </a:r>
          </a:p>
        </p:txBody>
      </p:sp>
      <p:sp>
        <p:nvSpPr>
          <p:cNvPr id="16" name="">
            <a:extLst xmlns:a="http://schemas.openxmlformats.org/drawingml/2006/main">
              <a:ext uri="{FF2B5EF4-FFF2-40B4-BE49-F238E27FC236}">
                <a16:creationId xmlns:a16="http://schemas.microsoft.com/office/drawing/2014/main" id="{827345A4-B07F-43C3-BC62-3A32761E5B25}"/>
              </a:ext>
            </a:extLst>
          </p:cNvPr>
          <p:cNvSpPr>
            <a:spLocks xmlns:a="http://schemas.openxmlformats.org/drawingml/2006/main" noGrp="1"/>
          </p:cNvSpPr>
          <p:nvPr/>
        </p:nvSpPr>
        <p:spPr>
          <a:xfrm xmlns:a="http://schemas.openxmlformats.org/drawingml/2006/main">
            <a:off x="685800" y="44862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CrashLoopBackOff</a:t>
            </a:r>
          </a:p>
        </p:txBody>
      </p:sp>
      <p:sp>
        <p:nvSpPr>
          <p:cNvPr id="17" name="">
            <a:extLst xmlns:a="http://schemas.openxmlformats.org/drawingml/2006/main">
              <a:ext uri="{FF2B5EF4-FFF2-40B4-BE49-F238E27FC236}">
                <a16:creationId xmlns:a16="http://schemas.microsoft.com/office/drawing/2014/main" id="{F7F95BCE-BCDE-425A-BB85-ACF9262B0D73}"/>
              </a:ext>
            </a:extLst>
          </p:cNvPr>
          <p:cNvSpPr>
            <a:spLocks xmlns:a="http://schemas.openxmlformats.org/drawingml/2006/main" noGrp="1"/>
          </p:cNvSpPr>
          <p:nvPr/>
        </p:nvSpPr>
        <p:spPr>
          <a:xfrm xmlns:a="http://schemas.openxmlformats.org/drawingml/2006/main">
            <a:off x="3143250" y="441960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1DDE49D-D2F3-457B-8B82-F8F155C514C0}"/>
              </a:ext>
            </a:extLst>
          </p:cNvPr>
          <p:cNvSpPr>
            <a:spLocks xmlns:a="http://schemas.openxmlformats.org/drawingml/2006/main" noGrp="1"/>
          </p:cNvSpPr>
          <p:nvPr/>
        </p:nvSpPr>
        <p:spPr>
          <a:xfrm xmlns:a="http://schemas.openxmlformats.org/drawingml/2006/main">
            <a:off x="3143250" y="4419600"/>
            <a:ext cx="6303264" cy="361950"/>
          </a:xfrm>
          <a:prstGeom xmlns:a="http://schemas.openxmlformats.org/drawingml/2006/main" prst="rect">
            <a:avLst/>
          </a:prstGeom>
          <a:solidFill xmlns:a="http://schemas.openxmlformats.org/drawingml/2006/main">
            <a:srgbClr val="C7444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3B63366-B886-4457-A8B0-9D6DDB883B17}"/>
              </a:ext>
            </a:extLst>
          </p:cNvPr>
          <p:cNvSpPr>
            <a:spLocks xmlns:a="http://schemas.openxmlformats.org/drawingml/2006/main" noGrp="1"/>
          </p:cNvSpPr>
          <p:nvPr/>
        </p:nvSpPr>
        <p:spPr>
          <a:xfrm xmlns:a="http://schemas.openxmlformats.org/drawingml/2006/main">
            <a:off x="10572750" y="44862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827.2 s</a:t>
            </a:r>
          </a:p>
        </p:txBody>
      </p:sp>
      <p:sp>
        <p:nvSpPr>
          <p:cNvPr id="20" name="">
            <a:extLst xmlns:a="http://schemas.openxmlformats.org/drawingml/2006/main">
              <a:ext uri="{FF2B5EF4-FFF2-40B4-BE49-F238E27FC236}">
                <a16:creationId xmlns:a16="http://schemas.microsoft.com/office/drawing/2014/main" id="{949CADC0-4298-4AA0-9C6D-93CD60D85F99}"/>
              </a:ext>
            </a:extLst>
          </p:cNvPr>
          <p:cNvSpPr>
            <a:spLocks xmlns:a="http://schemas.openxmlformats.org/drawingml/2006/main" noGrp="1"/>
          </p:cNvSpPr>
          <p:nvPr/>
        </p:nvSpPr>
        <p:spPr>
          <a:xfrm xmlns:a="http://schemas.openxmlformats.org/drawingml/2006/main">
            <a:off x="685800" y="52673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Evidence</a:t>
            </a:r>
          </a:p>
        </p:txBody>
      </p:sp>
      <p:sp>
        <p:nvSpPr>
          <p:cNvPr id="21" name="">
            <a:extLst xmlns:a="http://schemas.openxmlformats.org/drawingml/2006/main">
              <a:ext uri="{FF2B5EF4-FFF2-40B4-BE49-F238E27FC236}">
                <a16:creationId xmlns:a16="http://schemas.microsoft.com/office/drawing/2014/main" id="{384B1E54-CE5F-455E-975A-34AD087042C4}"/>
              </a:ext>
            </a:extLst>
          </p:cNvPr>
          <p:cNvSpPr>
            <a:spLocks xmlns:a="http://schemas.openxmlformats.org/drawingml/2006/main" noGrp="1"/>
          </p:cNvSpPr>
          <p:nvPr/>
        </p:nvSpPr>
        <p:spPr>
          <a:xfrm xmlns:a="http://schemas.openxmlformats.org/drawingml/2006/main">
            <a:off x="3143250" y="520065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DE697C9-C20E-4FFC-8189-69742C1D276A}"/>
              </a:ext>
            </a:extLst>
          </p:cNvPr>
          <p:cNvSpPr>
            <a:spLocks xmlns:a="http://schemas.openxmlformats.org/drawingml/2006/main" noGrp="1"/>
          </p:cNvSpPr>
          <p:nvPr/>
        </p:nvSpPr>
        <p:spPr>
          <a:xfrm xmlns:a="http://schemas.openxmlformats.org/drawingml/2006/main">
            <a:off x="3143250" y="5200650"/>
            <a:ext cx="1038606" cy="361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4A50C21-2DE1-4D2A-BA57-8D58B216ED6C}"/>
              </a:ext>
            </a:extLst>
          </p:cNvPr>
          <p:cNvSpPr>
            <a:spLocks xmlns:a="http://schemas.openxmlformats.org/drawingml/2006/main" noGrp="1"/>
          </p:cNvSpPr>
          <p:nvPr/>
        </p:nvSpPr>
        <p:spPr>
          <a:xfrm xmlns:a="http://schemas.openxmlformats.org/drawingml/2006/main">
            <a:off x="10572750" y="52673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136.3 s</a:t>
            </a:r>
          </a:p>
        </p:txBody>
      </p:sp>
      <p:sp>
        <p:nvSpPr>
          <p:cNvPr id="24" name="">
            <a:extLst xmlns:a="http://schemas.openxmlformats.org/drawingml/2006/main">
              <a:ext uri="{FF2B5EF4-FFF2-40B4-BE49-F238E27FC236}">
                <a16:creationId xmlns:a16="http://schemas.microsoft.com/office/drawing/2014/main" id="{15CD07D8-000C-4F97-B18F-525A7E720B5E}"/>
              </a:ext>
            </a:extLst>
          </p:cNvPr>
          <p:cNvSpPr>
            <a:spLocks xmlns:a="http://schemas.openxmlformats.org/drawingml/2006/main" noGrp="1"/>
          </p:cNvSpPr>
          <p:nvPr/>
        </p:nvSpPr>
        <p:spPr>
          <a:xfrm xmlns:a="http://schemas.openxmlformats.org/drawingml/2006/main">
            <a:off x="685800" y="59626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6845B"/>
                </a:solidFill>
                <a:latin typeface="Helvetica Neue"/>
                <a:ea typeface="Helvetica Neue"/>
                <a:cs typeface="Helvetica Neue"/>
              </a:defRPr>
            </a:pPr>
            <a:r>
              <a:rPr sz="1875" b="1">
                <a:solidFill>
                  <a:srgbClr val="16845B"/>
                </a:solidFill>
                <a:latin typeface="Helvetica Neue"/>
                <a:ea typeface="Helvetica Neue"/>
                <a:cs typeface="Helvetica Neue"/>
              </a:rPr>
              <a:t>PASS</a:t>
            </a:r>
          </a:p>
        </p:txBody>
      </p:sp>
      <p:sp>
        <p:nvSpPr>
          <p:cNvPr id="25" name="">
            <a:extLst xmlns:a="http://schemas.openxmlformats.org/drawingml/2006/main">
              <a:ext uri="{FF2B5EF4-FFF2-40B4-BE49-F238E27FC236}">
                <a16:creationId xmlns:a16="http://schemas.microsoft.com/office/drawing/2014/main" id="{D472892D-27AE-4C61-8077-8D609051D302}"/>
              </a:ext>
            </a:extLst>
          </p:cNvPr>
          <p:cNvSpPr>
            <a:spLocks xmlns:a="http://schemas.openxmlformats.org/drawingml/2006/main" noGrp="1"/>
          </p:cNvSpPr>
          <p:nvPr/>
        </p:nvSpPr>
        <p:spPr>
          <a:xfrm xmlns:a="http://schemas.openxmlformats.org/drawingml/2006/main">
            <a:off x="2381250" y="59912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Helvetica Neue"/>
                <a:ea typeface="Helvetica Neue"/>
                <a:cs typeface="Helvetica Neue"/>
              </a:defRPr>
            </a:pPr>
            <a:r>
              <a:rPr sz="1350" b="0">
                <a:solidFill>
                  <a:srgbClr val="5D6570"/>
                </a:solidFill>
                <a:latin typeface="Helvetica Neue"/>
                <a:ea typeface="Helvetica Neue"/>
                <a:cs typeface="Helvetica Neue"/>
              </a:rPr>
              <a:t>Authenticated Open WebUI entry point</a:t>
            </a:r>
          </a:p>
        </p:txBody>
      </p:sp>
      <p:sp>
        <p:nvSpPr>
          <p:cNvPr id="26" name="">
            <a:extLst xmlns:a="http://schemas.openxmlformats.org/drawingml/2006/main">
              <a:ext uri="{FF2B5EF4-FFF2-40B4-BE49-F238E27FC236}">
                <a16:creationId xmlns:a16="http://schemas.microsoft.com/office/drawing/2014/main" id="{FDF2C6F9-22EB-493F-B3BF-E82B4A29AFE2}"/>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AKZEPTANZ-EVIDENZ</a:t>
            </a:r>
          </a:p>
        </p:txBody>
      </p:sp>
      <p:sp>
        <p:nvSpPr>
          <p:cNvPr id="27" name="">
            <a:extLst xmlns:a="http://schemas.openxmlformats.org/drawingml/2006/main">
              <a:ext uri="{FF2B5EF4-FFF2-40B4-BE49-F238E27FC236}">
                <a16:creationId xmlns:a16="http://schemas.microsoft.com/office/drawing/2014/main" id="{B8039D61-F42B-4A7B-B163-B1B33A074A33}"/>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16</a:t>
            </a:r>
          </a:p>
        </p:txBody>
      </p:sp>
    </p:spTree>
    <p:extLst>
      <p:ext uri="{BB962C8B-B14F-4D97-AF65-F5344CB8AC3E}">
        <p14:creationId xmlns:p14="http://schemas.microsoft.com/office/powerpoint/2010/main" val="2022987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DC73D935-E83D-4383-9B4B-138993DE4EE6}"/>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Ollama bestimmt den Ressourcenbedarf</a:t>
            </a:r>
          </a:p>
        </p:txBody>
      </p:sp>
      <p:sp>
        <p:nvSpPr>
          <p:cNvPr id="2" name="">
            <a:extLst xmlns:a="http://schemas.openxmlformats.org/drawingml/2006/main">
              <a:ext uri="{FF2B5EF4-FFF2-40B4-BE49-F238E27FC236}">
                <a16:creationId xmlns:a16="http://schemas.microsoft.com/office/drawing/2014/main" id="{4A154E58-A25B-4493-BF2F-B3315F7B4AC2}"/>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Die Diagnosekomponenten selbst bleiben vergleichsweise klein.</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BE71C86A-8479-4A6A-9120-6D18641CA16C}"/>
              </a:ext>
            </a:extLst>
          </p:cNvPr>
          <p:cNvSpPr>
            <a:spLocks xmlns:a="http://schemas.openxmlformats.org/drawingml/2006/main" noGrp="1"/>
          </p:cNvSpPr>
          <p:nvPr/>
        </p:nvSpPr>
        <p:spPr>
          <a:xfrm xmlns:a="http://schemas.openxmlformats.org/drawingml/2006/main">
            <a:off x="514350" y="2571750"/>
            <a:ext cx="3524250" cy="2781300"/>
          </a:xfrm>
          <a:prstGeom xmlns:a="http://schemas.openxmlformats.org/drawingml/2006/main" prst="roundRect">
            <a:avLst>
              <a:gd name="adj" fmla="val 2740"/>
            </a:avLst>
          </a:prstGeom>
          <a:solidFill xmlns:a="http://schemas.openxmlformats.org/drawingml/2006/main">
            <a:srgbClr val="EEF7FD"/>
          </a:solidFill>
          <a:ln xmlns:a="http://schemas.openxmlformats.org/drawingml/2006/main" w="9525">
            <a:solidFill>
              <a:srgbClr val="3D8DFF"/>
            </a:solidFill>
            <a:prstDash val="solid"/>
          </a:ln>
        </p:spPr>
      </p:sp>
      <p:sp>
        <p:nvSpPr>
          <p:cNvPr id="5" name="">
            <a:extLst xmlns:a="http://schemas.openxmlformats.org/drawingml/2006/main">
              <a:ext uri="{FF2B5EF4-FFF2-40B4-BE49-F238E27FC236}">
                <a16:creationId xmlns:a16="http://schemas.microsoft.com/office/drawing/2014/main" id="{CAF18861-D6F1-4411-A033-D885B12A1B43}"/>
              </a:ext>
            </a:extLst>
          </p:cNvPr>
          <p:cNvSpPr>
            <a:spLocks xmlns:a="http://schemas.openxmlformats.org/drawingml/2006/main" noGrp="1"/>
          </p:cNvSpPr>
          <p:nvPr/>
        </p:nvSpPr>
        <p:spPr>
          <a:xfrm xmlns:a="http://schemas.openxmlformats.org/drawingml/2006/main">
            <a:off x="781050" y="302895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3.95 CPU</a:t>
            </a:r>
          </a:p>
        </p:txBody>
      </p:sp>
      <p:sp>
        <p:nvSpPr>
          <p:cNvPr id="6" name="">
            <a:extLst xmlns:a="http://schemas.openxmlformats.org/drawingml/2006/main">
              <a:ext uri="{FF2B5EF4-FFF2-40B4-BE49-F238E27FC236}">
                <a16:creationId xmlns:a16="http://schemas.microsoft.com/office/drawing/2014/main" id="{60200E3B-F910-440B-9CDC-0ACCCEAB85CC}"/>
              </a:ext>
            </a:extLst>
          </p:cNvPr>
          <p:cNvSpPr>
            <a:spLocks xmlns:a="http://schemas.openxmlformats.org/drawingml/2006/main" noGrp="1"/>
          </p:cNvSpPr>
          <p:nvPr/>
        </p:nvSpPr>
        <p:spPr>
          <a:xfrm xmlns:a="http://schemas.openxmlformats.org/drawingml/2006/main">
            <a:off x="781050" y="4029075"/>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Ollama Peak</a:t>
            </a:r>
          </a:p>
        </p:txBody>
      </p:sp>
      <p:sp>
        <p:nvSpPr>
          <p:cNvPr id="7" name="">
            <a:extLst xmlns:a="http://schemas.openxmlformats.org/drawingml/2006/main">
              <a:ext uri="{FF2B5EF4-FFF2-40B4-BE49-F238E27FC236}">
                <a16:creationId xmlns:a16="http://schemas.microsoft.com/office/drawing/2014/main" id="{50425C84-51FF-4473-A4A7-FCBDED848168}"/>
              </a:ext>
            </a:extLst>
          </p:cNvPr>
          <p:cNvSpPr>
            <a:spLocks xmlns:a="http://schemas.openxmlformats.org/drawingml/2006/main" noGrp="1"/>
          </p:cNvSpPr>
          <p:nvPr/>
        </p:nvSpPr>
        <p:spPr>
          <a:xfrm xmlns:a="http://schemas.openxmlformats.org/drawingml/2006/main">
            <a:off x="781050" y="46291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Helvetica Neue"/>
                <a:ea typeface="Helvetica Neue"/>
                <a:cs typeface="Helvetica Neue"/>
              </a:defRPr>
            </a:pPr>
            <a:r>
              <a:rPr sz="1350" b="0">
                <a:solidFill>
                  <a:srgbClr val="5D6570"/>
                </a:solidFill>
                <a:latin typeface="Helvetica Neue"/>
                <a:ea typeface="Helvetica Neue"/>
                <a:cs typeface="Helvetica Neue"/>
              </a:rPr>
              <a:t>≈ 3945 millicores</a:t>
            </a:r>
          </a:p>
        </p:txBody>
      </p:sp>
      <p:sp>
        <p:nvSpPr>
          <p:cNvPr id="8" name="">
            <a:extLst xmlns:a="http://schemas.openxmlformats.org/drawingml/2006/main">
              <a:ext uri="{FF2B5EF4-FFF2-40B4-BE49-F238E27FC236}">
                <a16:creationId xmlns:a16="http://schemas.microsoft.com/office/drawing/2014/main" id="{3035B1EE-39B6-4ED7-B6E3-1773E29CA54F}"/>
              </a:ext>
            </a:extLst>
          </p:cNvPr>
          <p:cNvSpPr>
            <a:spLocks xmlns:a="http://schemas.openxmlformats.org/drawingml/2006/main" noGrp="1"/>
          </p:cNvSpPr>
          <p:nvPr/>
        </p:nvSpPr>
        <p:spPr>
          <a:xfrm xmlns:a="http://schemas.openxmlformats.org/drawingml/2006/main">
            <a:off x="4371975" y="2571750"/>
            <a:ext cx="3524250" cy="2781300"/>
          </a:xfrm>
          <a:prstGeom xmlns:a="http://schemas.openxmlformats.org/drawingml/2006/main" prst="roundRect">
            <a:avLst>
              <a:gd name="adj" fmla="val 2740"/>
            </a:avLst>
          </a:prstGeom>
          <a:solidFill xmlns:a="http://schemas.openxmlformats.org/drawingml/2006/main">
            <a:srgbClr val="F6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FA141DC-5ADC-4637-8FF2-981D983A3CAF}"/>
              </a:ext>
            </a:extLst>
          </p:cNvPr>
          <p:cNvSpPr>
            <a:spLocks xmlns:a="http://schemas.openxmlformats.org/drawingml/2006/main" noGrp="1"/>
          </p:cNvSpPr>
          <p:nvPr/>
        </p:nvSpPr>
        <p:spPr>
          <a:xfrm xmlns:a="http://schemas.openxmlformats.org/drawingml/2006/main">
            <a:off x="4638675" y="302895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4.26 GiB</a:t>
            </a:r>
          </a:p>
        </p:txBody>
      </p:sp>
      <p:sp>
        <p:nvSpPr>
          <p:cNvPr id="10" name="">
            <a:extLst xmlns:a="http://schemas.openxmlformats.org/drawingml/2006/main">
              <a:ext uri="{FF2B5EF4-FFF2-40B4-BE49-F238E27FC236}">
                <a16:creationId xmlns:a16="http://schemas.microsoft.com/office/drawing/2014/main" id="{19D698ED-340B-4F09-BD8C-D291F8C2EFB4}"/>
              </a:ext>
            </a:extLst>
          </p:cNvPr>
          <p:cNvSpPr>
            <a:spLocks xmlns:a="http://schemas.openxmlformats.org/drawingml/2006/main" noGrp="1"/>
          </p:cNvSpPr>
          <p:nvPr/>
        </p:nvSpPr>
        <p:spPr>
          <a:xfrm xmlns:a="http://schemas.openxmlformats.org/drawingml/2006/main">
            <a:off x="4638675" y="4029075"/>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Ollama RAM</a:t>
            </a:r>
          </a:p>
        </p:txBody>
      </p:sp>
      <p:sp>
        <p:nvSpPr>
          <p:cNvPr id="11" name="">
            <a:extLst xmlns:a="http://schemas.openxmlformats.org/drawingml/2006/main">
              <a:ext uri="{FF2B5EF4-FFF2-40B4-BE49-F238E27FC236}">
                <a16:creationId xmlns:a16="http://schemas.microsoft.com/office/drawing/2014/main" id="{32038B92-3E9A-417C-AF30-8DE6B0FDF3D1}"/>
              </a:ext>
            </a:extLst>
          </p:cNvPr>
          <p:cNvSpPr>
            <a:spLocks xmlns:a="http://schemas.openxmlformats.org/drawingml/2006/main" noGrp="1"/>
          </p:cNvSpPr>
          <p:nvPr/>
        </p:nvSpPr>
        <p:spPr>
          <a:xfrm xmlns:a="http://schemas.openxmlformats.org/drawingml/2006/main">
            <a:off x="4638675" y="46291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Helvetica Neue"/>
                <a:ea typeface="Helvetica Neue"/>
                <a:cs typeface="Helvetica Neue"/>
              </a:defRPr>
            </a:pPr>
            <a:r>
              <a:rPr sz="1350" b="0">
                <a:solidFill>
                  <a:srgbClr val="5D6570"/>
                </a:solidFill>
                <a:latin typeface="Helvetica Neue"/>
                <a:ea typeface="Helvetica Neue"/>
                <a:cs typeface="Helvetica Neue"/>
              </a:rPr>
              <a:t>≈ 4260 MiB</a:t>
            </a:r>
          </a:p>
        </p:txBody>
      </p:sp>
      <p:sp>
        <p:nvSpPr>
          <p:cNvPr id="12" name="">
            <a:extLst xmlns:a="http://schemas.openxmlformats.org/drawingml/2006/main">
              <a:ext uri="{FF2B5EF4-FFF2-40B4-BE49-F238E27FC236}">
                <a16:creationId xmlns:a16="http://schemas.microsoft.com/office/drawing/2014/main" id="{95023A1C-9F43-41DC-B382-D85E1D92F063}"/>
              </a:ext>
            </a:extLst>
          </p:cNvPr>
          <p:cNvSpPr>
            <a:spLocks xmlns:a="http://schemas.openxmlformats.org/drawingml/2006/main" noGrp="1"/>
          </p:cNvSpPr>
          <p:nvPr/>
        </p:nvSpPr>
        <p:spPr>
          <a:xfrm xmlns:a="http://schemas.openxmlformats.org/drawingml/2006/main">
            <a:off x="8229600" y="2571750"/>
            <a:ext cx="3524250" cy="2781300"/>
          </a:xfrm>
          <a:prstGeom xmlns:a="http://schemas.openxmlformats.org/drawingml/2006/main" prst="roundRect">
            <a:avLst>
              <a:gd name="adj" fmla="val 2740"/>
            </a:avLst>
          </a:prstGeom>
          <a:solidFill xmlns:a="http://schemas.openxmlformats.org/drawingml/2006/main">
            <a:srgbClr val="F6F7F8"/>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0ABFCC6E-0C1F-417C-84E7-9EFF4319ED32}"/>
              </a:ext>
            </a:extLst>
          </p:cNvPr>
          <p:cNvSpPr>
            <a:spLocks xmlns:a="http://schemas.openxmlformats.org/drawingml/2006/main" noGrp="1"/>
          </p:cNvSpPr>
          <p:nvPr/>
        </p:nvSpPr>
        <p:spPr>
          <a:xfrm xmlns:a="http://schemas.openxmlformats.org/drawingml/2006/main">
            <a:off x="8496300" y="302895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405 MiB</a:t>
            </a:r>
          </a:p>
        </p:txBody>
      </p:sp>
      <p:sp>
        <p:nvSpPr>
          <p:cNvPr id="14" name="">
            <a:extLst xmlns:a="http://schemas.openxmlformats.org/drawingml/2006/main">
              <a:ext uri="{FF2B5EF4-FFF2-40B4-BE49-F238E27FC236}">
                <a16:creationId xmlns:a16="http://schemas.microsoft.com/office/drawing/2014/main" id="{66A0AB20-2838-4E5E-839F-C5C3115A3FDE}"/>
              </a:ext>
            </a:extLst>
          </p:cNvPr>
          <p:cNvSpPr>
            <a:spLocks xmlns:a="http://schemas.openxmlformats.org/drawingml/2006/main" noGrp="1"/>
          </p:cNvSpPr>
          <p:nvPr/>
        </p:nvSpPr>
        <p:spPr>
          <a:xfrm xmlns:a="http://schemas.openxmlformats.org/drawingml/2006/main">
            <a:off x="8496300" y="4029075"/>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OpenClaw RAM</a:t>
            </a:r>
          </a:p>
        </p:txBody>
      </p:sp>
      <p:sp>
        <p:nvSpPr>
          <p:cNvPr id="15" name="">
            <a:extLst xmlns:a="http://schemas.openxmlformats.org/drawingml/2006/main">
              <a:ext uri="{FF2B5EF4-FFF2-40B4-BE49-F238E27FC236}">
                <a16:creationId xmlns:a16="http://schemas.microsoft.com/office/drawing/2014/main" id="{9F0E9743-1962-4044-B6A7-6966F7873C2F}"/>
              </a:ext>
            </a:extLst>
          </p:cNvPr>
          <p:cNvSpPr>
            <a:spLocks xmlns:a="http://schemas.openxmlformats.org/drawingml/2006/main" noGrp="1"/>
          </p:cNvSpPr>
          <p:nvPr/>
        </p:nvSpPr>
        <p:spPr>
          <a:xfrm xmlns:a="http://schemas.openxmlformats.org/drawingml/2006/main">
            <a:off x="8496300" y="46291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Helvetica Neue"/>
                <a:ea typeface="Helvetica Neue"/>
                <a:cs typeface="Helvetica Neue"/>
              </a:defRPr>
            </a:pPr>
            <a:r>
              <a:rPr sz="1350" b="0">
                <a:solidFill>
                  <a:srgbClr val="5D6570"/>
                </a:solidFill>
                <a:latin typeface="Helvetica Neue"/>
                <a:ea typeface="Helvetica Neue"/>
                <a:cs typeface="Helvetica Neue"/>
              </a:rPr>
              <a:t>während E2E</a:t>
            </a:r>
          </a:p>
        </p:txBody>
      </p:sp>
      <p:sp>
        <p:nvSpPr>
          <p:cNvPr id="16" name="">
            <a:extLst xmlns:a="http://schemas.openxmlformats.org/drawingml/2006/main">
              <a:ext uri="{FF2B5EF4-FFF2-40B4-BE49-F238E27FC236}">
                <a16:creationId xmlns:a16="http://schemas.microsoft.com/office/drawing/2014/main" id="{433059F5-7F80-4039-B5A5-E005B0005E32}"/>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RESSOURCEN</a:t>
            </a:r>
          </a:p>
        </p:txBody>
      </p:sp>
      <p:sp>
        <p:nvSpPr>
          <p:cNvPr id="17" name="">
            <a:extLst xmlns:a="http://schemas.openxmlformats.org/drawingml/2006/main">
              <a:ext uri="{FF2B5EF4-FFF2-40B4-BE49-F238E27FC236}">
                <a16:creationId xmlns:a16="http://schemas.microsoft.com/office/drawing/2014/main" id="{8462AE98-A41C-4689-8B00-CA1B5D90EAF9}"/>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17</a:t>
            </a:r>
          </a:p>
        </p:txBody>
      </p:sp>
    </p:spTree>
    <p:extLst>
      <p:ext uri="{BB962C8B-B14F-4D97-AF65-F5344CB8AC3E}">
        <p14:creationId xmlns:p14="http://schemas.microsoft.com/office/powerpoint/2010/main" val="8229579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2E94C85A-BDF4-4066-80E4-2D4F6BC22F1C}"/>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51"/>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Drei Befehle decken Betrieb, Recovery und Neuinstallation ab</a:t>
            </a:r>
          </a:p>
        </p:txBody>
      </p:sp>
      <p:sp>
        <p:nvSpPr>
          <p:cNvPr id="2" name="">
            <a:extLst xmlns:a="http://schemas.openxmlformats.org/drawingml/2006/main">
              <a:ext uri="{FF2B5EF4-FFF2-40B4-BE49-F238E27FC236}">
                <a16:creationId xmlns:a16="http://schemas.microsoft.com/office/drawing/2014/main" id="{F025F4DF-A6BC-4A6E-8A42-3049E31FF738}"/>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Wähle den Test passend zur Frage, die du beantworten möchtest.</a:t>
            </a:r>
          </a:p>
        </p:txBody>
      </p:sp>
      <p:cxnSp>
        <p:nvCxnSpPr>
          <p:cNvPr id="22"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DF294EA2-B791-4F85-8A91-F3EFD0B15746}"/>
              </a:ext>
            </a:extLst>
          </p:cNvPr>
          <p:cNvSpPr>
            <a:spLocks xmlns:a="http://schemas.openxmlformats.org/drawingml/2006/main" noGrp="1"/>
          </p:cNvSpPr>
          <p:nvPr/>
        </p:nvSpPr>
        <p:spPr>
          <a:xfrm xmlns:a="http://schemas.openxmlformats.org/drawingml/2006/main">
            <a:off x="685800" y="2114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verify</a:t>
            </a:r>
          </a:p>
        </p:txBody>
      </p:sp>
      <p:sp>
        <p:nvSpPr>
          <p:cNvPr id="5" name="">
            <a:extLst xmlns:a="http://schemas.openxmlformats.org/drawingml/2006/main">
              <a:ext uri="{FF2B5EF4-FFF2-40B4-BE49-F238E27FC236}">
                <a16:creationId xmlns:a16="http://schemas.microsoft.com/office/drawing/2014/main" id="{6290157B-BA09-4266-B0BD-A54E6764C582}"/>
              </a:ext>
            </a:extLst>
          </p:cNvPr>
          <p:cNvSpPr>
            <a:spLocks xmlns:a="http://schemas.openxmlformats.org/drawingml/2006/main" noGrp="1"/>
          </p:cNvSpPr>
          <p:nvPr/>
        </p:nvSpPr>
        <p:spPr>
          <a:xfrm xmlns:a="http://schemas.openxmlformats.org/drawingml/2006/main">
            <a:off x="3143250" y="21336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Funktioniert die komplette Kette?</a:t>
            </a:r>
          </a:p>
        </p:txBody>
      </p:sp>
      <p:sp>
        <p:nvSpPr>
          <p:cNvPr id="6" name="">
            <a:extLst xmlns:a="http://schemas.openxmlformats.org/drawingml/2006/main">
              <a:ext uri="{FF2B5EF4-FFF2-40B4-BE49-F238E27FC236}">
                <a16:creationId xmlns:a16="http://schemas.microsoft.com/office/drawing/2014/main" id="{BEBE18D4-997B-40D9-BAE8-F5629C5364C6}"/>
              </a:ext>
            </a:extLst>
          </p:cNvPr>
          <p:cNvSpPr>
            <a:spLocks xmlns:a="http://schemas.openxmlformats.org/drawingml/2006/main" noGrp="1"/>
          </p:cNvSpPr>
          <p:nvPr/>
        </p:nvSpPr>
        <p:spPr>
          <a:xfrm xmlns:a="http://schemas.openxmlformats.org/drawingml/2006/main">
            <a:off x="7524750" y="2019300"/>
            <a:ext cx="3905250" cy="590550"/>
          </a:xfrm>
          <a:prstGeom xmlns:a="http://schemas.openxmlformats.org/drawingml/2006/main" prst="roundRect">
            <a:avLst>
              <a:gd name="adj" fmla="val 12903"/>
            </a:avLst>
          </a:prstGeom>
          <a:solidFill xmlns:a="http://schemas.openxmlformats.org/drawingml/2006/main">
            <a:srgbClr val="151A2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D2B2188-C2DF-4208-B4C3-E72666B24FCE}"/>
              </a:ext>
            </a:extLst>
          </p:cNvPr>
          <p:cNvSpPr>
            <a:spLocks xmlns:a="http://schemas.openxmlformats.org/drawingml/2006/main" noGrp="1"/>
          </p:cNvSpPr>
          <p:nvPr/>
        </p:nvSpPr>
        <p:spPr>
          <a:xfrm xmlns:a="http://schemas.openxmlformats.org/drawingml/2006/main">
            <a:off x="7715250" y="21907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make -C openclaw verify</a:t>
            </a:r>
          </a:p>
        </p:txBody>
      </p:sp>
      <p:cxnSp>
        <p:nvCxnSpPr>
          <p:cNvPr id="27" name=""/>
          <p:cNvCxnSpPr/>
          <p:nvPr/>
        </p:nvCxnSpPr>
        <p:spPr>
          <a:xfrm xmlns:a="http://schemas.openxmlformats.org/drawingml/2006/main">
            <a:off x="685800" y="2895600"/>
            <a:ext cx="107442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18FEF6E0-0098-443F-9973-C73753C21D0E}"/>
              </a:ext>
            </a:extLst>
          </p:cNvPr>
          <p:cNvSpPr>
            <a:spLocks xmlns:a="http://schemas.openxmlformats.org/drawingml/2006/main" noGrp="1"/>
          </p:cNvSpPr>
          <p:nvPr/>
        </p:nvSpPr>
        <p:spPr>
          <a:xfrm xmlns:a="http://schemas.openxmlformats.org/drawingml/2006/main">
            <a:off x="685800" y="33337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restart-test</a:t>
            </a:r>
          </a:p>
        </p:txBody>
      </p:sp>
      <p:sp>
        <p:nvSpPr>
          <p:cNvPr id="10" name="">
            <a:extLst xmlns:a="http://schemas.openxmlformats.org/drawingml/2006/main">
              <a:ext uri="{FF2B5EF4-FFF2-40B4-BE49-F238E27FC236}">
                <a16:creationId xmlns:a16="http://schemas.microsoft.com/office/drawing/2014/main" id="{CF7BCE3A-AE7C-406C-865A-D0835C67C9C2}"/>
              </a:ext>
            </a:extLst>
          </p:cNvPr>
          <p:cNvSpPr>
            <a:spLocks xmlns:a="http://schemas.openxmlformats.org/drawingml/2006/main" noGrp="1"/>
          </p:cNvSpPr>
          <p:nvPr/>
        </p:nvSpPr>
        <p:spPr>
          <a:xfrm xmlns:a="http://schemas.openxmlformats.org/drawingml/2006/main">
            <a:off x="3143250" y="33528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Erholt sich das System nach Restarts?</a:t>
            </a:r>
          </a:p>
        </p:txBody>
      </p:sp>
      <p:sp>
        <p:nvSpPr>
          <p:cNvPr id="11" name="">
            <a:extLst xmlns:a="http://schemas.openxmlformats.org/drawingml/2006/main">
              <a:ext uri="{FF2B5EF4-FFF2-40B4-BE49-F238E27FC236}">
                <a16:creationId xmlns:a16="http://schemas.microsoft.com/office/drawing/2014/main" id="{51D5FAB4-24D0-4010-A7AC-3174386060C3}"/>
              </a:ext>
            </a:extLst>
          </p:cNvPr>
          <p:cNvSpPr>
            <a:spLocks xmlns:a="http://schemas.openxmlformats.org/drawingml/2006/main" noGrp="1"/>
          </p:cNvSpPr>
          <p:nvPr/>
        </p:nvSpPr>
        <p:spPr>
          <a:xfrm xmlns:a="http://schemas.openxmlformats.org/drawingml/2006/main">
            <a:off x="7524750" y="3238500"/>
            <a:ext cx="3905250" cy="590550"/>
          </a:xfrm>
          <a:prstGeom xmlns:a="http://schemas.openxmlformats.org/drawingml/2006/main" prst="roundRect">
            <a:avLst>
              <a:gd name="adj" fmla="val 12903"/>
            </a:avLst>
          </a:prstGeom>
          <a:solidFill xmlns:a="http://schemas.openxmlformats.org/drawingml/2006/main">
            <a:srgbClr val="151A2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AE9179C-707C-4876-B464-1E83ACFFF53A}"/>
              </a:ext>
            </a:extLst>
          </p:cNvPr>
          <p:cNvSpPr>
            <a:spLocks xmlns:a="http://schemas.openxmlformats.org/drawingml/2006/main" noGrp="1"/>
          </p:cNvSpPr>
          <p:nvPr/>
        </p:nvSpPr>
        <p:spPr>
          <a:xfrm xmlns:a="http://schemas.openxmlformats.org/drawingml/2006/main">
            <a:off x="7715250" y="34099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make -C openclaw restart-test</a:t>
            </a:r>
          </a:p>
        </p:txBody>
      </p:sp>
      <p:cxnSp>
        <p:nvCxnSpPr>
          <p:cNvPr id="32" name=""/>
          <p:cNvCxnSpPr/>
          <p:nvPr/>
        </p:nvCxnSpPr>
        <p:spPr>
          <a:xfrm xmlns:a="http://schemas.openxmlformats.org/drawingml/2006/main">
            <a:off x="685800" y="4114800"/>
            <a:ext cx="107442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
            <a:extLst xmlns:a="http://schemas.openxmlformats.org/drawingml/2006/main">
              <a:ext uri="{FF2B5EF4-FFF2-40B4-BE49-F238E27FC236}">
                <a16:creationId xmlns:a16="http://schemas.microsoft.com/office/drawing/2014/main" id="{68B5B797-6959-46BE-B369-43F0D4DD36CB}"/>
              </a:ext>
            </a:extLst>
          </p:cNvPr>
          <p:cNvSpPr>
            <a:spLocks xmlns:a="http://schemas.openxmlformats.org/drawingml/2006/main" noGrp="1"/>
          </p:cNvSpPr>
          <p:nvPr/>
        </p:nvSpPr>
        <p:spPr>
          <a:xfrm xmlns:a="http://schemas.openxmlformats.org/drawingml/2006/main">
            <a:off x="685800" y="45529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lifecycle-test</a:t>
            </a:r>
          </a:p>
        </p:txBody>
      </p:sp>
      <p:sp>
        <p:nvSpPr>
          <p:cNvPr id="15" name="">
            <a:extLst xmlns:a="http://schemas.openxmlformats.org/drawingml/2006/main">
              <a:ext uri="{FF2B5EF4-FFF2-40B4-BE49-F238E27FC236}">
                <a16:creationId xmlns:a16="http://schemas.microsoft.com/office/drawing/2014/main" id="{A3749BBE-48F7-440D-9823-8CB424FEFDCB}"/>
              </a:ext>
            </a:extLst>
          </p:cNvPr>
          <p:cNvSpPr>
            <a:spLocks xmlns:a="http://schemas.openxmlformats.org/drawingml/2006/main" noGrp="1"/>
          </p:cNvSpPr>
          <p:nvPr/>
        </p:nvSpPr>
        <p:spPr>
          <a:xfrm xmlns:a="http://schemas.openxmlformats.org/drawingml/2006/main">
            <a:off x="3143250" y="45720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Ist die Installation reproduzierbar?</a:t>
            </a:r>
          </a:p>
        </p:txBody>
      </p:sp>
      <p:sp>
        <p:nvSpPr>
          <p:cNvPr id="16" name="">
            <a:extLst xmlns:a="http://schemas.openxmlformats.org/drawingml/2006/main">
              <a:ext uri="{FF2B5EF4-FFF2-40B4-BE49-F238E27FC236}">
                <a16:creationId xmlns:a16="http://schemas.microsoft.com/office/drawing/2014/main" id="{C537E90B-F2A8-401E-AC27-64422C2A2C50}"/>
              </a:ext>
            </a:extLst>
          </p:cNvPr>
          <p:cNvSpPr>
            <a:spLocks xmlns:a="http://schemas.openxmlformats.org/drawingml/2006/main" noGrp="1"/>
          </p:cNvSpPr>
          <p:nvPr/>
        </p:nvSpPr>
        <p:spPr>
          <a:xfrm xmlns:a="http://schemas.openxmlformats.org/drawingml/2006/main">
            <a:off x="7524750" y="4457700"/>
            <a:ext cx="3905250" cy="590550"/>
          </a:xfrm>
          <a:prstGeom xmlns:a="http://schemas.openxmlformats.org/drawingml/2006/main" prst="roundRect">
            <a:avLst>
              <a:gd name="adj" fmla="val 12903"/>
            </a:avLst>
          </a:prstGeom>
          <a:solidFill xmlns:a="http://schemas.openxmlformats.org/drawingml/2006/main">
            <a:srgbClr val="151A2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D8A1B12-DEFD-4835-995E-7EF94E398FEF}"/>
              </a:ext>
            </a:extLst>
          </p:cNvPr>
          <p:cNvSpPr>
            <a:spLocks xmlns:a="http://schemas.openxmlformats.org/drawingml/2006/main" noGrp="1"/>
          </p:cNvSpPr>
          <p:nvPr/>
        </p:nvSpPr>
        <p:spPr>
          <a:xfrm xmlns:a="http://schemas.openxmlformats.org/drawingml/2006/main">
            <a:off x="7715250" y="46291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make -C openclaw lifecycle-test</a:t>
            </a:r>
          </a:p>
        </p:txBody>
      </p:sp>
      <p:sp>
        <p:nvSpPr>
          <p:cNvPr id="18" name="">
            <a:extLst xmlns:a="http://schemas.openxmlformats.org/drawingml/2006/main">
              <a:ext uri="{FF2B5EF4-FFF2-40B4-BE49-F238E27FC236}">
                <a16:creationId xmlns:a16="http://schemas.microsoft.com/office/drawing/2014/main" id="{45435E2B-1E8B-4E66-9AEE-8EF145183C1C}"/>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BETRIEB</a:t>
            </a:r>
          </a:p>
        </p:txBody>
      </p:sp>
      <p:sp>
        <p:nvSpPr>
          <p:cNvPr id="19" name="">
            <a:extLst xmlns:a="http://schemas.openxmlformats.org/drawingml/2006/main">
              <a:ext uri="{FF2B5EF4-FFF2-40B4-BE49-F238E27FC236}">
                <a16:creationId xmlns:a16="http://schemas.microsoft.com/office/drawing/2014/main" id="{7EB67BF6-A7A6-4F0E-AE63-CF27FB839ABC}"/>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18</a:t>
            </a:r>
          </a:p>
        </p:txBody>
      </p:sp>
    </p:spTree>
    <p:extLst>
      <p:ext uri="{BB962C8B-B14F-4D97-AF65-F5344CB8AC3E}">
        <p14:creationId xmlns:p14="http://schemas.microsoft.com/office/powerpoint/2010/main" val="14029588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85864C36-DE7B-4680-AAD1-31CCCC7C3EE5}"/>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Bereit heißt: Funktion und Grenze sind belegt</a:t>
            </a:r>
          </a:p>
        </p:txBody>
      </p:sp>
      <p:sp>
        <p:nvSpPr>
          <p:cNvPr id="2" name="">
            <a:extLst xmlns:a="http://schemas.openxmlformats.org/drawingml/2006/main">
              <a:ext uri="{FF2B5EF4-FFF2-40B4-BE49-F238E27FC236}">
                <a16:creationId xmlns:a16="http://schemas.microsoft.com/office/drawing/2014/main" id="{026D8028-8190-4749-94A6-85BD0A2CFAC6}"/>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Nicht nur ein laufender Pod, sondern ein reproduzierbarer Nachweis zählt.</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3D5EF6C1-05B2-40AC-AF02-D22FDD0AAA50}"/>
              </a:ext>
            </a:extLst>
          </p:cNvPr>
          <p:cNvSpPr>
            <a:spLocks xmlns:a="http://schemas.openxmlformats.org/drawingml/2006/main" noGrp="1"/>
          </p:cNvSpPr>
          <p:nvPr/>
        </p:nvSpPr>
        <p:spPr>
          <a:xfrm xmlns:a="http://schemas.openxmlformats.org/drawingml/2006/main">
            <a:off x="723900" y="20574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1D4D76AE-E1D4-46AC-878F-61DBDA424E68}"/>
              </a:ext>
            </a:extLst>
          </p:cNvPr>
          <p:cNvSpPr>
            <a:spLocks xmlns:a="http://schemas.openxmlformats.org/drawingml/2006/main" noGrp="1"/>
          </p:cNvSpPr>
          <p:nvPr/>
        </p:nvSpPr>
        <p:spPr>
          <a:xfrm xmlns:a="http://schemas.openxmlformats.org/drawingml/2006/main">
            <a:off x="1028700" y="20574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Phase 0: beide Nodes, Crossplane, Ollama und Open WebUI sind Ready</a:t>
            </a:r>
          </a:p>
        </p:txBody>
      </p:sp>
      <p:sp>
        <p:nvSpPr>
          <p:cNvPr id="6" name="">
            <a:extLst xmlns:a="http://schemas.openxmlformats.org/drawingml/2006/main">
              <a:ext uri="{FF2B5EF4-FFF2-40B4-BE49-F238E27FC236}">
                <a16:creationId xmlns:a16="http://schemas.microsoft.com/office/drawing/2014/main" id="{98E08934-AD76-4CF4-AF84-66662CA9DB20}"/>
              </a:ext>
            </a:extLst>
          </p:cNvPr>
          <p:cNvSpPr>
            <a:spLocks xmlns:a="http://schemas.openxmlformats.org/drawingml/2006/main" noGrp="1"/>
          </p:cNvSpPr>
          <p:nvPr/>
        </p:nvSpPr>
        <p:spPr>
          <a:xfrm xmlns:a="http://schemas.openxmlformats.org/drawingml/2006/main">
            <a:off x="723900" y="27432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5A2B4B0B-AEF0-44A3-9956-279FECC7B503}"/>
              </a:ext>
            </a:extLst>
          </p:cNvPr>
          <p:cNvSpPr>
            <a:spLocks xmlns:a="http://schemas.openxmlformats.org/drawingml/2006/main" noGrp="1"/>
          </p:cNvSpPr>
          <p:nvPr/>
        </p:nvSpPr>
        <p:spPr>
          <a:xfrm xmlns:a="http://schemas.openxmlformats.org/drawingml/2006/main">
            <a:off x="1028700" y="27432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Phase 1: make -C kagent verify-kagent meldet PASS</a:t>
            </a:r>
          </a:p>
        </p:txBody>
      </p:sp>
      <p:sp>
        <p:nvSpPr>
          <p:cNvPr id="8" name="">
            <a:extLst xmlns:a="http://schemas.openxmlformats.org/drawingml/2006/main">
              <a:ext uri="{FF2B5EF4-FFF2-40B4-BE49-F238E27FC236}">
                <a16:creationId xmlns:a16="http://schemas.microsoft.com/office/drawing/2014/main" id="{11F75F3C-AF20-43D6-A3E9-B28F012AC9A7}"/>
              </a:ext>
            </a:extLst>
          </p:cNvPr>
          <p:cNvSpPr>
            <a:spLocks xmlns:a="http://schemas.openxmlformats.org/drawingml/2006/main" noGrp="1"/>
          </p:cNvSpPr>
          <p:nvPr/>
        </p:nvSpPr>
        <p:spPr>
          <a:xfrm xmlns:a="http://schemas.openxmlformats.org/drawingml/2006/main">
            <a:off x="723900" y="34290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09C9318C-AA73-49CE-98A3-77F636771C03}"/>
              </a:ext>
            </a:extLst>
          </p:cNvPr>
          <p:cNvSpPr>
            <a:spLocks xmlns:a="http://schemas.openxmlformats.org/drawingml/2006/main" noGrp="1"/>
          </p:cNvSpPr>
          <p:nvPr/>
        </p:nvSpPr>
        <p:spPr>
          <a:xfrm xmlns:a="http://schemas.openxmlformats.org/drawingml/2006/main">
            <a:off x="1028700" y="34290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Phase 2: fünf E2E-Szenarien über Open WebUI melden PASS</a:t>
            </a:r>
          </a:p>
        </p:txBody>
      </p:sp>
      <p:sp>
        <p:nvSpPr>
          <p:cNvPr id="10" name="">
            <a:extLst xmlns:a="http://schemas.openxmlformats.org/drawingml/2006/main">
              <a:ext uri="{FF2B5EF4-FFF2-40B4-BE49-F238E27FC236}">
                <a16:creationId xmlns:a16="http://schemas.microsoft.com/office/drawing/2014/main" id="{4BB5865C-896C-491E-A320-D6A42A185CA9}"/>
              </a:ext>
            </a:extLst>
          </p:cNvPr>
          <p:cNvSpPr>
            <a:spLocks xmlns:a="http://schemas.openxmlformats.org/drawingml/2006/main" noGrp="1"/>
          </p:cNvSpPr>
          <p:nvPr/>
        </p:nvSpPr>
        <p:spPr>
          <a:xfrm xmlns:a="http://schemas.openxmlformats.org/drawingml/2006/main">
            <a:off x="723900" y="41148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EF990A79-FB28-4DD4-ABAC-512F7FD340D3}"/>
              </a:ext>
            </a:extLst>
          </p:cNvPr>
          <p:cNvSpPr>
            <a:spLocks xmlns:a="http://schemas.openxmlformats.org/drawingml/2006/main" noGrp="1"/>
          </p:cNvSpPr>
          <p:nvPr/>
        </p:nvSpPr>
        <p:spPr>
          <a:xfrm xmlns:a="http://schemas.openxmlformats.org/drawingml/2006/main">
            <a:off x="1028700" y="41148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Nur platform-diagnostics-tools besitzt Kubernetes-Leserechte</a:t>
            </a:r>
          </a:p>
        </p:txBody>
      </p:sp>
      <p:sp>
        <p:nvSpPr>
          <p:cNvPr id="12" name="">
            <a:extLst xmlns:a="http://schemas.openxmlformats.org/drawingml/2006/main">
              <a:ext uri="{FF2B5EF4-FFF2-40B4-BE49-F238E27FC236}">
                <a16:creationId xmlns:a16="http://schemas.microsoft.com/office/drawing/2014/main" id="{D00E3632-973C-421C-B857-F3C1D0CCA02C}"/>
              </a:ext>
            </a:extLst>
          </p:cNvPr>
          <p:cNvSpPr>
            <a:spLocks xmlns:a="http://schemas.openxmlformats.org/drawingml/2006/main" noGrp="1"/>
          </p:cNvSpPr>
          <p:nvPr/>
        </p:nvSpPr>
        <p:spPr>
          <a:xfrm xmlns:a="http://schemas.openxmlformats.org/drawingml/2006/main">
            <a:off x="723900" y="48006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2BCA4E9B-D18A-481B-A7A6-19BE45C974B0}"/>
              </a:ext>
            </a:extLst>
          </p:cNvPr>
          <p:cNvSpPr>
            <a:spLocks xmlns:a="http://schemas.openxmlformats.org/drawingml/2006/main" noGrp="1"/>
          </p:cNvSpPr>
          <p:nvPr/>
        </p:nvSpPr>
        <p:spPr>
          <a:xfrm xmlns:a="http://schemas.openxmlformats.org/drawingml/2006/main">
            <a:off x="1028700" y="48006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Git-Dry-Run enthält keine Tokens, Kubeconfigs oder generierten Quellen</a:t>
            </a:r>
          </a:p>
        </p:txBody>
      </p:sp>
      <p:sp>
        <p:nvSpPr>
          <p:cNvPr id="14" name="">
            <a:extLst xmlns:a="http://schemas.openxmlformats.org/drawingml/2006/main">
              <a:ext uri="{FF2B5EF4-FFF2-40B4-BE49-F238E27FC236}">
                <a16:creationId xmlns:a16="http://schemas.microsoft.com/office/drawing/2014/main" id="{9A07AA69-5FF5-491C-9977-E43A7FE657BE}"/>
              </a:ext>
            </a:extLst>
          </p:cNvPr>
          <p:cNvSpPr>
            <a:spLocks xmlns:a="http://schemas.openxmlformats.org/drawingml/2006/main" noGrp="1"/>
          </p:cNvSpPr>
          <p:nvPr/>
        </p:nvSpPr>
        <p:spPr>
          <a:xfrm xmlns:a="http://schemas.openxmlformats.org/drawingml/2006/main">
            <a:off x="723900" y="5657850"/>
            <a:ext cx="10382250" cy="495300"/>
          </a:xfrm>
          <a:prstGeom xmlns:a="http://schemas.openxmlformats.org/drawingml/2006/main" prst="rect">
            <a:avLst/>
          </a:prstGeom>
          <a:solidFill xmlns:a="http://schemas.openxmlformats.org/drawingml/2006/main">
            <a:srgbClr val="EEF7F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738575-FFC9-4A3E-88CC-D27E56847C6A}"/>
              </a:ext>
            </a:extLst>
          </p:cNvPr>
          <p:cNvSpPr>
            <a:spLocks xmlns:a="http://schemas.openxmlformats.org/drawingml/2006/main" noGrp="1"/>
          </p:cNvSpPr>
          <p:nvPr/>
        </p:nvSpPr>
        <p:spPr>
          <a:xfrm xmlns:a="http://schemas.openxmlformats.org/drawingml/2006/main">
            <a:off x="933450" y="5791200"/>
            <a:ext cx="996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Nächster Schritt: Runbook ausführen → Evidence prüfen → Review anfordern</a:t>
            </a:r>
          </a:p>
        </p:txBody>
      </p:sp>
      <p:sp>
        <p:nvSpPr>
          <p:cNvPr id="16" name="">
            <a:extLst xmlns:a="http://schemas.openxmlformats.org/drawingml/2006/main">
              <a:ext uri="{FF2B5EF4-FFF2-40B4-BE49-F238E27FC236}">
                <a16:creationId xmlns:a16="http://schemas.microsoft.com/office/drawing/2014/main" id="{29D30DC1-C8FF-40EA-9243-E7E784EA7EA7}"/>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ABSCHLUSS</a:t>
            </a:r>
          </a:p>
        </p:txBody>
      </p:sp>
      <p:sp>
        <p:nvSpPr>
          <p:cNvPr id="17" name="">
            <a:extLst xmlns:a="http://schemas.openxmlformats.org/drawingml/2006/main">
              <a:ext uri="{FF2B5EF4-FFF2-40B4-BE49-F238E27FC236}">
                <a16:creationId xmlns:a16="http://schemas.microsoft.com/office/drawing/2014/main" id="{3E8488DB-8D7A-4A96-958E-111AC445BBF1}"/>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19</a:t>
            </a:r>
          </a:p>
        </p:txBody>
      </p:sp>
    </p:spTree>
    <p:extLst>
      <p:ext uri="{BB962C8B-B14F-4D97-AF65-F5344CB8AC3E}">
        <p14:creationId xmlns:p14="http://schemas.microsoft.com/office/powerpoint/2010/main" val="19390510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2026-08-31T11:04:31.2040000Z</dcterms:created>
  <dcterms:modified xsi:type="dcterms:W3CDTF">2026-08-31T11:04:31.2040000Z</dcterms:modified>
</coreProperties>
</file>