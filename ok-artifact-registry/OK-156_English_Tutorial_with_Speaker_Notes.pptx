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905ec7e4ca4952" /><Relationship Type="http://schemas.openxmlformats.org/officeDocument/2006/relationships/extended-properties" Target="/docProps/app.xml" Id="R94daa313b7404914" /><Relationship Type="http://schemas.openxmlformats.org/officeDocument/2006/relationships/officeDocument" Target="/ppt/presentation.xml" Id="Re341ea7869ed42a2" /></Relationships>
</file>

<file path=ppt/presentation.xml><?xml version="1.0" encoding="utf-8"?>
<p:presentation xmlns:p="http://schemas.openxmlformats.org/presentationml/2006/main">
  <p:sldMasterIdLst>
    <p:sldMasterId xmlns:r="http://schemas.openxmlformats.org/officeDocument/2006/relationships" id="2147483648" r:id="Rc17fc322b7184233"/>
  </p:sldMasterIdLst>
  <p:notesMasterIdLst>
    <p:notesMasterId xmlns:r="http://schemas.openxmlformats.org/officeDocument/2006/relationships" r:id="Rd6f818c7e46c4f64"/>
  </p:notesMasterIdLst>
  <p:sldIdLst>
    <p:sldId xmlns:r="http://schemas.openxmlformats.org/officeDocument/2006/relationships" id="256" r:id="Rb3ccc3d9d0b54248"/>
    <p:sldId xmlns:r="http://schemas.openxmlformats.org/officeDocument/2006/relationships" id="257" r:id="Re6673f47a8d0489e"/>
    <p:sldId xmlns:r="http://schemas.openxmlformats.org/officeDocument/2006/relationships" id="258" r:id="Re71046f1e28142fc"/>
    <p:sldId xmlns:r="http://schemas.openxmlformats.org/officeDocument/2006/relationships" id="259" r:id="R3b7f89fb947c4aed"/>
    <p:sldId xmlns:r="http://schemas.openxmlformats.org/officeDocument/2006/relationships" id="260" r:id="R5ce0ea6027c94338"/>
    <p:sldId xmlns:r="http://schemas.openxmlformats.org/officeDocument/2006/relationships" id="261" r:id="R28c75c6aaa324eec"/>
    <p:sldId xmlns:r="http://schemas.openxmlformats.org/officeDocument/2006/relationships" id="262" r:id="Rfe34f93714a34144"/>
    <p:sldId xmlns:r="http://schemas.openxmlformats.org/officeDocument/2006/relationships" id="263" r:id="R3bbfa86e49de4534"/>
    <p:sldId xmlns:r="http://schemas.openxmlformats.org/officeDocument/2006/relationships" id="264" r:id="Rbc76484ddaa34171"/>
    <p:sldId xmlns:r="http://schemas.openxmlformats.org/officeDocument/2006/relationships" id="265" r:id="R25eae2c0e1a14039"/>
    <p:sldId xmlns:r="http://schemas.openxmlformats.org/officeDocument/2006/relationships" id="266" r:id="R871a80bfbeb44286"/>
    <p:sldId xmlns:r="http://schemas.openxmlformats.org/officeDocument/2006/relationships" id="267" r:id="R80076d3a445f423c"/>
    <p:sldId xmlns:r="http://schemas.openxmlformats.org/officeDocument/2006/relationships" id="268" r:id="R81917548010948cf"/>
    <p:sldId xmlns:r="http://schemas.openxmlformats.org/officeDocument/2006/relationships" id="269" r:id="R58add088ae924bce"/>
    <p:sldId xmlns:r="http://schemas.openxmlformats.org/officeDocument/2006/relationships" id="270" r:id="R58ac97b650044aa5"/>
    <p:sldId xmlns:r="http://schemas.openxmlformats.org/officeDocument/2006/relationships" id="271" r:id="R636a2635658747cb"/>
    <p:sldId xmlns:r="http://schemas.openxmlformats.org/officeDocument/2006/relationships" id="272" r:id="R804ad7656f0441be"/>
    <p:sldId xmlns:r="http://schemas.openxmlformats.org/officeDocument/2006/relationships" id="273" r:id="Ra5987f72d8b44697"/>
    <p:sldId xmlns:r="http://schemas.openxmlformats.org/officeDocument/2006/relationships" id="274" r:id="R1390fcedbf1843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2a0dc486f417b" /><Relationship Type="http://schemas.openxmlformats.org/officeDocument/2006/relationships/slideMaster" Target="/ppt/slideMasters/slideMaster1.xml" Id="Rc17fc322b7184233" /><Relationship Type="http://schemas.openxmlformats.org/officeDocument/2006/relationships/notesMaster" Target="/ppt/notesMasters/notesMaster1.xml" Id="Rd6f818c7e46c4f64" /><Relationship Type="http://schemas.openxmlformats.org/officeDocument/2006/relationships/presProps" Target="/ppt/presProps.xml" Id="Rc7eb0626f0694f6b" /><Relationship Type="http://schemas.openxmlformats.org/officeDocument/2006/relationships/tableStyles" Target="/ppt/tableStyles.xml" Id="Re87bd18a635e40eb" /><Relationship Type="http://schemas.openxmlformats.org/officeDocument/2006/relationships/slide" Target="/ppt/slides/slide1.xml" Id="Rb3ccc3d9d0b54248" /><Relationship Type="http://schemas.openxmlformats.org/officeDocument/2006/relationships/slide" Target="/ppt/slides/slide2.xml" Id="Re6673f47a8d0489e" /><Relationship Type="http://schemas.openxmlformats.org/officeDocument/2006/relationships/slide" Target="/ppt/slides/slide3.xml" Id="Re71046f1e28142fc" /><Relationship Type="http://schemas.openxmlformats.org/officeDocument/2006/relationships/slide" Target="/ppt/slides/slide4.xml" Id="R3b7f89fb947c4aed" /><Relationship Type="http://schemas.openxmlformats.org/officeDocument/2006/relationships/slide" Target="/ppt/slides/slide5.xml" Id="R5ce0ea6027c94338" /><Relationship Type="http://schemas.openxmlformats.org/officeDocument/2006/relationships/slide" Target="/ppt/slides/slide6.xml" Id="R28c75c6aaa324eec" /><Relationship Type="http://schemas.openxmlformats.org/officeDocument/2006/relationships/slide" Target="/ppt/slides/slide7.xml" Id="Rfe34f93714a34144" /><Relationship Type="http://schemas.openxmlformats.org/officeDocument/2006/relationships/slide" Target="/ppt/slides/slide8.xml" Id="R3bbfa86e49de4534" /><Relationship Type="http://schemas.openxmlformats.org/officeDocument/2006/relationships/slide" Target="/ppt/slides/slide9.xml" Id="Rbc76484ddaa34171" /><Relationship Type="http://schemas.openxmlformats.org/officeDocument/2006/relationships/slide" Target="/ppt/slides/slide10.xml" Id="R25eae2c0e1a14039" /><Relationship Type="http://schemas.openxmlformats.org/officeDocument/2006/relationships/slide" Target="/ppt/slides/slide11.xml" Id="R871a80bfbeb44286" /><Relationship Type="http://schemas.openxmlformats.org/officeDocument/2006/relationships/slide" Target="/ppt/slides/slide12.xml" Id="R80076d3a445f423c" /><Relationship Type="http://schemas.openxmlformats.org/officeDocument/2006/relationships/slide" Target="/ppt/slides/slide13.xml" Id="R81917548010948cf" /><Relationship Type="http://schemas.openxmlformats.org/officeDocument/2006/relationships/slide" Target="/ppt/slides/slide14.xml" Id="R58add088ae924bce" /><Relationship Type="http://schemas.openxmlformats.org/officeDocument/2006/relationships/slide" Target="/ppt/slides/slide15.xml" Id="R58ac97b650044aa5" /><Relationship Type="http://schemas.openxmlformats.org/officeDocument/2006/relationships/slide" Target="/ppt/slides/slide16.xml" Id="R636a2635658747cb" /><Relationship Type="http://schemas.openxmlformats.org/officeDocument/2006/relationships/slide" Target="/ppt/slides/slide17.xml" Id="R804ad7656f0441be" /><Relationship Type="http://schemas.openxmlformats.org/officeDocument/2006/relationships/slide" Target="/ppt/slides/slide18.xml" Id="Ra5987f72d8b44697" /><Relationship Type="http://schemas.openxmlformats.org/officeDocument/2006/relationships/slide" Target="/ppt/slides/slide19.xml" Id="R1390fcedbf1843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340420df9645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c52ca013214599" /><Relationship Type="http://schemas.openxmlformats.org/officeDocument/2006/relationships/notesMaster" Target="/ppt/notesMasters/notesMaster1.xml" Id="Rb384ae3ebeb540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364f26f2864351" /><Relationship Type="http://schemas.openxmlformats.org/officeDocument/2006/relationships/notesMaster" Target="/ppt/notesMasters/notesMaster1.xml" Id="R0638bd5a376f4c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37e0550dbb4480" /><Relationship Type="http://schemas.openxmlformats.org/officeDocument/2006/relationships/notesMaster" Target="/ppt/notesMasters/notesMaster1.xml" Id="R2ef28d7a89384b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dce0cdc1114285" /><Relationship Type="http://schemas.openxmlformats.org/officeDocument/2006/relationships/notesMaster" Target="/ppt/notesMasters/notesMaster1.xml" Id="R1eb8934c684047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3beb14b95746b8" /><Relationship Type="http://schemas.openxmlformats.org/officeDocument/2006/relationships/notesMaster" Target="/ppt/notesMasters/notesMaster1.xml" Id="Rea9f8fc48d66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e12b57555c4160" /><Relationship Type="http://schemas.openxmlformats.org/officeDocument/2006/relationships/notesMaster" Target="/ppt/notesMasters/notesMaster1.xml" Id="R78907979e1b94c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bd5d8c4d7a4e3d" /><Relationship Type="http://schemas.openxmlformats.org/officeDocument/2006/relationships/notesMaster" Target="/ppt/notesMasters/notesMaster1.xml" Id="R571a848e906645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e87ac1e9c84ab2" /><Relationship Type="http://schemas.openxmlformats.org/officeDocument/2006/relationships/notesMaster" Target="/ppt/notesMasters/notesMaster1.xml" Id="R2b66957586ce4a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d2647d30a64725" /><Relationship Type="http://schemas.openxmlformats.org/officeDocument/2006/relationships/notesMaster" Target="/ppt/notesMasters/notesMaster1.xml" Id="R71b94b07d4e245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b7bbcd16dc4a4d" /><Relationship Type="http://schemas.openxmlformats.org/officeDocument/2006/relationships/notesMaster" Target="/ppt/notesMasters/notesMaster1.xml" Id="R4b279c8df1d140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c5c2df492f4c3a" /><Relationship Type="http://schemas.openxmlformats.org/officeDocument/2006/relationships/notesMaster" Target="/ppt/notesMasters/notesMaster1.xml" Id="R3674c1b1e4eb40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575468ee2c4f68" /><Relationship Type="http://schemas.openxmlformats.org/officeDocument/2006/relationships/notesMaster" Target="/ppt/notesMasters/notesMaster1.xml" Id="Rfcc4d08b5c7545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11021c5168425a" /><Relationship Type="http://schemas.openxmlformats.org/officeDocument/2006/relationships/notesMaster" Target="/ppt/notesMasters/notesMaster1.xml" Id="R4f2b690af59540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2cf7ab84034032" /><Relationship Type="http://schemas.openxmlformats.org/officeDocument/2006/relationships/notesMaster" Target="/ppt/notesMasters/notesMaster1.xml" Id="Re24b7c1b48db42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41fb2e7dfa4060" /><Relationship Type="http://schemas.openxmlformats.org/officeDocument/2006/relationships/notesMaster" Target="/ppt/notesMasters/notesMaster1.xml" Id="R042a037f5db645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506f3e1f6c44ca" /><Relationship Type="http://schemas.openxmlformats.org/officeDocument/2006/relationships/notesMaster" Target="/ppt/notesMasters/notesMaster1.xml" Id="Rd613d4c82fdc49e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a2bad881e94c6b" /><Relationship Type="http://schemas.openxmlformats.org/officeDocument/2006/relationships/notesMaster" Target="/ppt/notesMasters/notesMaster1.xml" Id="Re04e132861fb48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b54df98adf45fe" /><Relationship Type="http://schemas.openxmlformats.org/officeDocument/2006/relationships/notesMaster" Target="/ppt/notesMasters/notesMaster1.xml" Id="Ra0b18f97ecdf42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c4b1835fdd4b86" /><Relationship Type="http://schemas.openxmlformats.org/officeDocument/2006/relationships/notesMaster" Target="/ppt/notesMasters/notesMaster1.xml" Id="R71fd1028b06c41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the OK-156 tutorial. In this presentation, we build the complete local diagnostic path step by step. The goal is not only to run the components, but also to understand the role of each component and where the security boundaries are enforced. The read-only approach is especially important: the AI may observe and explain Kubernetes, but it may not change workloads. By the end, you will know the installation order, the essential Make commands, useful questions to ask the AI, and the tests that prove the implementation.</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/Users/christopherschuf/Desktop/kubernauts/ok-local/kagent/README.md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defines the scope. First, we want to understand the architecture: ok-mgmt-local manages, while ok-infra-local runs the workloads. Second, we learn the installation order: the local foundation comes first, followed by read-only kagent diagnostics and the OpenClaw integration. Third, we practice concrete questions for the AI. Fourth, we verify the security boundaries technically, not only through prompts. This last point is crucial: a prompt is not access control. The hard boundary comes from ServiceAccounts, RBAC, missing token mounts, and the restriction to three MCP functions.</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/Users/christopherschuf/Desktop/kubernauts/ok-local/kagent/README.md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environment simulates two production roles. The management cluster contains Crossplane and describes what should be deployed to the infra cluster. The infra cluster carries the actual workload: Ollama provides the local model, Open WebUI is the user interface, kagent executes the Kubernetes tools, and OpenClaw consumes the diagnostic functions. This separation matters because it lets us control which identity accesses which cluster even in a local setup. SSH tunnels make both Kubernetes APIs reachable from the Mac without merging their roles.</a:t>
            </a:r>
          </a:p>
          <a:p xmlns:a="http://schemas.openxmlformats.org/drawingml/2006/main">
            <a:r>
              <a:t/>
            </a:r>
          </a:p>
          <a:p xmlns:a="http://schemas.openxmlformats.org/drawingml/2006/main">
            <a:r>
              <a:t>[Sources]</a:t>
            </a:r>
          </a:p>
          <a:p xmlns:a="http://schemas.openxmlformats.org/drawingml/2006/main">
            <a:r>
              <a:t>- /Users/christopherschuf/Desktop/kubernauts/ok-local/README.md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installation is deliberately sequential. The local foundation creates the infrastructure and user interface. Read-only kagent diagnostics are installed separately and prove Kubernetes access with three fixtures: healthy, ImagePullBackOff, and CrashLoopBackOff. Only then do we add OpenClaw, the MCP adapter, and the facade. This keeps the number of unknown components small when troubleshooting a failure. Each building block is complete only when its own verification command succeeds.</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/Users/christopherschuf/Desktop/kubernauts/ok-local/kagent/README.md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installing, we check the local environment. Multipass provides the VMs, kubectl and Helm operate Kubernetes, Git downloads the pinned sources, and Python runs the verifiers. The branch is especially important: a fresh clone must contain the revision where kagent and openclaw are present. After make setup, we check both nodes. If either node is not Ready, we do not proceed with Crossplane or Ollama. This keeps troubleshooting focused and traceable.</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foundation consists of four building blocks. make setup creates the clusters and KubeVirt. Crossplane runs on the management cluster and receives provider configurations for ok-infra-local. Ollama runs on the infra cluster and provides the local Qwen3 model. Open WebUI is also deployed to the infra cluster and later becomes the real entry point for the acceptance tests. The generated ollama and platform directories are local render outputs and are not committed to Git.</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checks are the acceptance criteria for the local foundation. Both Kubernetes nodes must be Ready. The Crossplane providers must report Healthy because otherwise Open WebUI cannot be deployed reliably to the infra cluster. Ollama must be ready and list the Qwen3 model. Finally, Open WebUI and Redis must be running. If any condition is missing, we stop here and fix the foundation first. This saves time later because integration failures are often missing prerequisites in disguise.</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install kagent separately. The controller coordinates agents, PostgreSQL stores state, and the dashboard supports manual tests. The Kubernetes tool server has a deliberately restricted ServiceAccount identity. It may read normal resources, but it cannot access secrets or perform write operations. Three fixtures provide reproducible cases: a healthy pod, a pod with an invalid image, and a container that repeatedly exits with code 42. This proves the diagnostic capability before OpenClaw is integrated.</a:t>
            </a:r>
          </a:p>
          <a:p xmlns:a="http://schemas.openxmlformats.org/drawingml/2006/main">
            <a:r>
              <a:t/>
            </a:r>
          </a:p>
          <a:p xmlns:a="http://schemas.openxmlformats.org/drawingml/2006/main">
            <a:r>
              <a:t>[Sources]</a:t>
            </a:r>
          </a:p>
          <a:p xmlns:a="http://schemas.openxmlformats.org/drawingml/2006/main">
            <a:r>
              <a:t>- /Users/christopherschuf/Desktop/kubernauts/ok-local/kagent/README.md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fixtures are not random failures; they are deliberately created test cases. Healthy must be Running and Ready. Imagepull uses an unavailable image and should therefore remain Pending with ImagePullBackOff or ErrImagePull. Crashloop deliberately exits the container with code 42. Between restarts, K3s may briefly show the pod as Error, so the decisive evidence is the restart count and BackOff events. These clear expectations prevent a plausible-sounding but incorrect AI answer from being accepted as a success.</a:t>
            </a:r>
          </a:p>
          <a:p xmlns:a="http://schemas.openxmlformats.org/drawingml/2006/main">
            <a:r>
              <a:t/>
            </a:r>
          </a:p>
          <a:p xmlns:a="http://schemas.openxmlformats.org/drawingml/2006/main">
            <a:r>
              <a:t>[Sources]</a:t>
            </a:r>
          </a:p>
          <a:p xmlns:a="http://schemas.openxmlformats.org/drawingml/2006/main">
            <a:r>
              <a:t>- /Users/christopherschuf/Desktop/kubernauts/ok-local/kagent/README.md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kagent workflow is intentionally simple. Preflight downloads only pinned sources and checks prerequisites. Install is idempotent and can be run again. Status shows the running components. verify-kagent performs the complete live verification. A successful run ends with kagent verification PASS and proves both functionality and the RBAC boundaries.</a:t>
            </a:r>
          </a:p>
          <a:p xmlns:a="http://schemas.openxmlformats.org/drawingml/2006/main">
            <a:r>
              <a:t/>
            </a:r>
          </a:p>
          <a:p xmlns:a="http://schemas.openxmlformats.org/drawingml/2006/main">
            <a:r>
              <a:t>[Sources]</a:t>
            </a:r>
          </a:p>
          <a:p xmlns:a="http://schemas.openxmlformats.org/drawingml/2006/main">
            <a:r>
              <a:t>- /Users/christopherschuf/Desktop/kubernauts/ok-local/kagent/README.md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follow the complete path. The user signs in to Open WebUI. Open WebUI authenticates to OpenClaw with a separate gateway token. OpenClaw has no Kubernetes identity of its own and may call only three MCP functions. The adapter translates an MCP call into the diagnostic contract, the facade coordinates kagent, and only the tool server accesses the Kubernetes API with a read-only ServiceAccount. This separation is the central security principle of the OpenClaw integration.</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OpenClaw does not receive the complete kagent tool catalog. The patched configuration allows exactly three external functions. get_platform_health answers questions about cluster health. investigate_workload analyzes a specific workload. collect_diagnostic_evidence gathers evidence. The verifier reads the MCP probe as JSON and compares the tool set exactly. An unexpected fourth function would fail the test. This is stronger than merely checking whether the three expected names appear somewhere in the output.</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soft controls from hard controls. A prompt can tell the model not to change anything, but it cannot technically prevent access. Therefore, OpenClaw, the adapter, and the facade have no Kubernetes token. The kagent agents also do not mount a normal Kubernetes API token; they retain only an audience-bound kagent token. Only the platform-diagnostics-tools pod uses the Kubernetes ServiceAccount. Its ClusterRole permits only get, list, and watch on selected resources. Secret access, writes, and wildcards are excluded and checked live with kubectl auth can-i.</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 openclaw install is the central integration command. It checks prerequisites, loads the pinned Qwen3 Instruct variant, installs all deployments, hardens the agent ServiceAccounts, configures Open WebUI, and finally starts make verify. Because the local model runs on the CPU, the E2E portion takes much longer than the Kubernetes rollouts. This is expected. For a verification-only rerun, use make -C openclaw verify. For status information without lengthy model calls, use make -C openclaw status.</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manual tests, select the openclaw/default model in Open WebUI. Good questions include the ok-infra-local cluster, the kagent-lab namespace, and an unambiguous workload name. The AI may explain and collect evidence, but it may not restart, delete, or patch anything. If someone asks it to 'fix the pod,' the system may only formulate a recommendation. The automated acceptance test uses even stricter prompts and checks that the arguments reach the diagnostic function unchanged.</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versioned acceptance file shows five successful scenarios. Platform Health took about 278 seconds, Healthy about 132 seconds, ImagePullBackOff about 913 seconds, CrashLoopBackOff about 827 seconds, and Evidence about 136 seconds. These long durations result from serial local model calls on the CPU. What matters is that every call went through the authenticated Open WebUI entry point rather than bypassing it with direct OpenClaw tests. The evidence file stores only hashes, durations, and resource maxima—not prompts, responses, or secrets.</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measurements show that Ollama dominates the resource footprint. In the latest run, Ollama reached almost four CPU cores and about 4.26 GiB of RAM. OpenClaw remained at roughly 405 MiB of RAM, while the facade, adapter, and tool server were considerably smaller. The configuration therefore uses a Q4-quantized 4B model, a consistent 10,240-token context, Flash Attention, and limited caches. Different context sizes could create multiple KV caches and exceed the local 6 GiB Ollama limit.</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operations, we distinguish three questions. verify checks static rules, live state, RBAC, and all five E2E scenarios. restart-test restarts the tool server, agents, facade, adapter, and OpenClaw, then checks recovery without the lengthy E2E portion. lifecycle-test removes only the OpenClaw integration, confirms a clean removal, reinstalls it identically, and performs the complete verification. kagent, Ollama, Open WebUI, and the VMs remain in place.</a:t>
            </a:r>
          </a:p>
          <a:p xmlns:a="http://schemas.openxmlformats.org/drawingml/2006/main">
            <a:r>
              <a:t/>
            </a:r>
          </a:p>
          <a:p xmlns:a="http://schemas.openxmlformats.org/drawingml/2006/main">
            <a:r>
              <a:t>[Sources]</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finish, we check more than whether pods are running. The local foundation must provide its required states. Read-only kagent must pass verify-kagent. The OpenClaw integration must pass all five scenarios through Open WebUI. The ServiceAccount evidence must show that only platform-diagnostics-tools can read pods. Finally, git add --dry-run must confirm that no tokens, kubeconfigs, or generated directories would enter the commit. When these conditions are met, the implementation is reproducible, securely bounded, and ready for review and acceptance.</a:t>
            </a:r>
          </a:p>
          <a:p xmlns:a="http://schemas.openxmlformats.org/drawingml/2006/main">
            <a:r>
              <a:t/>
            </a:r>
          </a:p>
          <a:p xmlns:a="http://schemas.openxmlformats.org/drawingml/2006/main">
            <a:r>
              <a:t>[Sources]</a:t>
            </a:r>
          </a:p>
          <a:p xmlns:a="http://schemas.openxmlformats.org/drawingml/2006/main">
            <a:r>
              <a:t>- /Users/christopherschuf/Desktop/kubernauts/ok-local/README.md</a:t>
            </a:r>
          </a:p>
          <a:p xmlns:a="http://schemas.openxmlformats.org/drawingml/2006/main">
            <a:r>
              <a:t>- /Users/christopherschuf/Desktop/kubernauts/ok-local/kagent/README.md</a:t>
            </a:r>
          </a:p>
          <a:p xmlns:a="http://schemas.openxmlformats.org/drawingml/2006/main">
            <a:r>
              <a:t>- /Users/christopherschuf/Desktop/kubernauts/ok-local/openclaw/README.md</a:t>
            </a:r>
          </a:p>
          <a:p xmlns:a="http://schemas.openxmlformats.org/drawingml/2006/main">
            <a:r>
              <a:t>- /Users/christopherschuf/Desktop/kubernauts/ok-local/openclaw/README.md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7fd98d59ae45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2c819734034b0e" /><Relationship Type="http://schemas.openxmlformats.org/officeDocument/2006/relationships/slideLayout" Target="/ppt/slideLayouts/slideLayout1.xml" Id="Rfb692536355a4f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692536355a4f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cdf5f819f94697" /><Relationship Type="http://schemas.openxmlformats.org/officeDocument/2006/relationships/notesSlide" Target="/ppt/notesSlides/notesSlide1.xml" Id="R4d2a0188002145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e46a3e47ff49a5" /><Relationship Type="http://schemas.openxmlformats.org/officeDocument/2006/relationships/notesSlide" Target="/ppt/notesSlides/notesSlide2.xml" Id="R5b528a53194347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14a2f8efd2408c" /><Relationship Type="http://schemas.openxmlformats.org/officeDocument/2006/relationships/notesSlide" Target="/ppt/notesSlides/notesSlide3.xml" Id="R242d86d545c44b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4fec78e51d48ae" /><Relationship Type="http://schemas.openxmlformats.org/officeDocument/2006/relationships/notesSlide" Target="/ppt/notesSlides/notesSlide4.xml" Id="Ra83c4dde4a5e4e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8231f1a97646f8" /><Relationship Type="http://schemas.openxmlformats.org/officeDocument/2006/relationships/notesSlide" Target="/ppt/notesSlides/notesSlide5.xml" Id="R8181c50fe84344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3ee9f2cf444b6f" /><Relationship Type="http://schemas.openxmlformats.org/officeDocument/2006/relationships/notesSlide" Target="/ppt/notesSlides/notesSlide6.xml" Id="R4aea81e1e5054b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acddc99ec44529" /><Relationship Type="http://schemas.openxmlformats.org/officeDocument/2006/relationships/notesSlide" Target="/ppt/notesSlides/notesSlide7.xml" Id="Rdc5e00471b7c4f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ae5258ea824e88" /><Relationship Type="http://schemas.openxmlformats.org/officeDocument/2006/relationships/notesSlide" Target="/ppt/notesSlides/notesSlide8.xml" Id="R96d18f8525a840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94840811924e97" /><Relationship Type="http://schemas.openxmlformats.org/officeDocument/2006/relationships/notesSlide" Target="/ppt/notesSlides/notesSlide9.xml" Id="R59e43fa3383741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5e0a03199d41c7" /><Relationship Type="http://schemas.openxmlformats.org/officeDocument/2006/relationships/notesSlide" Target="/ppt/notesSlides/notesSlide10.xml" Id="R2d837799087445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a77d0c93e24a98" /><Relationship Type="http://schemas.openxmlformats.org/officeDocument/2006/relationships/notesSlide" Target="/ppt/notesSlides/notesSlide11.xml" Id="R3feca7cccc0949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b5b55b08e44419" /><Relationship Type="http://schemas.openxmlformats.org/officeDocument/2006/relationships/notesSlide" Target="/ppt/notesSlides/notesSlide12.xml" Id="R94f86a0ad2384a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c5bddb452e74594" /><Relationship Type="http://schemas.openxmlformats.org/officeDocument/2006/relationships/notesSlide" Target="/ppt/notesSlides/notesSlide13.xml" Id="R7dd1f5a413084b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85ba2ec5de4e6c" /><Relationship Type="http://schemas.openxmlformats.org/officeDocument/2006/relationships/notesSlide" Target="/ppt/notesSlides/notesSlide14.xml" Id="R9248c476f3f247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2dd803e6ad4913" /><Relationship Type="http://schemas.openxmlformats.org/officeDocument/2006/relationships/notesSlide" Target="/ppt/notesSlides/notesSlide15.xml" Id="R98d0b18f8b5142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d988e1f90f45c7" /><Relationship Type="http://schemas.openxmlformats.org/officeDocument/2006/relationships/notesSlide" Target="/ppt/notesSlides/notesSlide16.xml" Id="R20ee6282435144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9b658bd4ecd41ef" /><Relationship Type="http://schemas.openxmlformats.org/officeDocument/2006/relationships/notesSlide" Target="/ppt/notesSlides/notesSlide17.xml" Id="Rc508700fb13144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983708730744ae7" /><Relationship Type="http://schemas.openxmlformats.org/officeDocument/2006/relationships/notesSlide" Target="/ppt/notesSlides/notesSlide18.xml" Id="R24b7367e763e48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7b0449dff4d4b54" /><Relationship Type="http://schemas.openxmlformats.org/officeDocument/2006/relationships/notesSlide" Target="/ppt/notesSlides/notesSlide19.xml" Id="R05bb52cf3a864c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54F6A6-E4C3-4397-BCB7-D5E5C42FAEF0}"/>
              </a:ext>
            </a:extLst>
          </p:cNvPr>
          <p:cNvSpPr>
            <a:spLocks xmlns:a="http://schemas.openxmlformats.org/drawingml/2006/main" noGrp="1"/>
          </p:cNvSpPr>
          <p:nvPr/>
        </p:nvSpPr>
        <p:spPr>
          <a:xfrm xmlns:a="http://schemas.openxmlformats.org/drawingml/2006/main">
            <a:off x="6667500" y="0"/>
            <a:ext cx="5524500" cy="68580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66242C-1999-464A-BCA7-6AF87A63A076}"/>
              </a:ext>
            </a:extLst>
          </p:cNvPr>
          <p:cNvSpPr>
            <a:spLocks xmlns:a="http://schemas.openxmlformats.org/drawingml/2006/main" noGrp="1"/>
          </p:cNvSpPr>
          <p:nvPr/>
        </p:nvSpPr>
        <p:spPr>
          <a:xfrm xmlns:a="http://schemas.openxmlformats.org/drawingml/2006/main">
            <a:off x="590550" y="5524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OK-156</a:t>
            </a:r>
          </a:p>
        </p:txBody>
      </p:sp>
      <p:sp>
        <p:nvSpPr>
          <p:cNvPr id="3" name="deck-title">
            <a:extLst xmlns:a="http://schemas.openxmlformats.org/drawingml/2006/main">
              <a:ext uri="{FF2B5EF4-FFF2-40B4-BE49-F238E27FC236}">
                <a16:creationId xmlns:a16="http://schemas.microsoft.com/office/drawing/2014/main" id="{CB65B156-9475-4BD4-A356-F2C6CE94DFF0}"/>
              </a:ext>
            </a:extLst>
          </p:cNvPr>
          <p:cNvSpPr>
            <a:spLocks xmlns:a="http://schemas.openxmlformats.org/drawingml/2006/main" noGrp="1"/>
          </p:cNvSpPr>
          <p:nvPr/>
        </p:nvSpPr>
        <p:spPr>
          <a:xfrm xmlns:a="http://schemas.openxmlformats.org/drawingml/2006/main">
            <a:off x="590550" y="1638300"/>
            <a:ext cx="5619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111111"/>
                </a:solidFill>
                <a:latin typeface="Helvetica Neue"/>
                <a:ea typeface="Helvetica Neue"/>
                <a:cs typeface="Helvetica Neue"/>
              </a:defRPr>
            </a:pPr>
            <a:r>
              <a:rPr sz="4350" b="1">
                <a:solidFill>
                  <a:srgbClr val="111111"/>
                </a:solidFill>
                <a:latin typeface="Helvetica Neue"/>
                <a:ea typeface="Helvetica Neue"/>
                <a:cs typeface="Helvetica Neue"/>
              </a:rPr>
              <a:t>Local AI Diagnostics</a:t>
            </a:r>
          </a:p>
          <a:p xmlns:a="http://schemas.openxmlformats.org/drawingml/2006/main">
            <a:pPr algn="l">
              <a:defRPr sz="4350" b="1">
                <a:solidFill>
                  <a:srgbClr val="111111"/>
                </a:solidFill>
                <a:latin typeface="Helvetica Neue"/>
                <a:ea typeface="Helvetica Neue"/>
                <a:cs typeface="Helvetica Neue"/>
              </a:defRPr>
            </a:pPr>
            <a:r>
              <a:rPr sz="4350" b="1">
                <a:solidFill>
                  <a:srgbClr val="111111"/>
                </a:solidFill>
                <a:latin typeface="Helvetica Neue"/>
                <a:ea typeface="Helvetica Neue"/>
                <a:cs typeface="Helvetica Neue"/>
              </a:rPr>
              <a:t>for Kubernetes</a:t>
            </a:r>
          </a:p>
        </p:txBody>
      </p:sp>
      <p:sp>
        <p:nvSpPr>
          <p:cNvPr id="4" name="">
            <a:extLst xmlns:a="http://schemas.openxmlformats.org/drawingml/2006/main">
              <a:ext uri="{FF2B5EF4-FFF2-40B4-BE49-F238E27FC236}">
                <a16:creationId xmlns:a16="http://schemas.microsoft.com/office/drawing/2014/main" id="{086B7A8D-4E24-4EC4-BE8B-3B76CDEC1D8C}"/>
              </a:ext>
            </a:extLst>
          </p:cNvPr>
          <p:cNvSpPr>
            <a:spLocks xmlns:a="http://schemas.openxmlformats.org/drawingml/2006/main" noGrp="1"/>
          </p:cNvSpPr>
          <p:nvPr/>
        </p:nvSpPr>
        <p:spPr>
          <a:xfrm xmlns:a="http://schemas.openxmlformats.org/drawingml/2006/main">
            <a:off x="590550" y="3638550"/>
            <a:ext cx="514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5D6570"/>
                </a:solidFill>
                <a:latin typeface="Helvetica Neue"/>
                <a:ea typeface="Helvetica Neue"/>
                <a:cs typeface="Helvetica Neue"/>
              </a:defRPr>
            </a:pPr>
            <a:r>
              <a:rPr sz="1875" b="0">
                <a:solidFill>
                  <a:srgbClr val="5D6570"/>
                </a:solidFill>
                <a:latin typeface="Helvetica Neue"/>
                <a:ea typeface="Helvetica Neue"/>
                <a:cs typeface="Helvetica Neue"/>
              </a:rPr>
              <a:t>Complete local setup</a:t>
            </a:r>
          </a:p>
          <a:p xmlns:a="http://schemas.openxmlformats.org/drawingml/2006/main">
            <a:pPr algn="l">
              <a:defRPr sz="1875" b="0">
                <a:solidFill>
                  <a:srgbClr val="5D6570"/>
                </a:solidFill>
                <a:latin typeface="Helvetica Neue"/>
                <a:ea typeface="Helvetica Neue"/>
                <a:cs typeface="Helvetica Neue"/>
              </a:defRPr>
            </a:pPr>
            <a:r>
              <a:rPr sz="1875" b="0">
                <a:solidFill>
                  <a:srgbClr val="5D6570"/>
                </a:solidFill>
                <a:latin typeface="Helvetica Neue"/>
                <a:ea typeface="Helvetica Neue"/>
                <a:cs typeface="Helvetica Neue"/>
              </a:rPr>
              <a:t>with Open WebUI, OpenClaw, and kagent</a:t>
            </a:r>
          </a:p>
        </p:txBody>
      </p:sp>
      <p:cxnSp>
        <p:nvCxnSpPr>
          <p:cNvPr id="15" name=""/>
          <p:cNvCxnSpPr/>
          <p:nvPr/>
        </p:nvCxnSpPr>
        <p:spPr>
          <a:xfrm xmlns:a="http://schemas.openxmlformats.org/drawingml/2006/main">
            <a:off x="7239000" y="1562100"/>
            <a:ext cx="3714750" cy="0"/>
          </a:xfrm>
          <a:prstGeom xmlns:a="http://schemas.openxmlformats.org/drawingml/2006/main" prst="straightConnector1">
            <a:avLst/>
          </a:prstGeom>
          <a:ln xmlns:a="http://schemas.openxmlformats.org/drawingml/2006/main" w="38100">
            <a:solidFill>
              <a:srgbClr val="3D8DFF"/>
            </a:solidFill>
            <a:prstDash val="solid"/>
          </a:ln>
        </p:spPr>
      </p:cxnSp>
      <p:sp>
        <p:nvSpPr>
          <p:cNvPr id="6" name="">
            <a:extLst xmlns:a="http://schemas.openxmlformats.org/drawingml/2006/main">
              <a:ext uri="{FF2B5EF4-FFF2-40B4-BE49-F238E27FC236}">
                <a16:creationId xmlns:a16="http://schemas.microsoft.com/office/drawing/2014/main" id="{4B7EA245-F5EB-445F-AD55-4CA8590240E7}"/>
              </a:ext>
            </a:extLst>
          </p:cNvPr>
          <p:cNvSpPr>
            <a:spLocks xmlns:a="http://schemas.openxmlformats.org/drawingml/2006/main" noGrp="1"/>
          </p:cNvSpPr>
          <p:nvPr/>
        </p:nvSpPr>
        <p:spPr>
          <a:xfrm xmlns:a="http://schemas.openxmlformats.org/drawingml/2006/main">
            <a:off x="7239000" y="18669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READ-ONLY</a:t>
            </a:r>
          </a:p>
        </p:txBody>
      </p:sp>
      <p:sp>
        <p:nvSpPr>
          <p:cNvPr id="7" name="">
            <a:extLst xmlns:a="http://schemas.openxmlformats.org/drawingml/2006/main">
              <a:ext uri="{FF2B5EF4-FFF2-40B4-BE49-F238E27FC236}">
                <a16:creationId xmlns:a16="http://schemas.microsoft.com/office/drawing/2014/main" id="{4D841BB7-67B0-4738-929F-C52386D2C06F}"/>
              </a:ext>
            </a:extLst>
          </p:cNvPr>
          <p:cNvSpPr>
            <a:spLocks xmlns:a="http://schemas.openxmlformats.org/drawingml/2006/main" noGrp="1"/>
          </p:cNvSpPr>
          <p:nvPr/>
        </p:nvSpPr>
        <p:spPr>
          <a:xfrm xmlns:a="http://schemas.openxmlformats.org/drawingml/2006/main">
            <a:off x="7239000" y="2571750"/>
            <a:ext cx="3905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11111"/>
                </a:solidFill>
                <a:latin typeface="Helvetica Neue"/>
                <a:ea typeface="Helvetica Neue"/>
                <a:cs typeface="Helvetica Neue"/>
              </a:defRPr>
            </a:pPr>
            <a:r>
              <a:rPr sz="2550" b="1">
                <a:solidFill>
                  <a:srgbClr val="111111"/>
                </a:solidFill>
                <a:latin typeface="Helvetica Neue"/>
                <a:ea typeface="Helvetica Neue"/>
                <a:cs typeface="Helvetica Neue"/>
              </a:rPr>
              <a:t>From local clusters to a</a:t>
            </a:r>
          </a:p>
          <a:p xmlns:a="http://schemas.openxmlformats.org/drawingml/2006/main">
            <a:pPr algn="l">
              <a:defRPr sz="2550" b="1">
                <a:solidFill>
                  <a:srgbClr val="111111"/>
                </a:solidFill>
                <a:latin typeface="Helvetica Neue"/>
                <a:ea typeface="Helvetica Neue"/>
                <a:cs typeface="Helvetica Neue"/>
              </a:defRPr>
            </a:pPr>
            <a:r>
              <a:rPr sz="2550" b="1">
                <a:solidFill>
                  <a:srgbClr val="111111"/>
                </a:solidFill>
                <a:latin typeface="Helvetica Neue"/>
                <a:ea typeface="Helvetica Neue"/>
                <a:cs typeface="Helvetica Neue"/>
              </a:rPr>
              <a:t>verified diagnostic path</a:t>
            </a:r>
          </a:p>
        </p:txBody>
      </p:sp>
      <p:sp>
        <p:nvSpPr>
          <p:cNvPr id="8" name="">
            <a:extLst xmlns:a="http://schemas.openxmlformats.org/drawingml/2006/main">
              <a:ext uri="{FF2B5EF4-FFF2-40B4-BE49-F238E27FC236}">
                <a16:creationId xmlns:a16="http://schemas.microsoft.com/office/drawing/2014/main" id="{02CDA049-0DF6-412E-956C-25D1F567A9B5}"/>
              </a:ext>
            </a:extLst>
          </p:cNvPr>
          <p:cNvSpPr>
            <a:spLocks xmlns:a="http://schemas.openxmlformats.org/drawingml/2006/main" noGrp="1"/>
          </p:cNvSpPr>
          <p:nvPr/>
        </p:nvSpPr>
        <p:spPr>
          <a:xfrm xmlns:a="http://schemas.openxmlformats.org/drawingml/2006/main">
            <a:off x="7239000" y="441960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D6570"/>
                </a:solidFill>
                <a:latin typeface="Helvetica Neue"/>
                <a:ea typeface="Helvetica Neue"/>
                <a:cs typeface="Helvetica Neue"/>
              </a:defRPr>
            </a:pPr>
            <a:r>
              <a:rPr sz="1650" b="0">
                <a:solidFill>
                  <a:srgbClr val="5D6570"/>
                </a:solidFill>
                <a:latin typeface="Helvetica Neue"/>
                <a:ea typeface="Helvetica Neue"/>
                <a:cs typeface="Helvetica Neue"/>
              </a:rPr>
              <a:t>Open WebUI → OpenClaw → MCP → kagent</a:t>
            </a:r>
          </a:p>
        </p:txBody>
      </p:sp>
      <p:sp>
        <p:nvSpPr>
          <p:cNvPr id="9" name="">
            <a:extLst xmlns:a="http://schemas.openxmlformats.org/drawingml/2006/main">
              <a:ext uri="{FF2B5EF4-FFF2-40B4-BE49-F238E27FC236}">
                <a16:creationId xmlns:a16="http://schemas.microsoft.com/office/drawing/2014/main" id="{5A6D5C41-23D1-4E3C-9638-B5D16220B222}"/>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OPENKUBES LOCAL</a:t>
            </a:r>
          </a:p>
        </p:txBody>
      </p:sp>
      <p:sp>
        <p:nvSpPr>
          <p:cNvPr id="10" name="">
            <a:extLst xmlns:a="http://schemas.openxmlformats.org/drawingml/2006/main">
              <a:ext uri="{FF2B5EF4-FFF2-40B4-BE49-F238E27FC236}">
                <a16:creationId xmlns:a16="http://schemas.microsoft.com/office/drawing/2014/main" id="{A3EF6944-428D-4629-8283-C5455D71E35E}"/>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01</a:t>
            </a:r>
          </a:p>
        </p:txBody>
      </p:sp>
    </p:spTree>
    <p:extLst>
      <p:ext uri="{BB962C8B-B14F-4D97-AF65-F5344CB8AC3E}">
        <p14:creationId xmlns:p14="http://schemas.microsoft.com/office/powerpoint/2010/main" val="20137472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A400A039-6AEB-473C-B849-1C46F399E74B}"/>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can operate the system yourself</a:t>
            </a:r>
          </a:p>
        </p:txBody>
      </p:sp>
      <p:sp>
        <p:nvSpPr>
          <p:cNvPr id="2" name="">
            <a:extLst xmlns:a="http://schemas.openxmlformats.org/drawingml/2006/main">
              <a:ext uri="{FF2B5EF4-FFF2-40B4-BE49-F238E27FC236}">
                <a16:creationId xmlns:a16="http://schemas.microsoft.com/office/drawing/2014/main" id="{F42DE315-4005-4DDD-B60C-056BD1C85987}"/>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Four concrete learning goals guide this tutorial.</a:t>
            </a:r>
          </a:p>
        </p:txBody>
      </p:sp>
      <p:cxnSp>
        <p:nvCxnSpPr>
          <p:cNvPr id="23"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4620C35B-AE29-4893-857B-410E7DB0A8D0}"/>
              </a:ext>
            </a:extLst>
          </p:cNvPr>
          <p:cNvSpPr>
            <a:spLocks xmlns:a="http://schemas.openxmlformats.org/drawingml/2006/main" noGrp="1"/>
          </p:cNvSpPr>
          <p:nvPr/>
        </p:nvSpPr>
        <p:spPr>
          <a:xfrm xmlns:a="http://schemas.openxmlformats.org/drawingml/2006/main">
            <a:off x="685800" y="209550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E459D167-98FB-4042-8A24-4DB4272453A4}"/>
              </a:ext>
            </a:extLst>
          </p:cNvPr>
          <p:cNvSpPr>
            <a:spLocks xmlns:a="http://schemas.openxmlformats.org/drawingml/2006/main" noGrp="1"/>
          </p:cNvSpPr>
          <p:nvPr/>
        </p:nvSpPr>
        <p:spPr>
          <a:xfrm xmlns:a="http://schemas.openxmlformats.org/drawingml/2006/main">
            <a:off x="1619250" y="20669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94"/>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Understand the architecture</a:t>
            </a:r>
          </a:p>
        </p:txBody>
      </p:sp>
      <p:sp>
        <p:nvSpPr>
          <p:cNvPr id="6" name="">
            <a:extLst xmlns:a="http://schemas.openxmlformats.org/drawingml/2006/main">
              <a:ext uri="{FF2B5EF4-FFF2-40B4-BE49-F238E27FC236}">
                <a16:creationId xmlns:a16="http://schemas.microsoft.com/office/drawing/2014/main" id="{08B208FF-7A51-424A-A1CC-ABF03CEDCFB4}"/>
              </a:ext>
            </a:extLst>
          </p:cNvPr>
          <p:cNvSpPr>
            <a:spLocks xmlns:a="http://schemas.openxmlformats.org/drawingml/2006/main" noGrp="1"/>
          </p:cNvSpPr>
          <p:nvPr/>
        </p:nvSpPr>
        <p:spPr>
          <a:xfrm xmlns:a="http://schemas.openxmlformats.org/drawingml/2006/main">
            <a:off x="4953000" y="20955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Clearly separate the management and infra clusters.</a:t>
            </a:r>
          </a:p>
        </p:txBody>
      </p:sp>
      <p:cxnSp>
        <p:nvCxnSpPr>
          <p:cNvPr id="27" name=""/>
          <p:cNvCxnSpPr/>
          <p:nvPr/>
        </p:nvCxnSpPr>
        <p:spPr>
          <a:xfrm xmlns:a="http://schemas.openxmlformats.org/drawingml/2006/main">
            <a:off x="685800" y="2733675"/>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A0C0BFBC-E4CD-423D-A7D9-3576FB935116}"/>
              </a:ext>
            </a:extLst>
          </p:cNvPr>
          <p:cNvSpPr>
            <a:spLocks xmlns:a="http://schemas.openxmlformats.org/drawingml/2006/main" noGrp="1"/>
          </p:cNvSpPr>
          <p:nvPr/>
        </p:nvSpPr>
        <p:spPr>
          <a:xfrm xmlns:a="http://schemas.openxmlformats.org/drawingml/2006/main">
            <a:off x="685800" y="307657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B01D4C57-8F65-4A84-B47D-DC82BBA8F3FE}"/>
              </a:ext>
            </a:extLst>
          </p:cNvPr>
          <p:cNvSpPr>
            <a:spLocks xmlns:a="http://schemas.openxmlformats.org/drawingml/2006/main" noGrp="1"/>
          </p:cNvSpPr>
          <p:nvPr/>
        </p:nvSpPr>
        <p:spPr>
          <a:xfrm xmlns:a="http://schemas.openxmlformats.org/drawingml/2006/main">
            <a:off x="1619250" y="3048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Install the components</a:t>
            </a:r>
          </a:p>
        </p:txBody>
      </p:sp>
      <p:sp>
        <p:nvSpPr>
          <p:cNvPr id="10" name="">
            <a:extLst xmlns:a="http://schemas.openxmlformats.org/drawingml/2006/main">
              <a:ext uri="{FF2B5EF4-FFF2-40B4-BE49-F238E27FC236}">
                <a16:creationId xmlns:a16="http://schemas.microsoft.com/office/drawing/2014/main" id="{F06826E0-E6DD-48CE-827C-95DDAFCB2F4B}"/>
              </a:ext>
            </a:extLst>
          </p:cNvPr>
          <p:cNvSpPr>
            <a:spLocks xmlns:a="http://schemas.openxmlformats.org/drawingml/2006/main" noGrp="1"/>
          </p:cNvSpPr>
          <p:nvPr/>
        </p:nvSpPr>
        <p:spPr>
          <a:xfrm xmlns:a="http://schemas.openxmlformats.org/drawingml/2006/main">
            <a:off x="4953000" y="30765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Build the foundation, kagent, and OpenClaw in the correct order.</a:t>
            </a:r>
          </a:p>
        </p:txBody>
      </p:sp>
      <p:cxnSp>
        <p:nvCxnSpPr>
          <p:cNvPr id="31" name=""/>
          <p:cNvCxnSpPr/>
          <p:nvPr/>
        </p:nvCxnSpPr>
        <p:spPr>
          <a:xfrm xmlns:a="http://schemas.openxmlformats.org/drawingml/2006/main">
            <a:off x="685800" y="3714750"/>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86E601D8-CBA4-43F5-BFD5-52A67C118ED7}"/>
              </a:ext>
            </a:extLst>
          </p:cNvPr>
          <p:cNvSpPr>
            <a:spLocks xmlns:a="http://schemas.openxmlformats.org/drawingml/2006/main" noGrp="1"/>
          </p:cNvSpPr>
          <p:nvPr/>
        </p:nvSpPr>
        <p:spPr>
          <a:xfrm xmlns:a="http://schemas.openxmlformats.org/drawingml/2006/main">
            <a:off x="685800" y="4057650"/>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5AF58ADD-E0B1-431A-ADA8-4C06ACF89EA8}"/>
              </a:ext>
            </a:extLst>
          </p:cNvPr>
          <p:cNvSpPr>
            <a:spLocks xmlns:a="http://schemas.openxmlformats.org/drawingml/2006/main" noGrp="1"/>
          </p:cNvSpPr>
          <p:nvPr/>
        </p:nvSpPr>
        <p:spPr>
          <a:xfrm xmlns:a="http://schemas.openxmlformats.org/drawingml/2006/main">
            <a:off x="1619250" y="4029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Use AI effectively</a:t>
            </a:r>
          </a:p>
        </p:txBody>
      </p:sp>
      <p:sp>
        <p:nvSpPr>
          <p:cNvPr id="14" name="">
            <a:extLst xmlns:a="http://schemas.openxmlformats.org/drawingml/2006/main">
              <a:ext uri="{FF2B5EF4-FFF2-40B4-BE49-F238E27FC236}">
                <a16:creationId xmlns:a16="http://schemas.microsoft.com/office/drawing/2014/main" id="{DBF0B852-B590-4E51-AE0E-67737B05FD51}"/>
              </a:ext>
            </a:extLst>
          </p:cNvPr>
          <p:cNvSpPr>
            <a:spLocks xmlns:a="http://schemas.openxmlformats.org/drawingml/2006/main" noGrp="1"/>
          </p:cNvSpPr>
          <p:nvPr/>
        </p:nvSpPr>
        <p:spPr>
          <a:xfrm xmlns:a="http://schemas.openxmlformats.org/drawingml/2006/main">
            <a:off x="4953000" y="40576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Query cluster health, workloads, and evidence.</a:t>
            </a:r>
          </a:p>
        </p:txBody>
      </p:sp>
      <p:cxnSp>
        <p:nvCxnSpPr>
          <p:cNvPr id="35" name=""/>
          <p:cNvCxnSpPr/>
          <p:nvPr/>
        </p:nvCxnSpPr>
        <p:spPr>
          <a:xfrm xmlns:a="http://schemas.openxmlformats.org/drawingml/2006/main">
            <a:off x="685800" y="4695825"/>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713BEC83-87F0-4FB0-8051-5C60FF735DB8}"/>
              </a:ext>
            </a:extLst>
          </p:cNvPr>
          <p:cNvSpPr>
            <a:spLocks xmlns:a="http://schemas.openxmlformats.org/drawingml/2006/main" noGrp="1"/>
          </p:cNvSpPr>
          <p:nvPr/>
        </p:nvSpPr>
        <p:spPr>
          <a:xfrm xmlns:a="http://schemas.openxmlformats.org/drawingml/2006/main">
            <a:off x="685800" y="5038725"/>
            <a:ext cx="685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04</a:t>
            </a:r>
          </a:p>
        </p:txBody>
      </p:sp>
      <p:sp>
        <p:nvSpPr>
          <p:cNvPr id="17" name="">
            <a:extLst xmlns:a="http://schemas.openxmlformats.org/drawingml/2006/main">
              <a:ext uri="{FF2B5EF4-FFF2-40B4-BE49-F238E27FC236}">
                <a16:creationId xmlns:a16="http://schemas.microsoft.com/office/drawing/2014/main" id="{E22B5DAF-4BE2-41E5-A804-D45F306922C2}"/>
              </a:ext>
            </a:extLst>
          </p:cNvPr>
          <p:cNvSpPr>
            <a:spLocks xmlns:a="http://schemas.openxmlformats.org/drawingml/2006/main" noGrp="1"/>
          </p:cNvSpPr>
          <p:nvPr/>
        </p:nvSpPr>
        <p:spPr>
          <a:xfrm xmlns:a="http://schemas.openxmlformats.org/drawingml/2006/main">
            <a:off x="1619250" y="50101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Prove security</a:t>
            </a:r>
          </a:p>
        </p:txBody>
      </p:sp>
      <p:sp>
        <p:nvSpPr>
          <p:cNvPr id="18" name="">
            <a:extLst xmlns:a="http://schemas.openxmlformats.org/drawingml/2006/main">
              <a:ext uri="{FF2B5EF4-FFF2-40B4-BE49-F238E27FC236}">
                <a16:creationId xmlns:a16="http://schemas.microsoft.com/office/drawing/2014/main" id="{BD35A0A2-414B-4C6B-91AB-876CBBB1779B}"/>
              </a:ext>
            </a:extLst>
          </p:cNvPr>
          <p:cNvSpPr>
            <a:spLocks xmlns:a="http://schemas.openxmlformats.org/drawingml/2006/main" noGrp="1"/>
          </p:cNvSpPr>
          <p:nvPr/>
        </p:nvSpPr>
        <p:spPr>
          <a:xfrm xmlns:a="http://schemas.openxmlformats.org/drawingml/2006/main">
            <a:off x="4953000" y="50387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Verify RBAC, token boundaries, and lifecycle tests.</a:t>
            </a:r>
          </a:p>
        </p:txBody>
      </p:sp>
      <p:sp>
        <p:nvSpPr>
          <p:cNvPr id="19" name="">
            <a:extLst xmlns:a="http://schemas.openxmlformats.org/drawingml/2006/main">
              <a:ext uri="{FF2B5EF4-FFF2-40B4-BE49-F238E27FC236}">
                <a16:creationId xmlns:a16="http://schemas.microsoft.com/office/drawing/2014/main" id="{0C206884-5052-41DD-9262-E14B246002E4}"/>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LEARNING GOALS</a:t>
            </a:r>
          </a:p>
        </p:txBody>
      </p:sp>
      <p:sp>
        <p:nvSpPr>
          <p:cNvPr id="20" name="">
            <a:extLst xmlns:a="http://schemas.openxmlformats.org/drawingml/2006/main">
              <a:ext uri="{FF2B5EF4-FFF2-40B4-BE49-F238E27FC236}">
                <a16:creationId xmlns:a16="http://schemas.microsoft.com/office/drawing/2014/main" id="{1D40F6E4-79AA-4521-A4F0-EDF39C67ACCB}"/>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02</a:t>
            </a:r>
          </a:p>
        </p:txBody>
      </p:sp>
    </p:spTree>
    <p:extLst>
      <p:ext uri="{BB962C8B-B14F-4D97-AF65-F5344CB8AC3E}">
        <p14:creationId xmlns:p14="http://schemas.microsoft.com/office/powerpoint/2010/main" val="6550381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
            <a:extLst xmlns:a="http://schemas.openxmlformats.org/drawingml/2006/main">
              <a:ext uri="{FF2B5EF4-FFF2-40B4-BE49-F238E27FC236}">
                <a16:creationId xmlns:a16="http://schemas.microsoft.com/office/drawing/2014/main" id="{91166B24-A070-4895-BD52-B067EBE4BDDB}"/>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Two local clusters mirror production roles</a:t>
            </a:r>
          </a:p>
        </p:txBody>
      </p:sp>
      <p:sp>
        <p:nvSpPr>
          <p:cNvPr id="2" name="">
            <a:extLst xmlns:a="http://schemas.openxmlformats.org/drawingml/2006/main">
              <a:ext uri="{FF2B5EF4-FFF2-40B4-BE49-F238E27FC236}">
                <a16:creationId xmlns:a16="http://schemas.microsoft.com/office/drawing/2014/main" id="{F4398ABD-5540-4BCD-95A2-A5C0DF8380CA}"/>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Multipass separates management from workloads on the Mac.</a:t>
            </a:r>
          </a:p>
        </p:txBody>
      </p:sp>
      <p:cxnSp>
        <p:nvCxnSpPr>
          <p:cNvPr id="27"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DFB9B980-D8BA-4302-966C-E8799463AAC5}"/>
              </a:ext>
            </a:extLst>
          </p:cNvPr>
          <p:cNvSpPr>
            <a:spLocks xmlns:a="http://schemas.openxmlformats.org/drawingml/2006/main" noGrp="1"/>
          </p:cNvSpPr>
          <p:nvPr/>
        </p:nvSpPr>
        <p:spPr>
          <a:xfrm xmlns:a="http://schemas.openxmlformats.org/drawingml/2006/main">
            <a:off x="590550" y="2095500"/>
            <a:ext cx="4953000" cy="3429000"/>
          </a:xfrm>
          <a:prstGeom xmlns:a="http://schemas.openxmlformats.org/drawingml/2006/main" prst="roundRect">
            <a:avLst>
              <a:gd name="adj" fmla="val 2222"/>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40337EBE-0B9A-447B-9CE1-64EDEE26E3B1}"/>
              </a:ext>
            </a:extLst>
          </p:cNvPr>
          <p:cNvSpPr>
            <a:spLocks xmlns:a="http://schemas.openxmlformats.org/drawingml/2006/main" noGrp="1"/>
          </p:cNvSpPr>
          <p:nvPr/>
        </p:nvSpPr>
        <p:spPr>
          <a:xfrm xmlns:a="http://schemas.openxmlformats.org/drawingml/2006/main">
            <a:off x="6648450" y="2095500"/>
            <a:ext cx="4953000" cy="3429000"/>
          </a:xfrm>
          <a:prstGeom xmlns:a="http://schemas.openxmlformats.org/drawingml/2006/main" prst="roundRect">
            <a:avLst>
              <a:gd name="adj" fmla="val 2222"/>
            </a:avLst>
          </a:prstGeom>
          <a:solidFill xmlns:a="http://schemas.openxmlformats.org/drawingml/2006/main">
            <a:srgbClr val="EEF7FD"/>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4D7DED29-EBCE-46C1-8347-557FFBCF93D7}"/>
              </a:ext>
            </a:extLst>
          </p:cNvPr>
          <p:cNvSpPr>
            <a:spLocks xmlns:a="http://schemas.openxmlformats.org/drawingml/2006/main" noGrp="1"/>
          </p:cNvSpPr>
          <p:nvPr/>
        </p:nvSpPr>
        <p:spPr>
          <a:xfrm xmlns:a="http://schemas.openxmlformats.org/drawingml/2006/main">
            <a:off x="914400" y="24574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ok-mgmt-local</a:t>
            </a:r>
          </a:p>
        </p:txBody>
      </p:sp>
      <p:sp>
        <p:nvSpPr>
          <p:cNvPr id="7" name="">
            <a:extLst xmlns:a="http://schemas.openxmlformats.org/drawingml/2006/main">
              <a:ext uri="{FF2B5EF4-FFF2-40B4-BE49-F238E27FC236}">
                <a16:creationId xmlns:a16="http://schemas.microsoft.com/office/drawing/2014/main" id="{F69D2187-4504-40F9-9290-7C227FCE0124}"/>
              </a:ext>
            </a:extLst>
          </p:cNvPr>
          <p:cNvSpPr>
            <a:spLocks xmlns:a="http://schemas.openxmlformats.org/drawingml/2006/main" noGrp="1"/>
          </p:cNvSpPr>
          <p:nvPr/>
        </p:nvSpPr>
        <p:spPr>
          <a:xfrm xmlns:a="http://schemas.openxmlformats.org/drawingml/2006/main">
            <a:off x="914400" y="30289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D6570"/>
                </a:solidFill>
                <a:latin typeface="Helvetica Neue"/>
                <a:ea typeface="Helvetica Neue"/>
                <a:cs typeface="Helvetica Neue"/>
              </a:defRPr>
            </a:pPr>
            <a:r>
              <a:rPr sz="1650" b="0">
                <a:solidFill>
                  <a:srgbClr val="5D6570"/>
                </a:solidFill>
                <a:latin typeface="Helvetica Neue"/>
                <a:ea typeface="Helvetica Neue"/>
                <a:cs typeface="Helvetica Neue"/>
              </a:rPr>
              <a:t>Management cluster</a:t>
            </a:r>
          </a:p>
        </p:txBody>
      </p:sp>
      <p:sp>
        <p:nvSpPr>
          <p:cNvPr id="8" name="">
            <a:extLst xmlns:a="http://schemas.openxmlformats.org/drawingml/2006/main">
              <a:ext uri="{FF2B5EF4-FFF2-40B4-BE49-F238E27FC236}">
                <a16:creationId xmlns:a16="http://schemas.microsoft.com/office/drawing/2014/main" id="{0C6C5CEC-DF56-4200-AE73-F5C08D6E66E2}"/>
              </a:ext>
            </a:extLst>
          </p:cNvPr>
          <p:cNvSpPr>
            <a:spLocks xmlns:a="http://schemas.openxmlformats.org/drawingml/2006/main" noGrp="1"/>
          </p:cNvSpPr>
          <p:nvPr/>
        </p:nvSpPr>
        <p:spPr>
          <a:xfrm xmlns:a="http://schemas.openxmlformats.org/drawingml/2006/main">
            <a:off x="914400" y="37147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668404BE-285B-4104-89F7-EAD44CE00B09}"/>
              </a:ext>
            </a:extLst>
          </p:cNvPr>
          <p:cNvSpPr>
            <a:spLocks xmlns:a="http://schemas.openxmlformats.org/drawingml/2006/main" noGrp="1"/>
          </p:cNvSpPr>
          <p:nvPr/>
        </p:nvSpPr>
        <p:spPr>
          <a:xfrm xmlns:a="http://schemas.openxmlformats.org/drawingml/2006/main">
            <a:off x="1219200" y="37147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K3s</a:t>
            </a:r>
          </a:p>
        </p:txBody>
      </p:sp>
      <p:sp>
        <p:nvSpPr>
          <p:cNvPr id="10" name="">
            <a:extLst xmlns:a="http://schemas.openxmlformats.org/drawingml/2006/main">
              <a:ext uri="{FF2B5EF4-FFF2-40B4-BE49-F238E27FC236}">
                <a16:creationId xmlns:a16="http://schemas.microsoft.com/office/drawing/2014/main" id="{43B9C95C-2AAD-4722-BD00-D085F6984062}"/>
              </a:ext>
            </a:extLst>
          </p:cNvPr>
          <p:cNvSpPr>
            <a:spLocks xmlns:a="http://schemas.openxmlformats.org/drawingml/2006/main" noGrp="1"/>
          </p:cNvSpPr>
          <p:nvPr/>
        </p:nvSpPr>
        <p:spPr>
          <a:xfrm xmlns:a="http://schemas.openxmlformats.org/drawingml/2006/main">
            <a:off x="914400" y="4171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79E54AAF-B261-4354-92DF-D1234C96B52C}"/>
              </a:ext>
            </a:extLst>
          </p:cNvPr>
          <p:cNvSpPr>
            <a:spLocks xmlns:a="http://schemas.openxmlformats.org/drawingml/2006/main" noGrp="1"/>
          </p:cNvSpPr>
          <p:nvPr/>
        </p:nvSpPr>
        <p:spPr>
          <a:xfrm xmlns:a="http://schemas.openxmlformats.org/drawingml/2006/main">
            <a:off x="1219200" y="41719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Crossplane</a:t>
            </a:r>
          </a:p>
        </p:txBody>
      </p:sp>
      <p:sp>
        <p:nvSpPr>
          <p:cNvPr id="12" name="">
            <a:extLst xmlns:a="http://schemas.openxmlformats.org/drawingml/2006/main">
              <a:ext uri="{FF2B5EF4-FFF2-40B4-BE49-F238E27FC236}">
                <a16:creationId xmlns:a16="http://schemas.microsoft.com/office/drawing/2014/main" id="{8DE34171-5B1B-4A20-AA78-A41D41F9D354}"/>
              </a:ext>
            </a:extLst>
          </p:cNvPr>
          <p:cNvSpPr>
            <a:spLocks xmlns:a="http://schemas.openxmlformats.org/drawingml/2006/main" noGrp="1"/>
          </p:cNvSpPr>
          <p:nvPr/>
        </p:nvSpPr>
        <p:spPr>
          <a:xfrm xmlns:a="http://schemas.openxmlformats.org/drawingml/2006/main">
            <a:off x="914400" y="46291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615D80FA-3EFA-4DBB-853A-EA0A0EDF93AB}"/>
              </a:ext>
            </a:extLst>
          </p:cNvPr>
          <p:cNvSpPr>
            <a:spLocks xmlns:a="http://schemas.openxmlformats.org/drawingml/2006/main" noGrp="1"/>
          </p:cNvSpPr>
          <p:nvPr/>
        </p:nvSpPr>
        <p:spPr>
          <a:xfrm xmlns:a="http://schemas.openxmlformats.org/drawingml/2006/main">
            <a:off x="1219200" y="46291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Controls deployments on infra</a:t>
            </a:r>
          </a:p>
        </p:txBody>
      </p:sp>
      <p:sp>
        <p:nvSpPr>
          <p:cNvPr id="14" name="">
            <a:extLst xmlns:a="http://schemas.openxmlformats.org/drawingml/2006/main">
              <a:ext uri="{FF2B5EF4-FFF2-40B4-BE49-F238E27FC236}">
                <a16:creationId xmlns:a16="http://schemas.microsoft.com/office/drawing/2014/main" id="{744E4932-92CA-4010-942F-4FE764DE6184}"/>
              </a:ext>
            </a:extLst>
          </p:cNvPr>
          <p:cNvSpPr>
            <a:spLocks xmlns:a="http://schemas.openxmlformats.org/drawingml/2006/main" noGrp="1"/>
          </p:cNvSpPr>
          <p:nvPr/>
        </p:nvSpPr>
        <p:spPr>
          <a:xfrm xmlns:a="http://schemas.openxmlformats.org/drawingml/2006/main">
            <a:off x="6972300" y="24574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ok-infra-local</a:t>
            </a:r>
          </a:p>
        </p:txBody>
      </p:sp>
      <p:sp>
        <p:nvSpPr>
          <p:cNvPr id="15" name="">
            <a:extLst xmlns:a="http://schemas.openxmlformats.org/drawingml/2006/main">
              <a:ext uri="{FF2B5EF4-FFF2-40B4-BE49-F238E27FC236}">
                <a16:creationId xmlns:a16="http://schemas.microsoft.com/office/drawing/2014/main" id="{6622FDE7-73C9-4018-B710-8A12B00079FA}"/>
              </a:ext>
            </a:extLst>
          </p:cNvPr>
          <p:cNvSpPr>
            <a:spLocks xmlns:a="http://schemas.openxmlformats.org/drawingml/2006/main" noGrp="1"/>
          </p:cNvSpPr>
          <p:nvPr/>
        </p:nvSpPr>
        <p:spPr>
          <a:xfrm xmlns:a="http://schemas.openxmlformats.org/drawingml/2006/main">
            <a:off x="6972300" y="30289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D6570"/>
                </a:solidFill>
                <a:latin typeface="Helvetica Neue"/>
                <a:ea typeface="Helvetica Neue"/>
                <a:cs typeface="Helvetica Neue"/>
              </a:defRPr>
            </a:pPr>
            <a:r>
              <a:rPr sz="1650" b="0">
                <a:solidFill>
                  <a:srgbClr val="5D6570"/>
                </a:solidFill>
                <a:latin typeface="Helvetica Neue"/>
                <a:ea typeface="Helvetica Neue"/>
                <a:cs typeface="Helvetica Neue"/>
              </a:rPr>
              <a:t>Workload cluster</a:t>
            </a:r>
          </a:p>
        </p:txBody>
      </p:sp>
      <p:sp>
        <p:nvSpPr>
          <p:cNvPr id="16" name="">
            <a:extLst xmlns:a="http://schemas.openxmlformats.org/drawingml/2006/main">
              <a:ext uri="{FF2B5EF4-FFF2-40B4-BE49-F238E27FC236}">
                <a16:creationId xmlns:a16="http://schemas.microsoft.com/office/drawing/2014/main" id="{2D4F3600-579A-405D-B495-D3882C83B645}"/>
              </a:ext>
            </a:extLst>
          </p:cNvPr>
          <p:cNvSpPr>
            <a:spLocks xmlns:a="http://schemas.openxmlformats.org/drawingml/2006/main" noGrp="1"/>
          </p:cNvSpPr>
          <p:nvPr/>
        </p:nvSpPr>
        <p:spPr>
          <a:xfrm xmlns:a="http://schemas.openxmlformats.org/drawingml/2006/main">
            <a:off x="6972300" y="37147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7D15C412-A234-4D6A-BEB7-70D7C9B7C165}"/>
              </a:ext>
            </a:extLst>
          </p:cNvPr>
          <p:cNvSpPr>
            <a:spLocks xmlns:a="http://schemas.openxmlformats.org/drawingml/2006/main" noGrp="1"/>
          </p:cNvSpPr>
          <p:nvPr/>
        </p:nvSpPr>
        <p:spPr>
          <a:xfrm xmlns:a="http://schemas.openxmlformats.org/drawingml/2006/main">
            <a:off x="7277100" y="37147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K3s + KubeVirt</a:t>
            </a:r>
          </a:p>
        </p:txBody>
      </p:sp>
      <p:sp>
        <p:nvSpPr>
          <p:cNvPr id="18" name="">
            <a:extLst xmlns:a="http://schemas.openxmlformats.org/drawingml/2006/main">
              <a:ext uri="{FF2B5EF4-FFF2-40B4-BE49-F238E27FC236}">
                <a16:creationId xmlns:a16="http://schemas.microsoft.com/office/drawing/2014/main" id="{283D5761-9DD2-48FD-8201-A806D13D6746}"/>
              </a:ext>
            </a:extLst>
          </p:cNvPr>
          <p:cNvSpPr>
            <a:spLocks xmlns:a="http://schemas.openxmlformats.org/drawingml/2006/main" noGrp="1"/>
          </p:cNvSpPr>
          <p:nvPr/>
        </p:nvSpPr>
        <p:spPr>
          <a:xfrm xmlns:a="http://schemas.openxmlformats.org/drawingml/2006/main">
            <a:off x="6972300" y="4171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11F495B1-071D-4BCF-B787-5809D40D5050}"/>
              </a:ext>
            </a:extLst>
          </p:cNvPr>
          <p:cNvSpPr>
            <a:spLocks xmlns:a="http://schemas.openxmlformats.org/drawingml/2006/main" noGrp="1"/>
          </p:cNvSpPr>
          <p:nvPr/>
        </p:nvSpPr>
        <p:spPr>
          <a:xfrm xmlns:a="http://schemas.openxmlformats.org/drawingml/2006/main">
            <a:off x="7277100" y="41719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Ollama + Open WebUI</a:t>
            </a:r>
          </a:p>
        </p:txBody>
      </p:sp>
      <p:sp>
        <p:nvSpPr>
          <p:cNvPr id="20" name="">
            <a:extLst xmlns:a="http://schemas.openxmlformats.org/drawingml/2006/main">
              <a:ext uri="{FF2B5EF4-FFF2-40B4-BE49-F238E27FC236}">
                <a16:creationId xmlns:a16="http://schemas.microsoft.com/office/drawing/2014/main" id="{9CB2C739-77F9-46E8-9BDA-DE2C54E15062}"/>
              </a:ext>
            </a:extLst>
          </p:cNvPr>
          <p:cNvSpPr>
            <a:spLocks xmlns:a="http://schemas.openxmlformats.org/drawingml/2006/main" noGrp="1"/>
          </p:cNvSpPr>
          <p:nvPr/>
        </p:nvSpPr>
        <p:spPr>
          <a:xfrm xmlns:a="http://schemas.openxmlformats.org/drawingml/2006/main">
            <a:off x="6972300" y="46291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4EE75D7C-8B0A-4308-977D-8D175DBBB5C6}"/>
              </a:ext>
            </a:extLst>
          </p:cNvPr>
          <p:cNvSpPr>
            <a:spLocks xmlns:a="http://schemas.openxmlformats.org/drawingml/2006/main" noGrp="1"/>
          </p:cNvSpPr>
          <p:nvPr/>
        </p:nvSpPr>
        <p:spPr>
          <a:xfrm xmlns:a="http://schemas.openxmlformats.org/drawingml/2006/main">
            <a:off x="7277100" y="462915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kagent + OpenClaw + diagnostics</a:t>
            </a:r>
          </a:p>
        </p:txBody>
      </p:sp>
      <p:sp>
        <p:nvSpPr>
          <p:cNvPr id="22" name="">
            <a:extLst xmlns:a="http://schemas.openxmlformats.org/drawingml/2006/main">
              <a:ext uri="{FF2B5EF4-FFF2-40B4-BE49-F238E27FC236}">
                <a16:creationId xmlns:a16="http://schemas.microsoft.com/office/drawing/2014/main" id="{E1FEF46B-EC90-4CAC-B0D4-51C4DDF2EB97}"/>
              </a:ext>
            </a:extLst>
          </p:cNvPr>
          <p:cNvSpPr>
            <a:spLocks xmlns:a="http://schemas.openxmlformats.org/drawingml/2006/main" noGrp="1"/>
          </p:cNvSpPr>
          <p:nvPr/>
        </p:nvSpPr>
        <p:spPr>
          <a:xfrm xmlns:a="http://schemas.openxmlformats.org/drawingml/2006/main">
            <a:off x="5791200" y="3390900"/>
            <a:ext cx="609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3DE0597A-1F1C-43A8-B863-D3770CE37E57}"/>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ARCHITECTURE</a:t>
            </a:r>
          </a:p>
        </p:txBody>
      </p:sp>
      <p:sp>
        <p:nvSpPr>
          <p:cNvPr id="24" name="">
            <a:extLst xmlns:a="http://schemas.openxmlformats.org/drawingml/2006/main">
              <a:ext uri="{FF2B5EF4-FFF2-40B4-BE49-F238E27FC236}">
                <a16:creationId xmlns:a16="http://schemas.microsoft.com/office/drawing/2014/main" id="{FDC2E12E-6EE3-49BD-B085-2C46121AF854}"/>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03</a:t>
            </a:r>
          </a:p>
        </p:txBody>
      </p:sp>
    </p:spTree>
    <p:extLst>
      <p:ext uri="{BB962C8B-B14F-4D97-AF65-F5344CB8AC3E}">
        <p14:creationId xmlns:p14="http://schemas.microsoft.com/office/powerpoint/2010/main" val="19279327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11B55B73-6BB5-489C-966E-5C8EB210D2DC}"/>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Three building blocks create the complete diagnostic path</a:t>
            </a:r>
          </a:p>
        </p:txBody>
      </p:sp>
      <p:sp>
        <p:nvSpPr>
          <p:cNvPr id="2" name="">
            <a:extLst xmlns:a="http://schemas.openxmlformats.org/drawingml/2006/main">
              <a:ext uri="{FF2B5EF4-FFF2-40B4-BE49-F238E27FC236}">
                <a16:creationId xmlns:a16="http://schemas.microsoft.com/office/drawing/2014/main" id="{BDC15777-4C95-4D0F-B7DF-6AB81AA091D7}"/>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Each block provides a verifiable prerequisite for the next.</a:t>
            </a:r>
          </a:p>
        </p:txBody>
      </p:sp>
      <p:cxnSp>
        <p:nvCxnSpPr>
          <p:cNvPr id="24"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cxnSp>
        <p:nvCxnSpPr>
          <p:cNvPr id="25" name=""/>
          <p:cNvCxnSpPr/>
          <p:nvPr/>
        </p:nvCxnSpPr>
        <p:spPr>
          <a:xfrm xmlns:a="http://schemas.openxmlformats.org/drawingml/2006/main">
            <a:off x="952500" y="3219450"/>
            <a:ext cx="9715500" cy="0"/>
          </a:xfrm>
          <a:prstGeom xmlns:a="http://schemas.openxmlformats.org/drawingml/2006/main" prst="straightConnector1">
            <a:avLst/>
          </a:prstGeom>
          <a:ln xmlns:a="http://schemas.openxmlformats.org/drawingml/2006/main" w="19050">
            <a:solidFill>
              <a:srgbClr val="111111"/>
            </a:solidFill>
            <a:prstDash val="solid"/>
          </a:ln>
        </p:spPr>
      </p:cxnSp>
      <p:sp>
        <p:nvSpPr>
          <p:cNvPr id="5" name="">
            <a:extLst xmlns:a="http://schemas.openxmlformats.org/drawingml/2006/main">
              <a:ext uri="{FF2B5EF4-FFF2-40B4-BE49-F238E27FC236}">
                <a16:creationId xmlns:a16="http://schemas.microsoft.com/office/drawing/2014/main" id="{9C68E60D-C8A3-4A3E-AB86-E994A338CB7D}"/>
              </a:ext>
            </a:extLst>
          </p:cNvPr>
          <p:cNvSpPr>
            <a:spLocks xmlns:a="http://schemas.openxmlformats.org/drawingml/2006/main" noGrp="1"/>
          </p:cNvSpPr>
          <p:nvPr/>
        </p:nvSpPr>
        <p:spPr>
          <a:xfrm xmlns:a="http://schemas.openxmlformats.org/drawingml/2006/main">
            <a:off x="1047750" y="2943225"/>
            <a:ext cx="552450" cy="552450"/>
          </a:xfrm>
          <a:prstGeom xmlns:a="http://schemas.openxmlformats.org/drawingml/2006/main" prst="roundRect">
            <a:avLst>
              <a:gd name="adj" fmla="val 13793"/>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856EE1C-92D5-406A-999F-BF88530A6BC0}"/>
              </a:ext>
            </a:extLst>
          </p:cNvPr>
          <p:cNvSpPr>
            <a:spLocks xmlns:a="http://schemas.openxmlformats.org/drawingml/2006/main" noGrp="1"/>
          </p:cNvSpPr>
          <p:nvPr/>
        </p:nvSpPr>
        <p:spPr>
          <a:xfrm xmlns:a="http://schemas.openxmlformats.org/drawingml/2006/main">
            <a:off x="1047750" y="3057525"/>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VM</a:t>
            </a:r>
          </a:p>
        </p:txBody>
      </p:sp>
      <p:sp>
        <p:nvSpPr>
          <p:cNvPr id="7" name="">
            <a:extLst xmlns:a="http://schemas.openxmlformats.org/drawingml/2006/main">
              <a:ext uri="{FF2B5EF4-FFF2-40B4-BE49-F238E27FC236}">
                <a16:creationId xmlns:a16="http://schemas.microsoft.com/office/drawing/2014/main" id="{BAA1F00D-0191-4A33-8372-2051D0CFFE20}"/>
              </a:ext>
            </a:extLst>
          </p:cNvPr>
          <p:cNvSpPr>
            <a:spLocks xmlns:a="http://schemas.openxmlformats.org/drawingml/2006/main" noGrp="1"/>
          </p:cNvSpPr>
          <p:nvPr/>
        </p:nvSpPr>
        <p:spPr>
          <a:xfrm xmlns:a="http://schemas.openxmlformats.org/drawingml/2006/main">
            <a:off x="1047750" y="2076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LOCAL FOUNDATION</a:t>
            </a:r>
          </a:p>
        </p:txBody>
      </p:sp>
      <p:sp>
        <p:nvSpPr>
          <p:cNvPr id="8" name="">
            <a:extLst xmlns:a="http://schemas.openxmlformats.org/drawingml/2006/main">
              <a:ext uri="{FF2B5EF4-FFF2-40B4-BE49-F238E27FC236}">
                <a16:creationId xmlns:a16="http://schemas.microsoft.com/office/drawing/2014/main" id="{4BE83DF7-229C-4398-B9DC-243EA340B24C}"/>
              </a:ext>
            </a:extLst>
          </p:cNvPr>
          <p:cNvSpPr>
            <a:spLocks xmlns:a="http://schemas.openxmlformats.org/drawingml/2006/main" noGrp="1"/>
          </p:cNvSpPr>
          <p:nvPr/>
        </p:nvSpPr>
        <p:spPr>
          <a:xfrm xmlns:a="http://schemas.openxmlformats.org/drawingml/2006/main">
            <a:off x="1047750" y="24479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Clusters &amp; UI</a:t>
            </a:r>
          </a:p>
        </p:txBody>
      </p:sp>
      <p:sp>
        <p:nvSpPr>
          <p:cNvPr id="9" name="">
            <a:extLst xmlns:a="http://schemas.openxmlformats.org/drawingml/2006/main">
              <a:ext uri="{FF2B5EF4-FFF2-40B4-BE49-F238E27FC236}">
                <a16:creationId xmlns:a16="http://schemas.microsoft.com/office/drawing/2014/main" id="{BBB7D479-9EDC-4E1B-8E69-A504E1A3FE1C}"/>
              </a:ext>
            </a:extLst>
          </p:cNvPr>
          <p:cNvSpPr>
            <a:spLocks xmlns:a="http://schemas.openxmlformats.org/drawingml/2006/main" noGrp="1"/>
          </p:cNvSpPr>
          <p:nvPr/>
        </p:nvSpPr>
        <p:spPr>
          <a:xfrm xmlns:a="http://schemas.openxmlformats.org/drawingml/2006/main">
            <a:off x="1047750" y="3886200"/>
            <a:ext cx="276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VMs, K3s, Crossplane,</a:t>
            </a:r>
          </a:p>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Ollama, Open WebUI</a:t>
            </a:r>
          </a:p>
        </p:txBody>
      </p:sp>
      <p:sp>
        <p:nvSpPr>
          <p:cNvPr id="10" name="">
            <a:extLst xmlns:a="http://schemas.openxmlformats.org/drawingml/2006/main">
              <a:ext uri="{FF2B5EF4-FFF2-40B4-BE49-F238E27FC236}">
                <a16:creationId xmlns:a16="http://schemas.microsoft.com/office/drawing/2014/main" id="{4E9E47FA-B8CA-454B-BE55-2481F77D9236}"/>
              </a:ext>
            </a:extLst>
          </p:cNvPr>
          <p:cNvSpPr>
            <a:spLocks xmlns:a="http://schemas.openxmlformats.org/drawingml/2006/main" noGrp="1"/>
          </p:cNvSpPr>
          <p:nvPr/>
        </p:nvSpPr>
        <p:spPr>
          <a:xfrm xmlns:a="http://schemas.openxmlformats.org/drawingml/2006/main">
            <a:off x="4476750" y="2943225"/>
            <a:ext cx="552450" cy="552450"/>
          </a:xfrm>
          <a:prstGeom xmlns:a="http://schemas.openxmlformats.org/drawingml/2006/main" prst="roundRect">
            <a:avLst>
              <a:gd name="adj" fmla="val 13793"/>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641A275-F033-4437-9C98-2D7A38E2AAFD}"/>
              </a:ext>
            </a:extLst>
          </p:cNvPr>
          <p:cNvSpPr>
            <a:spLocks xmlns:a="http://schemas.openxmlformats.org/drawingml/2006/main" noGrp="1"/>
          </p:cNvSpPr>
          <p:nvPr/>
        </p:nvSpPr>
        <p:spPr>
          <a:xfrm xmlns:a="http://schemas.openxmlformats.org/drawingml/2006/main">
            <a:off x="4476750" y="3057525"/>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RO</a:t>
            </a:r>
          </a:p>
        </p:txBody>
      </p:sp>
      <p:sp>
        <p:nvSpPr>
          <p:cNvPr id="12" name="">
            <a:extLst xmlns:a="http://schemas.openxmlformats.org/drawingml/2006/main">
              <a:ext uri="{FF2B5EF4-FFF2-40B4-BE49-F238E27FC236}">
                <a16:creationId xmlns:a16="http://schemas.microsoft.com/office/drawing/2014/main" id="{F994DFCA-09A7-43B4-B989-9674709DDF36}"/>
              </a:ext>
            </a:extLst>
          </p:cNvPr>
          <p:cNvSpPr>
            <a:spLocks xmlns:a="http://schemas.openxmlformats.org/drawingml/2006/main" noGrp="1"/>
          </p:cNvSpPr>
          <p:nvPr/>
        </p:nvSpPr>
        <p:spPr>
          <a:xfrm xmlns:a="http://schemas.openxmlformats.org/drawingml/2006/main">
            <a:off x="4476750" y="2076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READ-ONLY DIAGNOSTICS</a:t>
            </a:r>
          </a:p>
        </p:txBody>
      </p:sp>
      <p:sp>
        <p:nvSpPr>
          <p:cNvPr id="13" name="">
            <a:extLst xmlns:a="http://schemas.openxmlformats.org/drawingml/2006/main">
              <a:ext uri="{FF2B5EF4-FFF2-40B4-BE49-F238E27FC236}">
                <a16:creationId xmlns:a16="http://schemas.microsoft.com/office/drawing/2014/main" id="{F6E265B6-1204-4B89-91D8-67C9D504B092}"/>
              </a:ext>
            </a:extLst>
          </p:cNvPr>
          <p:cNvSpPr>
            <a:spLocks xmlns:a="http://schemas.openxmlformats.org/drawingml/2006/main" noGrp="1"/>
          </p:cNvSpPr>
          <p:nvPr/>
        </p:nvSpPr>
        <p:spPr>
          <a:xfrm xmlns:a="http://schemas.openxmlformats.org/drawingml/2006/main">
            <a:off x="4476750" y="24479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kagent</a:t>
            </a:r>
          </a:p>
        </p:txBody>
      </p:sp>
      <p:sp>
        <p:nvSpPr>
          <p:cNvPr id="14" name="">
            <a:extLst xmlns:a="http://schemas.openxmlformats.org/drawingml/2006/main">
              <a:ext uri="{FF2B5EF4-FFF2-40B4-BE49-F238E27FC236}">
                <a16:creationId xmlns:a16="http://schemas.microsoft.com/office/drawing/2014/main" id="{51A0DD60-4C71-4974-8439-CAACC5EE4DE4}"/>
              </a:ext>
            </a:extLst>
          </p:cNvPr>
          <p:cNvSpPr>
            <a:spLocks xmlns:a="http://schemas.openxmlformats.org/drawingml/2006/main" noGrp="1"/>
          </p:cNvSpPr>
          <p:nvPr/>
        </p:nvSpPr>
        <p:spPr>
          <a:xfrm xmlns:a="http://schemas.openxmlformats.org/drawingml/2006/main">
            <a:off x="4476750" y="3886200"/>
            <a:ext cx="276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Read-only agent, tool server,</a:t>
            </a:r>
          </a:p>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three diagnostic fixtures</a:t>
            </a:r>
          </a:p>
        </p:txBody>
      </p:sp>
      <p:sp>
        <p:nvSpPr>
          <p:cNvPr id="15" name="">
            <a:extLst xmlns:a="http://schemas.openxmlformats.org/drawingml/2006/main">
              <a:ext uri="{FF2B5EF4-FFF2-40B4-BE49-F238E27FC236}">
                <a16:creationId xmlns:a16="http://schemas.microsoft.com/office/drawing/2014/main" id="{410EF7CD-044B-46F2-9635-9AB93AAF097A}"/>
              </a:ext>
            </a:extLst>
          </p:cNvPr>
          <p:cNvSpPr>
            <a:spLocks xmlns:a="http://schemas.openxmlformats.org/drawingml/2006/main" noGrp="1"/>
          </p:cNvSpPr>
          <p:nvPr/>
        </p:nvSpPr>
        <p:spPr>
          <a:xfrm xmlns:a="http://schemas.openxmlformats.org/drawingml/2006/main">
            <a:off x="7905750" y="2943225"/>
            <a:ext cx="552450" cy="552450"/>
          </a:xfrm>
          <a:prstGeom xmlns:a="http://schemas.openxmlformats.org/drawingml/2006/main" prst="roundRect">
            <a:avLst>
              <a:gd name="adj" fmla="val 13793"/>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1B890EC-1993-486C-A5AA-0A5A1B3A78E8}"/>
              </a:ext>
            </a:extLst>
          </p:cNvPr>
          <p:cNvSpPr>
            <a:spLocks xmlns:a="http://schemas.openxmlformats.org/drawingml/2006/main" noGrp="1"/>
          </p:cNvSpPr>
          <p:nvPr/>
        </p:nvSpPr>
        <p:spPr>
          <a:xfrm xmlns:a="http://schemas.openxmlformats.org/drawingml/2006/main">
            <a:off x="7905750" y="3057525"/>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AI</a:t>
            </a:r>
          </a:p>
        </p:txBody>
      </p:sp>
      <p:sp>
        <p:nvSpPr>
          <p:cNvPr id="17" name="">
            <a:extLst xmlns:a="http://schemas.openxmlformats.org/drawingml/2006/main">
              <a:ext uri="{FF2B5EF4-FFF2-40B4-BE49-F238E27FC236}">
                <a16:creationId xmlns:a16="http://schemas.microsoft.com/office/drawing/2014/main" id="{A4EB928D-1F43-4DBF-ADC7-4F573E12FB4C}"/>
              </a:ext>
            </a:extLst>
          </p:cNvPr>
          <p:cNvSpPr>
            <a:spLocks xmlns:a="http://schemas.openxmlformats.org/drawingml/2006/main" noGrp="1"/>
          </p:cNvSpPr>
          <p:nvPr/>
        </p:nvSpPr>
        <p:spPr>
          <a:xfrm xmlns:a="http://schemas.openxmlformats.org/drawingml/2006/main">
            <a:off x="7905750" y="2076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AI INTEGRATION</a:t>
            </a:r>
          </a:p>
        </p:txBody>
      </p:sp>
      <p:sp>
        <p:nvSpPr>
          <p:cNvPr id="18" name="">
            <a:extLst xmlns:a="http://schemas.openxmlformats.org/drawingml/2006/main">
              <a:ext uri="{FF2B5EF4-FFF2-40B4-BE49-F238E27FC236}">
                <a16:creationId xmlns:a16="http://schemas.microsoft.com/office/drawing/2014/main" id="{405BFFA4-5979-48FC-8D3A-9CA983EA7DC0}"/>
              </a:ext>
            </a:extLst>
          </p:cNvPr>
          <p:cNvSpPr>
            <a:spLocks xmlns:a="http://schemas.openxmlformats.org/drawingml/2006/main" noGrp="1"/>
          </p:cNvSpPr>
          <p:nvPr/>
        </p:nvSpPr>
        <p:spPr>
          <a:xfrm xmlns:a="http://schemas.openxmlformats.org/drawingml/2006/main">
            <a:off x="7905750" y="24479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OpenClaw</a:t>
            </a:r>
          </a:p>
        </p:txBody>
      </p:sp>
      <p:sp>
        <p:nvSpPr>
          <p:cNvPr id="19" name="">
            <a:extLst xmlns:a="http://schemas.openxmlformats.org/drawingml/2006/main">
              <a:ext uri="{FF2B5EF4-FFF2-40B4-BE49-F238E27FC236}">
                <a16:creationId xmlns:a16="http://schemas.microsoft.com/office/drawing/2014/main" id="{0F25A1C4-D889-405F-A20A-6F2F42D96861}"/>
              </a:ext>
            </a:extLst>
          </p:cNvPr>
          <p:cNvSpPr>
            <a:spLocks xmlns:a="http://schemas.openxmlformats.org/drawingml/2006/main" noGrp="1"/>
          </p:cNvSpPr>
          <p:nvPr/>
        </p:nvSpPr>
        <p:spPr>
          <a:xfrm xmlns:a="http://schemas.openxmlformats.org/drawingml/2006/main">
            <a:off x="7905750" y="3886200"/>
            <a:ext cx="2762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MCP adapter, facade,</a:t>
            </a:r>
          </a:p>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E2E through Open WebUI</a:t>
            </a:r>
          </a:p>
        </p:txBody>
      </p:sp>
      <p:sp>
        <p:nvSpPr>
          <p:cNvPr id="20" name="">
            <a:extLst xmlns:a="http://schemas.openxmlformats.org/drawingml/2006/main">
              <a:ext uri="{FF2B5EF4-FFF2-40B4-BE49-F238E27FC236}">
                <a16:creationId xmlns:a16="http://schemas.microsoft.com/office/drawing/2014/main" id="{CA2CDA24-5D22-449D-85B2-4913F6C7FF35}"/>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INSTALLATION PATH</a:t>
            </a:r>
          </a:p>
        </p:txBody>
      </p:sp>
      <p:sp>
        <p:nvSpPr>
          <p:cNvPr id="21" name="">
            <a:extLst xmlns:a="http://schemas.openxmlformats.org/drawingml/2006/main">
              <a:ext uri="{FF2B5EF4-FFF2-40B4-BE49-F238E27FC236}">
                <a16:creationId xmlns:a16="http://schemas.microsoft.com/office/drawing/2014/main" id="{BE6F5829-983B-4218-916B-90F2788880C6}"/>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04</a:t>
            </a:r>
          </a:p>
        </p:txBody>
      </p:sp>
    </p:spTree>
    <p:extLst>
      <p:ext uri="{BB962C8B-B14F-4D97-AF65-F5344CB8AC3E}">
        <p14:creationId xmlns:p14="http://schemas.microsoft.com/office/powerpoint/2010/main" val="17758943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AD5F5FC0-D88F-4AA7-ABC7-A351B501AC28}"/>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A clean start prevents most installation failures</a:t>
            </a:r>
          </a:p>
        </p:txBody>
      </p:sp>
      <p:sp>
        <p:nvSpPr>
          <p:cNvPr id="2" name="">
            <a:extLst xmlns:a="http://schemas.openxmlformats.org/drawingml/2006/main">
              <a:ext uri="{FF2B5EF4-FFF2-40B4-BE49-F238E27FC236}">
                <a16:creationId xmlns:a16="http://schemas.microsoft.com/office/drawing/2014/main" id="{09934993-5AF2-4272-AC60-888B63D93B8D}"/>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Check tools, resources, and the correct branch before the first Make command.</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2E8797E3-E16E-445B-9347-E116E05EF6B8}"/>
              </a:ext>
            </a:extLst>
          </p:cNvPr>
          <p:cNvSpPr>
            <a:spLocks xmlns:a="http://schemas.openxmlformats.org/drawingml/2006/main" noGrp="1"/>
          </p:cNvSpPr>
          <p:nvPr/>
        </p:nvSpPr>
        <p:spPr>
          <a:xfrm xmlns:a="http://schemas.openxmlformats.org/drawingml/2006/main">
            <a:off x="666750" y="21526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621BCD94-AC9D-4D0C-BEF0-56BDE5A1A142}"/>
              </a:ext>
            </a:extLst>
          </p:cNvPr>
          <p:cNvSpPr>
            <a:spLocks xmlns:a="http://schemas.openxmlformats.org/drawingml/2006/main" noGrp="1"/>
          </p:cNvSpPr>
          <p:nvPr/>
        </p:nvSpPr>
        <p:spPr>
          <a:xfrm xmlns:a="http://schemas.openxmlformats.org/drawingml/2006/main">
            <a:off x="971550" y="21526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macOS, Multipass, kubectl, Helm, Git, Python 3, jq, and GNU Make</a:t>
            </a:r>
          </a:p>
        </p:txBody>
      </p:sp>
      <p:sp>
        <p:nvSpPr>
          <p:cNvPr id="6" name="">
            <a:extLst xmlns:a="http://schemas.openxmlformats.org/drawingml/2006/main">
              <a:ext uri="{FF2B5EF4-FFF2-40B4-BE49-F238E27FC236}">
                <a16:creationId xmlns:a16="http://schemas.microsoft.com/office/drawing/2014/main" id="{2CF29005-18B1-403C-9489-121615F1BC4E}"/>
              </a:ext>
            </a:extLst>
          </p:cNvPr>
          <p:cNvSpPr>
            <a:spLocks xmlns:a="http://schemas.openxmlformats.org/drawingml/2006/main" noGrp="1"/>
          </p:cNvSpPr>
          <p:nvPr/>
        </p:nvSpPr>
        <p:spPr>
          <a:xfrm xmlns:a="http://schemas.openxmlformats.org/drawingml/2006/main">
            <a:off x="666750" y="28003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D7D54FCC-24AE-4E23-BF53-6E435EB2E474}"/>
              </a:ext>
            </a:extLst>
          </p:cNvPr>
          <p:cNvSpPr>
            <a:spLocks xmlns:a="http://schemas.openxmlformats.org/drawingml/2006/main" noGrp="1"/>
          </p:cNvSpPr>
          <p:nvPr/>
        </p:nvSpPr>
        <p:spPr>
          <a:xfrm xmlns:a="http://schemas.openxmlformats.org/drawingml/2006/main">
            <a:off x="971550" y="28003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At least two local VMs with about 4 CPUs and 8 GiB RAM each</a:t>
            </a:r>
          </a:p>
        </p:txBody>
      </p:sp>
      <p:sp>
        <p:nvSpPr>
          <p:cNvPr id="8" name="">
            <a:extLst xmlns:a="http://schemas.openxmlformats.org/drawingml/2006/main">
              <a:ext uri="{FF2B5EF4-FFF2-40B4-BE49-F238E27FC236}">
                <a16:creationId xmlns:a16="http://schemas.microsoft.com/office/drawing/2014/main" id="{847607F0-992B-448E-9310-FE7666E805AC}"/>
              </a:ext>
            </a:extLst>
          </p:cNvPr>
          <p:cNvSpPr>
            <a:spLocks xmlns:a="http://schemas.openxmlformats.org/drawingml/2006/main" noGrp="1"/>
          </p:cNvSpPr>
          <p:nvPr/>
        </p:nvSpPr>
        <p:spPr>
          <a:xfrm xmlns:a="http://schemas.openxmlformats.org/drawingml/2006/main">
            <a:off x="666750" y="34480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C99828AF-E591-4CAA-B699-C8CDEF23F1D2}"/>
              </a:ext>
            </a:extLst>
          </p:cNvPr>
          <p:cNvSpPr>
            <a:spLocks xmlns:a="http://schemas.openxmlformats.org/drawingml/2006/main" noGrp="1"/>
          </p:cNvSpPr>
          <p:nvPr/>
        </p:nvSpPr>
        <p:spPr>
          <a:xfrm xmlns:a="http://schemas.openxmlformats.org/drawingml/2006/main">
            <a:off x="971550" y="34480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An SSH key for access to the Multipass VMs</a:t>
            </a:r>
          </a:p>
        </p:txBody>
      </p:sp>
      <p:sp>
        <p:nvSpPr>
          <p:cNvPr id="10" name="">
            <a:extLst xmlns:a="http://schemas.openxmlformats.org/drawingml/2006/main">
              <a:ext uri="{FF2B5EF4-FFF2-40B4-BE49-F238E27FC236}">
                <a16:creationId xmlns:a16="http://schemas.microsoft.com/office/drawing/2014/main" id="{4F1E8315-486C-4C14-B234-ECA6463E160A}"/>
              </a:ext>
            </a:extLst>
          </p:cNvPr>
          <p:cNvSpPr>
            <a:spLocks xmlns:a="http://schemas.openxmlformats.org/drawingml/2006/main" noGrp="1"/>
          </p:cNvSpPr>
          <p:nvPr/>
        </p:nvSpPr>
        <p:spPr>
          <a:xfrm xmlns:a="http://schemas.openxmlformats.org/drawingml/2006/main">
            <a:off x="666750" y="40957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4A150C58-6B5C-4676-A3B6-B8726321B82E}"/>
              </a:ext>
            </a:extLst>
          </p:cNvPr>
          <p:cNvSpPr>
            <a:spLocks xmlns:a="http://schemas.openxmlformats.org/drawingml/2006/main" noGrp="1"/>
          </p:cNvSpPr>
          <p:nvPr/>
        </p:nvSpPr>
        <p:spPr>
          <a:xfrm xmlns:a="http://schemas.openxmlformats.org/drawingml/2006/main">
            <a:off x="971550" y="4095750"/>
            <a:ext cx="5886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The feature branch containing kagent/ and openclaw/</a:t>
            </a:r>
          </a:p>
        </p:txBody>
      </p:sp>
      <p:sp>
        <p:nvSpPr>
          <p:cNvPr id="12" name="">
            <a:extLst xmlns:a="http://schemas.openxmlformats.org/drawingml/2006/main">
              <a:ext uri="{FF2B5EF4-FFF2-40B4-BE49-F238E27FC236}">
                <a16:creationId xmlns:a16="http://schemas.microsoft.com/office/drawing/2014/main" id="{20877D4C-9FE7-4214-93AC-34802DBC140C}"/>
              </a:ext>
            </a:extLst>
          </p:cNvPr>
          <p:cNvSpPr>
            <a:spLocks xmlns:a="http://schemas.openxmlformats.org/drawingml/2006/main" noGrp="1"/>
          </p:cNvSpPr>
          <p:nvPr/>
        </p:nvSpPr>
        <p:spPr>
          <a:xfrm xmlns:a="http://schemas.openxmlformats.org/drawingml/2006/main">
            <a:off x="7429500" y="2152650"/>
            <a:ext cx="4095750" cy="2381250"/>
          </a:xfrm>
          <a:prstGeom xmlns:a="http://schemas.openxmlformats.org/drawingml/2006/main" prst="roundRect">
            <a:avLst>
              <a:gd name="adj" fmla="val 3200"/>
            </a:avLst>
          </a:prstGeom>
          <a:solidFill xmlns:a="http://schemas.openxmlformats.org/drawingml/2006/main">
            <a:srgbClr val="151A21"/>
          </a:solidFill>
          <a:ln xmlns:a="http://schemas.openxmlformats.org/drawingml/2006/main" w="0">
            <a:noFill/>
            <a:prstDash val="solid"/>
          </a:ln>
        </p:spPr>
      </p:sp>
      <p:sp>
        <p:nvSpPr>
          <p:cNvPr id="13" name="command">
            <a:extLst xmlns:a="http://schemas.openxmlformats.org/drawingml/2006/main">
              <a:ext uri="{FF2B5EF4-FFF2-40B4-BE49-F238E27FC236}">
                <a16:creationId xmlns:a16="http://schemas.microsoft.com/office/drawing/2014/main" id="{4BC20183-906D-4536-94BB-B852CE61F8FD}"/>
              </a:ext>
            </a:extLst>
          </p:cNvPr>
          <p:cNvSpPr>
            <a:spLocks xmlns:a="http://schemas.openxmlformats.org/drawingml/2006/main" noGrp="1"/>
          </p:cNvSpPr>
          <p:nvPr/>
        </p:nvSpPr>
        <p:spPr>
          <a:xfrm xmlns:a="http://schemas.openxmlformats.org/drawingml/2006/main">
            <a:off x="7658100" y="2324100"/>
            <a:ext cx="36385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git clone --branch feature https://github.com/openkubes/ok-local.git</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cd ok-local</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setup</a:t>
            </a:r>
          </a:p>
        </p:txBody>
      </p:sp>
      <p:sp>
        <p:nvSpPr>
          <p:cNvPr id="14" name="">
            <a:extLst xmlns:a="http://schemas.openxmlformats.org/drawingml/2006/main">
              <a:ext uri="{FF2B5EF4-FFF2-40B4-BE49-F238E27FC236}">
                <a16:creationId xmlns:a16="http://schemas.microsoft.com/office/drawing/2014/main" id="{DBDEF96B-9125-4327-B6FA-19DECF9A7E33}"/>
              </a:ext>
            </a:extLst>
          </p:cNvPr>
          <p:cNvSpPr>
            <a:spLocks xmlns:a="http://schemas.openxmlformats.org/drawingml/2006/main" noGrp="1"/>
          </p:cNvSpPr>
          <p:nvPr/>
        </p:nvSpPr>
        <p:spPr>
          <a:xfrm xmlns:a="http://schemas.openxmlformats.org/drawingml/2006/main">
            <a:off x="7429500" y="48577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Tip</a:t>
            </a:r>
          </a:p>
        </p:txBody>
      </p:sp>
      <p:sp>
        <p:nvSpPr>
          <p:cNvPr id="15" name="">
            <a:extLst xmlns:a="http://schemas.openxmlformats.org/drawingml/2006/main">
              <a:ext uri="{FF2B5EF4-FFF2-40B4-BE49-F238E27FC236}">
                <a16:creationId xmlns:a16="http://schemas.microsoft.com/office/drawing/2014/main" id="{0E313C64-CBE6-4B83-B91B-CE89E144A0C3}"/>
              </a:ext>
            </a:extLst>
          </p:cNvPr>
          <p:cNvSpPr>
            <a:spLocks xmlns:a="http://schemas.openxmlformats.org/drawingml/2006/main" noGrp="1"/>
          </p:cNvSpPr>
          <p:nvPr/>
        </p:nvSpPr>
        <p:spPr>
          <a:xfrm xmlns:a="http://schemas.openxmlformats.org/drawingml/2006/main">
            <a:off x="7429500" y="518160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Continue only when both nodes report Ready.</a:t>
            </a:r>
          </a:p>
        </p:txBody>
      </p:sp>
      <p:sp>
        <p:nvSpPr>
          <p:cNvPr id="16" name="">
            <a:extLst xmlns:a="http://schemas.openxmlformats.org/drawingml/2006/main">
              <a:ext uri="{FF2B5EF4-FFF2-40B4-BE49-F238E27FC236}">
                <a16:creationId xmlns:a16="http://schemas.microsoft.com/office/drawing/2014/main" id="{EB873776-12EF-4535-AE6E-6381F7D12B73}"/>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PREPARATION</a:t>
            </a:r>
          </a:p>
        </p:txBody>
      </p:sp>
      <p:sp>
        <p:nvSpPr>
          <p:cNvPr id="17" name="">
            <a:extLst xmlns:a="http://schemas.openxmlformats.org/drawingml/2006/main">
              <a:ext uri="{FF2B5EF4-FFF2-40B4-BE49-F238E27FC236}">
                <a16:creationId xmlns:a16="http://schemas.microsoft.com/office/drawing/2014/main" id="{3F840999-9869-4C17-BAAB-FFB02C31F4D4}"/>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05</a:t>
            </a:r>
          </a:p>
        </p:txBody>
      </p:sp>
    </p:spTree>
    <p:extLst>
      <p:ext uri="{BB962C8B-B14F-4D97-AF65-F5344CB8AC3E}">
        <p14:creationId xmlns:p14="http://schemas.microsoft.com/office/powerpoint/2010/main" val="3400202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09CD24B3-C213-4996-8A99-AB0C0EF487BF}"/>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87"/>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local foundation provides clusters, model, and user interface</a:t>
            </a:r>
          </a:p>
        </p:txBody>
      </p:sp>
      <p:sp>
        <p:nvSpPr>
          <p:cNvPr id="2" name="">
            <a:extLst xmlns:a="http://schemas.openxmlformats.org/drawingml/2006/main">
              <a:ext uri="{FF2B5EF4-FFF2-40B4-BE49-F238E27FC236}">
                <a16:creationId xmlns:a16="http://schemas.microsoft.com/office/drawing/2014/main" id="{209C69C0-0299-4737-A69D-D702B2115060}"/>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It is created once and then reused by kagent and OpenClaw.</a:t>
            </a:r>
          </a:p>
        </p:txBody>
      </p:sp>
      <p:cxnSp>
        <p:nvCxnSpPr>
          <p:cNvPr id="24"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6BD77BA5-9291-430E-A9AB-B0D954E1B764}"/>
              </a:ext>
            </a:extLst>
          </p:cNvPr>
          <p:cNvSpPr>
            <a:spLocks xmlns:a="http://schemas.openxmlformats.org/drawingml/2006/main" noGrp="1"/>
          </p:cNvSpPr>
          <p:nvPr/>
        </p:nvSpPr>
        <p:spPr>
          <a:xfrm xmlns:a="http://schemas.openxmlformats.org/drawingml/2006/main">
            <a:off x="571500" y="2171700"/>
            <a:ext cx="2514600" cy="3276600"/>
          </a:xfrm>
          <a:prstGeom xmlns:a="http://schemas.openxmlformats.org/drawingml/2006/main" prst="roundRect">
            <a:avLst>
              <a:gd name="adj" fmla="val 3030"/>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FEFCC756-FA34-453A-B40F-50A8A8A7A718}"/>
              </a:ext>
            </a:extLst>
          </p:cNvPr>
          <p:cNvSpPr>
            <a:spLocks xmlns:a="http://schemas.openxmlformats.org/drawingml/2006/main" noGrp="1"/>
          </p:cNvSpPr>
          <p:nvPr/>
        </p:nvSpPr>
        <p:spPr>
          <a:xfrm xmlns:a="http://schemas.openxmlformats.org/drawingml/2006/main">
            <a:off x="8001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0E277E54-CA84-4A42-BDEF-86933FC43F92}"/>
              </a:ext>
            </a:extLst>
          </p:cNvPr>
          <p:cNvSpPr>
            <a:spLocks xmlns:a="http://schemas.openxmlformats.org/drawingml/2006/main" noGrp="1"/>
          </p:cNvSpPr>
          <p:nvPr/>
        </p:nvSpPr>
        <p:spPr>
          <a:xfrm xmlns:a="http://schemas.openxmlformats.org/drawingml/2006/main">
            <a:off x="8001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Cluster</a:t>
            </a:r>
          </a:p>
        </p:txBody>
      </p:sp>
      <p:sp>
        <p:nvSpPr>
          <p:cNvPr id="7" name="">
            <a:extLst xmlns:a="http://schemas.openxmlformats.org/drawingml/2006/main">
              <a:ext uri="{FF2B5EF4-FFF2-40B4-BE49-F238E27FC236}">
                <a16:creationId xmlns:a16="http://schemas.microsoft.com/office/drawing/2014/main" id="{E2959F6E-06EE-4B55-ADDD-C6EC0030CB3B}"/>
              </a:ext>
            </a:extLst>
          </p:cNvPr>
          <p:cNvSpPr>
            <a:spLocks xmlns:a="http://schemas.openxmlformats.org/drawingml/2006/main" noGrp="1"/>
          </p:cNvSpPr>
          <p:nvPr/>
        </p:nvSpPr>
        <p:spPr>
          <a:xfrm xmlns:a="http://schemas.openxmlformats.org/drawingml/2006/main">
            <a:off x="8001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setup</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tunnels</a:t>
            </a:r>
          </a:p>
        </p:txBody>
      </p:sp>
      <p:sp>
        <p:nvSpPr>
          <p:cNvPr id="8" name="">
            <a:extLst xmlns:a="http://schemas.openxmlformats.org/drawingml/2006/main">
              <a:ext uri="{FF2B5EF4-FFF2-40B4-BE49-F238E27FC236}">
                <a16:creationId xmlns:a16="http://schemas.microsoft.com/office/drawing/2014/main" id="{CC3AD564-5BC0-4CC9-A80E-59C93AD30CA0}"/>
              </a:ext>
            </a:extLst>
          </p:cNvPr>
          <p:cNvSpPr>
            <a:spLocks xmlns:a="http://schemas.openxmlformats.org/drawingml/2006/main" noGrp="1"/>
          </p:cNvSpPr>
          <p:nvPr/>
        </p:nvSpPr>
        <p:spPr>
          <a:xfrm xmlns:a="http://schemas.openxmlformats.org/drawingml/2006/main">
            <a:off x="3429000" y="2171700"/>
            <a:ext cx="2514600" cy="3276600"/>
          </a:xfrm>
          <a:prstGeom xmlns:a="http://schemas.openxmlformats.org/drawingml/2006/main" prst="roundRect">
            <a:avLst>
              <a:gd name="adj" fmla="val 3030"/>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1D86EF0-FAF4-4396-8D07-C80E35E21191}"/>
              </a:ext>
            </a:extLst>
          </p:cNvPr>
          <p:cNvSpPr>
            <a:spLocks xmlns:a="http://schemas.openxmlformats.org/drawingml/2006/main" noGrp="1"/>
          </p:cNvSpPr>
          <p:nvPr/>
        </p:nvSpPr>
        <p:spPr>
          <a:xfrm xmlns:a="http://schemas.openxmlformats.org/drawingml/2006/main">
            <a:off x="36576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4F27D0A6-FC10-4F9D-AD8B-1FC892A2A38B}"/>
              </a:ext>
            </a:extLst>
          </p:cNvPr>
          <p:cNvSpPr>
            <a:spLocks xmlns:a="http://schemas.openxmlformats.org/drawingml/2006/main" noGrp="1"/>
          </p:cNvSpPr>
          <p:nvPr/>
        </p:nvSpPr>
        <p:spPr>
          <a:xfrm xmlns:a="http://schemas.openxmlformats.org/drawingml/2006/main">
            <a:off x="36576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Crossplane</a:t>
            </a:r>
          </a:p>
        </p:txBody>
      </p:sp>
      <p:sp>
        <p:nvSpPr>
          <p:cNvPr id="11" name="">
            <a:extLst xmlns:a="http://schemas.openxmlformats.org/drawingml/2006/main">
              <a:ext uri="{FF2B5EF4-FFF2-40B4-BE49-F238E27FC236}">
                <a16:creationId xmlns:a16="http://schemas.microsoft.com/office/drawing/2014/main" id="{CCFE3E97-D52D-4311-B8A4-B6C6DAEB8365}"/>
              </a:ext>
            </a:extLst>
          </p:cNvPr>
          <p:cNvSpPr>
            <a:spLocks xmlns:a="http://schemas.openxmlformats.org/drawingml/2006/main" noGrp="1"/>
          </p:cNvSpPr>
          <p:nvPr/>
        </p:nvSpPr>
        <p:spPr>
          <a:xfrm xmlns:a="http://schemas.openxmlformats.org/drawingml/2006/main">
            <a:off x="36576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Install providers</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Set ProviderConfig</a:t>
            </a:r>
          </a:p>
        </p:txBody>
      </p:sp>
      <p:sp>
        <p:nvSpPr>
          <p:cNvPr id="12" name="">
            <a:extLst xmlns:a="http://schemas.openxmlformats.org/drawingml/2006/main">
              <a:ext uri="{FF2B5EF4-FFF2-40B4-BE49-F238E27FC236}">
                <a16:creationId xmlns:a16="http://schemas.microsoft.com/office/drawing/2014/main" id="{BA574A59-3B67-4E09-A5C6-249C1B2EEA41}"/>
              </a:ext>
            </a:extLst>
          </p:cNvPr>
          <p:cNvSpPr>
            <a:spLocks xmlns:a="http://schemas.openxmlformats.org/drawingml/2006/main" noGrp="1"/>
          </p:cNvSpPr>
          <p:nvPr/>
        </p:nvSpPr>
        <p:spPr>
          <a:xfrm xmlns:a="http://schemas.openxmlformats.org/drawingml/2006/main">
            <a:off x="6286500" y="2171700"/>
            <a:ext cx="2514600" cy="3276600"/>
          </a:xfrm>
          <a:prstGeom xmlns:a="http://schemas.openxmlformats.org/drawingml/2006/main" prst="roundRect">
            <a:avLst>
              <a:gd name="adj" fmla="val 3030"/>
            </a:avLst>
          </a:prstGeom>
          <a:solidFill xmlns:a="http://schemas.openxmlformats.org/drawingml/2006/main">
            <a:srgbClr val="F6F7F8"/>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BAA6C83-2389-42D9-A402-C0669BA64556}"/>
              </a:ext>
            </a:extLst>
          </p:cNvPr>
          <p:cNvSpPr>
            <a:spLocks xmlns:a="http://schemas.openxmlformats.org/drawingml/2006/main" noGrp="1"/>
          </p:cNvSpPr>
          <p:nvPr/>
        </p:nvSpPr>
        <p:spPr>
          <a:xfrm xmlns:a="http://schemas.openxmlformats.org/drawingml/2006/main">
            <a:off x="65151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7E16A716-B0FF-4837-994B-6EDA1AEEF690}"/>
              </a:ext>
            </a:extLst>
          </p:cNvPr>
          <p:cNvSpPr>
            <a:spLocks xmlns:a="http://schemas.openxmlformats.org/drawingml/2006/main" noGrp="1"/>
          </p:cNvSpPr>
          <p:nvPr/>
        </p:nvSpPr>
        <p:spPr>
          <a:xfrm xmlns:a="http://schemas.openxmlformats.org/drawingml/2006/main">
            <a:off x="65151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Ollama</a:t>
            </a:r>
          </a:p>
        </p:txBody>
      </p:sp>
      <p:sp>
        <p:nvSpPr>
          <p:cNvPr id="15" name="">
            <a:extLst xmlns:a="http://schemas.openxmlformats.org/drawingml/2006/main">
              <a:ext uri="{FF2B5EF4-FFF2-40B4-BE49-F238E27FC236}">
                <a16:creationId xmlns:a16="http://schemas.microsoft.com/office/drawing/2014/main" id="{FC8915A9-94A2-4349-9EF6-701339B9F516}"/>
              </a:ext>
            </a:extLst>
          </p:cNvPr>
          <p:cNvSpPr>
            <a:spLocks xmlns:a="http://schemas.openxmlformats.org/drawingml/2006/main" noGrp="1"/>
          </p:cNvSpPr>
          <p:nvPr/>
        </p:nvSpPr>
        <p:spPr>
          <a:xfrm xmlns:a="http://schemas.openxmlformats.org/drawingml/2006/main">
            <a:off x="65151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install-ollama</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Load model</a:t>
            </a:r>
          </a:p>
        </p:txBody>
      </p:sp>
      <p:sp>
        <p:nvSpPr>
          <p:cNvPr id="16" name="">
            <a:extLst xmlns:a="http://schemas.openxmlformats.org/drawingml/2006/main">
              <a:ext uri="{FF2B5EF4-FFF2-40B4-BE49-F238E27FC236}">
                <a16:creationId xmlns:a16="http://schemas.microsoft.com/office/drawing/2014/main" id="{29F4B4D6-D65A-4527-B4B5-78AA074ECDB2}"/>
              </a:ext>
            </a:extLst>
          </p:cNvPr>
          <p:cNvSpPr>
            <a:spLocks xmlns:a="http://schemas.openxmlformats.org/drawingml/2006/main" noGrp="1"/>
          </p:cNvSpPr>
          <p:nvPr/>
        </p:nvSpPr>
        <p:spPr>
          <a:xfrm xmlns:a="http://schemas.openxmlformats.org/drawingml/2006/main">
            <a:off x="9144000" y="2171700"/>
            <a:ext cx="2514600" cy="3276600"/>
          </a:xfrm>
          <a:prstGeom xmlns:a="http://schemas.openxmlformats.org/drawingml/2006/main" prst="roundRect">
            <a:avLst>
              <a:gd name="adj" fmla="val 3030"/>
            </a:avLst>
          </a:prstGeom>
          <a:solidFill xmlns:a="http://schemas.openxmlformats.org/drawingml/2006/main">
            <a:srgbClr val="EEF7FD"/>
          </a:solidFill>
          <a:ln xmlns:a="http://schemas.openxmlformats.org/drawingml/2006/main" w="9525">
            <a:solidFill>
              <a:srgbClr val="3D8DFF"/>
            </a:solidFill>
            <a:prstDash val="solid"/>
          </a:ln>
        </p:spPr>
      </p:sp>
      <p:sp>
        <p:nvSpPr>
          <p:cNvPr id="17" name="">
            <a:extLst xmlns:a="http://schemas.openxmlformats.org/drawingml/2006/main">
              <a:ext uri="{FF2B5EF4-FFF2-40B4-BE49-F238E27FC236}">
                <a16:creationId xmlns:a16="http://schemas.microsoft.com/office/drawing/2014/main" id="{5F9B8C26-C3A6-499D-BB30-741E915C9F2F}"/>
              </a:ext>
            </a:extLst>
          </p:cNvPr>
          <p:cNvSpPr>
            <a:spLocks xmlns:a="http://schemas.openxmlformats.org/drawingml/2006/main" noGrp="1"/>
          </p:cNvSpPr>
          <p:nvPr/>
        </p:nvSpPr>
        <p:spPr>
          <a:xfrm xmlns:a="http://schemas.openxmlformats.org/drawingml/2006/main">
            <a:off x="9372600" y="2400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4AFE6DA4-A62F-49DD-81B6-7A8C1F717218}"/>
              </a:ext>
            </a:extLst>
          </p:cNvPr>
          <p:cNvSpPr>
            <a:spLocks xmlns:a="http://schemas.openxmlformats.org/drawingml/2006/main" noGrp="1"/>
          </p:cNvSpPr>
          <p:nvPr/>
        </p:nvSpPr>
        <p:spPr>
          <a:xfrm xmlns:a="http://schemas.openxmlformats.org/drawingml/2006/main">
            <a:off x="9372600" y="3009900"/>
            <a:ext cx="205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Open WebUI</a:t>
            </a:r>
          </a:p>
        </p:txBody>
      </p:sp>
      <p:sp>
        <p:nvSpPr>
          <p:cNvPr id="19" name="">
            <a:extLst xmlns:a="http://schemas.openxmlformats.org/drawingml/2006/main">
              <a:ext uri="{FF2B5EF4-FFF2-40B4-BE49-F238E27FC236}">
                <a16:creationId xmlns:a16="http://schemas.microsoft.com/office/drawing/2014/main" id="{FA752065-17F3-4CD9-A2FE-6C048EDB0CC8}"/>
              </a:ext>
            </a:extLst>
          </p:cNvPr>
          <p:cNvSpPr>
            <a:spLocks xmlns:a="http://schemas.openxmlformats.org/drawingml/2006/main" noGrp="1"/>
          </p:cNvSpPr>
          <p:nvPr/>
        </p:nvSpPr>
        <p:spPr>
          <a:xfrm xmlns:a="http://schemas.openxmlformats.org/drawingml/2006/main">
            <a:off x="9372600" y="3829050"/>
            <a:ext cx="2057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webui-setup</a:t>
            </a:r>
          </a:p>
          <a:p xmlns:a="http://schemas.openxmlformats.org/drawingml/2006/main">
            <a:pPr algn="l">
              <a:defRPr sz="1425" b="0">
                <a:solidFill>
                  <a:srgbClr val="5D6570"/>
                </a:solidFill>
                <a:latin typeface="Helvetica Neue"/>
                <a:ea typeface="Helvetica Neue"/>
                <a:cs typeface="Helvetica Neue"/>
              </a:defRPr>
            </a:pPr>
            <a:r>
              <a:rPr sz="1425" b="0">
                <a:solidFill>
                  <a:srgbClr val="5D6570"/>
                </a:solidFill>
                <a:latin typeface="Helvetica Neue"/>
                <a:ea typeface="Helvetica Neue"/>
                <a:cs typeface="Helvetica Neue"/>
              </a:rPr>
              <a:t>make webui-deploy</a:t>
            </a:r>
          </a:p>
        </p:txBody>
      </p:sp>
      <p:sp>
        <p:nvSpPr>
          <p:cNvPr id="20" name="">
            <a:extLst xmlns:a="http://schemas.openxmlformats.org/drawingml/2006/main">
              <a:ext uri="{FF2B5EF4-FFF2-40B4-BE49-F238E27FC236}">
                <a16:creationId xmlns:a16="http://schemas.microsoft.com/office/drawing/2014/main" id="{ECA80B07-7BD2-49F7-B0C6-4A88BCB454C8}"/>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LOCAL FOUNDATION</a:t>
            </a:r>
          </a:p>
        </p:txBody>
      </p:sp>
      <p:sp>
        <p:nvSpPr>
          <p:cNvPr id="21" name="">
            <a:extLst xmlns:a="http://schemas.openxmlformats.org/drawingml/2006/main">
              <a:ext uri="{FF2B5EF4-FFF2-40B4-BE49-F238E27FC236}">
                <a16:creationId xmlns:a16="http://schemas.microsoft.com/office/drawing/2014/main" id="{F582B184-8948-4DEF-A503-CFD4859CD323}"/>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06</a:t>
            </a:r>
          </a:p>
        </p:txBody>
      </p:sp>
    </p:spTree>
    <p:extLst>
      <p:ext uri="{BB962C8B-B14F-4D97-AF65-F5344CB8AC3E}">
        <p14:creationId xmlns:p14="http://schemas.microsoft.com/office/powerpoint/2010/main" val="3538664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679F60C2-94EA-4CA0-8738-98700BF64EF0}"/>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local foundation is ready when four states are green</a:t>
            </a:r>
          </a:p>
        </p:txBody>
      </p:sp>
      <p:sp>
        <p:nvSpPr>
          <p:cNvPr id="2" name="">
            <a:extLst xmlns:a="http://schemas.openxmlformats.org/drawingml/2006/main">
              <a:ext uri="{FF2B5EF4-FFF2-40B4-BE49-F238E27FC236}">
                <a16:creationId xmlns:a16="http://schemas.microsoft.com/office/drawing/2014/main" id="{97AA7BFD-9044-4403-AFF1-04DAE6EDD283}"/>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Status commands provide faster feedback than a later failed E2E test.</a:t>
            </a:r>
          </a:p>
        </p:txBody>
      </p:sp>
      <p:cxnSp>
        <p:nvCxnSpPr>
          <p:cNvPr id="25"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6B33611B-22E5-42D7-A7DA-3F78FE3CF8DD}"/>
              </a:ext>
            </a:extLst>
          </p:cNvPr>
          <p:cNvSpPr>
            <a:spLocks xmlns:a="http://schemas.openxmlformats.org/drawingml/2006/main" noGrp="1"/>
          </p:cNvSpPr>
          <p:nvPr/>
        </p:nvSpPr>
        <p:spPr>
          <a:xfrm xmlns:a="http://schemas.openxmlformats.org/drawingml/2006/main">
            <a:off x="685800" y="18383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D6570"/>
                </a:solidFill>
                <a:latin typeface="Helvetica Neue"/>
                <a:ea typeface="Helvetica Neue"/>
                <a:cs typeface="Helvetica Neue"/>
              </a:defRPr>
            </a:pPr>
            <a:r>
              <a:rPr sz="1350" b="1">
                <a:solidFill>
                  <a:srgbClr val="5D6570"/>
                </a:solidFill>
                <a:latin typeface="Helvetica Neue"/>
                <a:ea typeface="Helvetica Neue"/>
                <a:cs typeface="Helvetica Neue"/>
              </a:rPr>
              <a:t>Component</a:t>
            </a:r>
          </a:p>
        </p:txBody>
      </p:sp>
      <p:sp>
        <p:nvSpPr>
          <p:cNvPr id="5" name="">
            <a:extLst xmlns:a="http://schemas.openxmlformats.org/drawingml/2006/main">
              <a:ext uri="{FF2B5EF4-FFF2-40B4-BE49-F238E27FC236}">
                <a16:creationId xmlns:a16="http://schemas.microsoft.com/office/drawing/2014/main" id="{078A9F0E-29CF-4F14-9DB4-41F4F734B1D2}"/>
              </a:ext>
            </a:extLst>
          </p:cNvPr>
          <p:cNvSpPr>
            <a:spLocks xmlns:a="http://schemas.openxmlformats.org/drawingml/2006/main" noGrp="1"/>
          </p:cNvSpPr>
          <p:nvPr/>
        </p:nvSpPr>
        <p:spPr>
          <a:xfrm xmlns:a="http://schemas.openxmlformats.org/drawingml/2006/main">
            <a:off x="2971800" y="183832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D6570"/>
                </a:solidFill>
                <a:latin typeface="Helvetica Neue"/>
                <a:ea typeface="Helvetica Neue"/>
                <a:cs typeface="Helvetica Neue"/>
              </a:defRPr>
            </a:pPr>
            <a:r>
              <a:rPr sz="1350" b="1">
                <a:solidFill>
                  <a:srgbClr val="5D6570"/>
                </a:solidFill>
                <a:latin typeface="Helvetica Neue"/>
                <a:ea typeface="Helvetica Neue"/>
                <a:cs typeface="Helvetica Neue"/>
              </a:rPr>
              <a:t>Check</a:t>
            </a:r>
          </a:p>
        </p:txBody>
      </p:sp>
      <p:sp>
        <p:nvSpPr>
          <p:cNvPr id="6" name="">
            <a:extLst xmlns:a="http://schemas.openxmlformats.org/drawingml/2006/main">
              <a:ext uri="{FF2B5EF4-FFF2-40B4-BE49-F238E27FC236}">
                <a16:creationId xmlns:a16="http://schemas.microsoft.com/office/drawing/2014/main" id="{14760E3D-B805-460D-B479-5EE18BE96D22}"/>
              </a:ext>
            </a:extLst>
          </p:cNvPr>
          <p:cNvSpPr>
            <a:spLocks xmlns:a="http://schemas.openxmlformats.org/drawingml/2006/main" noGrp="1"/>
          </p:cNvSpPr>
          <p:nvPr/>
        </p:nvSpPr>
        <p:spPr>
          <a:xfrm xmlns:a="http://schemas.openxmlformats.org/drawingml/2006/main">
            <a:off x="8305800" y="18383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D6570"/>
                </a:solidFill>
                <a:latin typeface="Helvetica Neue"/>
                <a:ea typeface="Helvetica Neue"/>
                <a:cs typeface="Helvetica Neue"/>
              </a:defRPr>
            </a:pPr>
            <a:r>
              <a:rPr sz="1350" b="1">
                <a:solidFill>
                  <a:srgbClr val="5D6570"/>
                </a:solidFill>
                <a:latin typeface="Helvetica Neue"/>
                <a:ea typeface="Helvetica Neue"/>
                <a:cs typeface="Helvetica Neue"/>
              </a:rPr>
              <a:t>Expected</a:t>
            </a:r>
          </a:p>
        </p:txBody>
      </p:sp>
      <p:sp>
        <p:nvSpPr>
          <p:cNvPr id="7" name="">
            <a:extLst xmlns:a="http://schemas.openxmlformats.org/drawingml/2006/main">
              <a:ext uri="{FF2B5EF4-FFF2-40B4-BE49-F238E27FC236}">
                <a16:creationId xmlns:a16="http://schemas.microsoft.com/office/drawing/2014/main" id="{F5CFF491-91AB-4E38-B686-D62B55310DA7}"/>
              </a:ext>
            </a:extLst>
          </p:cNvPr>
          <p:cNvSpPr>
            <a:spLocks xmlns:a="http://schemas.openxmlformats.org/drawingml/2006/main" noGrp="1"/>
          </p:cNvSpPr>
          <p:nvPr/>
        </p:nvSpPr>
        <p:spPr>
          <a:xfrm xmlns:a="http://schemas.openxmlformats.org/drawingml/2006/main">
            <a:off x="571500" y="2143125"/>
            <a:ext cx="11049000" cy="5905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DB74D2-3596-43F1-9D29-26D2D6F588AF}"/>
              </a:ext>
            </a:extLst>
          </p:cNvPr>
          <p:cNvSpPr>
            <a:spLocks xmlns:a="http://schemas.openxmlformats.org/drawingml/2006/main" noGrp="1"/>
          </p:cNvSpPr>
          <p:nvPr/>
        </p:nvSpPr>
        <p:spPr>
          <a:xfrm xmlns:a="http://schemas.openxmlformats.org/drawingml/2006/main">
            <a:off x="685800" y="22383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Cluster</a:t>
            </a:r>
          </a:p>
        </p:txBody>
      </p:sp>
      <p:sp>
        <p:nvSpPr>
          <p:cNvPr id="9" name="">
            <a:extLst xmlns:a="http://schemas.openxmlformats.org/drawingml/2006/main">
              <a:ext uri="{FF2B5EF4-FFF2-40B4-BE49-F238E27FC236}">
                <a16:creationId xmlns:a16="http://schemas.microsoft.com/office/drawing/2014/main" id="{B7B4EA9F-F025-4967-B67D-8CC45DD11F1F}"/>
              </a:ext>
            </a:extLst>
          </p:cNvPr>
          <p:cNvSpPr>
            <a:spLocks xmlns:a="http://schemas.openxmlformats.org/drawingml/2006/main" noGrp="1"/>
          </p:cNvSpPr>
          <p:nvPr/>
        </p:nvSpPr>
        <p:spPr>
          <a:xfrm xmlns:a="http://schemas.openxmlformats.org/drawingml/2006/main">
            <a:off x="2971800" y="22383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make nodes-all</a:t>
            </a:r>
          </a:p>
        </p:txBody>
      </p:sp>
      <p:sp>
        <p:nvSpPr>
          <p:cNvPr id="10" name="">
            <a:extLst xmlns:a="http://schemas.openxmlformats.org/drawingml/2006/main">
              <a:ext uri="{FF2B5EF4-FFF2-40B4-BE49-F238E27FC236}">
                <a16:creationId xmlns:a16="http://schemas.microsoft.com/office/drawing/2014/main" id="{20766770-5A27-465D-A10A-7F8FD05100CC}"/>
              </a:ext>
            </a:extLst>
          </p:cNvPr>
          <p:cNvSpPr>
            <a:spLocks xmlns:a="http://schemas.openxmlformats.org/drawingml/2006/main" noGrp="1"/>
          </p:cNvSpPr>
          <p:nvPr/>
        </p:nvSpPr>
        <p:spPr>
          <a:xfrm xmlns:a="http://schemas.openxmlformats.org/drawingml/2006/main">
            <a:off x="8305800" y="22383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Both nodes Ready</a:t>
            </a:r>
          </a:p>
        </p:txBody>
      </p:sp>
      <p:sp>
        <p:nvSpPr>
          <p:cNvPr id="11" name="">
            <a:extLst xmlns:a="http://schemas.openxmlformats.org/drawingml/2006/main">
              <a:ext uri="{FF2B5EF4-FFF2-40B4-BE49-F238E27FC236}">
                <a16:creationId xmlns:a16="http://schemas.microsoft.com/office/drawing/2014/main" id="{5C331036-71E2-4743-9BE5-1BD9F4F2FDCE}"/>
              </a:ext>
            </a:extLst>
          </p:cNvPr>
          <p:cNvSpPr>
            <a:spLocks xmlns:a="http://schemas.openxmlformats.org/drawingml/2006/main" noGrp="1"/>
          </p:cNvSpPr>
          <p:nvPr/>
        </p:nvSpPr>
        <p:spPr>
          <a:xfrm xmlns:a="http://schemas.openxmlformats.org/drawingml/2006/main">
            <a:off x="685800" y="29813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Crossplane</a:t>
            </a:r>
          </a:p>
        </p:txBody>
      </p:sp>
      <p:sp>
        <p:nvSpPr>
          <p:cNvPr id="12" name="">
            <a:extLst xmlns:a="http://schemas.openxmlformats.org/drawingml/2006/main">
              <a:ext uri="{FF2B5EF4-FFF2-40B4-BE49-F238E27FC236}">
                <a16:creationId xmlns:a16="http://schemas.microsoft.com/office/drawing/2014/main" id="{9FE11E3A-0A07-4A38-B850-A0420FD8D9A4}"/>
              </a:ext>
            </a:extLst>
          </p:cNvPr>
          <p:cNvSpPr>
            <a:spLocks xmlns:a="http://schemas.openxmlformats.org/drawingml/2006/main" noGrp="1"/>
          </p:cNvSpPr>
          <p:nvPr/>
        </p:nvSpPr>
        <p:spPr>
          <a:xfrm xmlns:a="http://schemas.openxmlformats.org/drawingml/2006/main">
            <a:off x="2971800" y="2981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kubectl … get providers.pkg.crossplane.io</a:t>
            </a:r>
          </a:p>
        </p:txBody>
      </p:sp>
      <p:sp>
        <p:nvSpPr>
          <p:cNvPr id="13" name="">
            <a:extLst xmlns:a="http://schemas.openxmlformats.org/drawingml/2006/main">
              <a:ext uri="{FF2B5EF4-FFF2-40B4-BE49-F238E27FC236}">
                <a16:creationId xmlns:a16="http://schemas.microsoft.com/office/drawing/2014/main" id="{B44DCB76-5195-4323-B4CD-C3EA3E78EE8C}"/>
              </a:ext>
            </a:extLst>
          </p:cNvPr>
          <p:cNvSpPr>
            <a:spLocks xmlns:a="http://schemas.openxmlformats.org/drawingml/2006/main" noGrp="1"/>
          </p:cNvSpPr>
          <p:nvPr/>
        </p:nvSpPr>
        <p:spPr>
          <a:xfrm xmlns:a="http://schemas.openxmlformats.org/drawingml/2006/main">
            <a:off x="8305800" y="298132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Provider Healthy</a:t>
            </a:r>
          </a:p>
        </p:txBody>
      </p:sp>
      <p:sp>
        <p:nvSpPr>
          <p:cNvPr id="14" name="">
            <a:extLst xmlns:a="http://schemas.openxmlformats.org/drawingml/2006/main">
              <a:ext uri="{FF2B5EF4-FFF2-40B4-BE49-F238E27FC236}">
                <a16:creationId xmlns:a16="http://schemas.microsoft.com/office/drawing/2014/main" id="{9528AE92-81A6-4E7C-B66E-71EBB4759511}"/>
              </a:ext>
            </a:extLst>
          </p:cNvPr>
          <p:cNvSpPr>
            <a:spLocks xmlns:a="http://schemas.openxmlformats.org/drawingml/2006/main" noGrp="1"/>
          </p:cNvSpPr>
          <p:nvPr/>
        </p:nvSpPr>
        <p:spPr>
          <a:xfrm xmlns:a="http://schemas.openxmlformats.org/drawingml/2006/main">
            <a:off x="571500" y="3629025"/>
            <a:ext cx="11049000" cy="5905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EE614A1-8AB7-47BB-89C6-92A7DAED3DBC}"/>
              </a:ext>
            </a:extLst>
          </p:cNvPr>
          <p:cNvSpPr>
            <a:spLocks xmlns:a="http://schemas.openxmlformats.org/drawingml/2006/main" noGrp="1"/>
          </p:cNvSpPr>
          <p:nvPr/>
        </p:nvSpPr>
        <p:spPr>
          <a:xfrm xmlns:a="http://schemas.openxmlformats.org/drawingml/2006/main">
            <a:off x="685800" y="37242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Ollama</a:t>
            </a:r>
          </a:p>
        </p:txBody>
      </p:sp>
      <p:sp>
        <p:nvSpPr>
          <p:cNvPr id="16" name="">
            <a:extLst xmlns:a="http://schemas.openxmlformats.org/drawingml/2006/main">
              <a:ext uri="{FF2B5EF4-FFF2-40B4-BE49-F238E27FC236}">
                <a16:creationId xmlns:a16="http://schemas.microsoft.com/office/drawing/2014/main" id="{57FE70A1-3C96-45D8-9312-8E8E414B9308}"/>
              </a:ext>
            </a:extLst>
          </p:cNvPr>
          <p:cNvSpPr>
            <a:spLocks xmlns:a="http://schemas.openxmlformats.org/drawingml/2006/main" noGrp="1"/>
          </p:cNvSpPr>
          <p:nvPr/>
        </p:nvSpPr>
        <p:spPr>
          <a:xfrm xmlns:a="http://schemas.openxmlformats.org/drawingml/2006/main">
            <a:off x="2971800" y="3724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make ollama-status</a:t>
            </a:r>
          </a:p>
        </p:txBody>
      </p:sp>
      <p:sp>
        <p:nvSpPr>
          <p:cNvPr id="17" name="">
            <a:extLst xmlns:a="http://schemas.openxmlformats.org/drawingml/2006/main">
              <a:ext uri="{FF2B5EF4-FFF2-40B4-BE49-F238E27FC236}">
                <a16:creationId xmlns:a16="http://schemas.microsoft.com/office/drawing/2014/main" id="{671B5ED7-4F7A-4200-B7AD-54E1C53A1751}"/>
              </a:ext>
            </a:extLst>
          </p:cNvPr>
          <p:cNvSpPr>
            <a:spLocks xmlns:a="http://schemas.openxmlformats.org/drawingml/2006/main" noGrp="1"/>
          </p:cNvSpPr>
          <p:nvPr/>
        </p:nvSpPr>
        <p:spPr>
          <a:xfrm xmlns:a="http://schemas.openxmlformats.org/drawingml/2006/main">
            <a:off x="8305800" y="372427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Pod Ready + qwen3:4b</a:t>
            </a:r>
          </a:p>
        </p:txBody>
      </p:sp>
      <p:sp>
        <p:nvSpPr>
          <p:cNvPr id="18" name="">
            <a:extLst xmlns:a="http://schemas.openxmlformats.org/drawingml/2006/main">
              <a:ext uri="{FF2B5EF4-FFF2-40B4-BE49-F238E27FC236}">
                <a16:creationId xmlns:a16="http://schemas.microsoft.com/office/drawing/2014/main" id="{CE3D4BD1-7757-4FAD-BB0D-46435D5F5E3A}"/>
              </a:ext>
            </a:extLst>
          </p:cNvPr>
          <p:cNvSpPr>
            <a:spLocks xmlns:a="http://schemas.openxmlformats.org/drawingml/2006/main" noGrp="1"/>
          </p:cNvSpPr>
          <p:nvPr/>
        </p:nvSpPr>
        <p:spPr>
          <a:xfrm xmlns:a="http://schemas.openxmlformats.org/drawingml/2006/main">
            <a:off x="685800" y="44672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Open WebUI</a:t>
            </a:r>
          </a:p>
        </p:txBody>
      </p:sp>
      <p:sp>
        <p:nvSpPr>
          <p:cNvPr id="19" name="">
            <a:extLst xmlns:a="http://schemas.openxmlformats.org/drawingml/2006/main">
              <a:ext uri="{FF2B5EF4-FFF2-40B4-BE49-F238E27FC236}">
                <a16:creationId xmlns:a16="http://schemas.microsoft.com/office/drawing/2014/main" id="{D5546351-302D-414B-B71E-15A0A2B3C88D}"/>
              </a:ext>
            </a:extLst>
          </p:cNvPr>
          <p:cNvSpPr>
            <a:spLocks xmlns:a="http://schemas.openxmlformats.org/drawingml/2006/main" noGrp="1"/>
          </p:cNvSpPr>
          <p:nvPr/>
        </p:nvSpPr>
        <p:spPr>
          <a:xfrm xmlns:a="http://schemas.openxmlformats.org/drawingml/2006/main">
            <a:off x="2971800" y="4467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make webui-status</a:t>
            </a:r>
          </a:p>
        </p:txBody>
      </p:sp>
      <p:sp>
        <p:nvSpPr>
          <p:cNvPr id="20" name="">
            <a:extLst xmlns:a="http://schemas.openxmlformats.org/drawingml/2006/main">
              <a:ext uri="{FF2B5EF4-FFF2-40B4-BE49-F238E27FC236}">
                <a16:creationId xmlns:a16="http://schemas.microsoft.com/office/drawing/2014/main" id="{7B3F269C-A222-4572-9F70-5921DCCB1558}"/>
              </a:ext>
            </a:extLst>
          </p:cNvPr>
          <p:cNvSpPr>
            <a:spLocks xmlns:a="http://schemas.openxmlformats.org/drawingml/2006/main" noGrp="1"/>
          </p:cNvSpPr>
          <p:nvPr/>
        </p:nvSpPr>
        <p:spPr>
          <a:xfrm xmlns:a="http://schemas.openxmlformats.org/drawingml/2006/main">
            <a:off x="8305800" y="4467225"/>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WebUI + Redis Ready</a:t>
            </a:r>
          </a:p>
        </p:txBody>
      </p:sp>
      <p:sp>
        <p:nvSpPr>
          <p:cNvPr id="21" name="">
            <a:extLst xmlns:a="http://schemas.openxmlformats.org/drawingml/2006/main">
              <a:ext uri="{FF2B5EF4-FFF2-40B4-BE49-F238E27FC236}">
                <a16:creationId xmlns:a16="http://schemas.microsoft.com/office/drawing/2014/main" id="{1BCB8A58-D633-427C-87D7-8569D1EDCC1D}"/>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FOUNDATION CHECK</a:t>
            </a:r>
          </a:p>
        </p:txBody>
      </p:sp>
      <p:sp>
        <p:nvSpPr>
          <p:cNvPr id="22" name="">
            <a:extLst xmlns:a="http://schemas.openxmlformats.org/drawingml/2006/main">
              <a:ext uri="{FF2B5EF4-FFF2-40B4-BE49-F238E27FC236}">
                <a16:creationId xmlns:a16="http://schemas.microsoft.com/office/drawing/2014/main" id="{C39F5BC9-3471-48B3-95B3-3A6215A0A8E3}"/>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07</a:t>
            </a:r>
          </a:p>
        </p:txBody>
      </p:sp>
    </p:spTree>
    <p:extLst>
      <p:ext uri="{BB962C8B-B14F-4D97-AF65-F5344CB8AC3E}">
        <p14:creationId xmlns:p14="http://schemas.microsoft.com/office/powerpoint/2010/main" val="3791007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lide-title">
            <a:extLst xmlns:a="http://schemas.openxmlformats.org/drawingml/2006/main">
              <a:ext uri="{FF2B5EF4-FFF2-40B4-BE49-F238E27FC236}">
                <a16:creationId xmlns:a16="http://schemas.microsoft.com/office/drawing/2014/main" id="{5CFF218F-B3AA-45D8-A29C-E84182DB52E8}"/>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kagent provides read-only Kubernetes diagnostics</a:t>
            </a:r>
          </a:p>
        </p:txBody>
      </p:sp>
      <p:sp>
        <p:nvSpPr>
          <p:cNvPr id="2" name="">
            <a:extLst xmlns:a="http://schemas.openxmlformats.org/drawingml/2006/main">
              <a:ext uri="{FF2B5EF4-FFF2-40B4-BE49-F238E27FC236}">
                <a16:creationId xmlns:a16="http://schemas.microsoft.com/office/drawing/2014/main" id="{E8233E29-72BF-44BB-B0D7-1C6FD7B532F8}"/>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The agent is installed and verified before OpenClaw is added.</a:t>
            </a:r>
          </a:p>
        </p:txBody>
      </p:sp>
      <p:cxnSp>
        <p:nvCxnSpPr>
          <p:cNvPr id="36"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5CBF9EA8-CF7F-4939-9294-5FE8D9D2D35C}"/>
              </a:ext>
            </a:extLst>
          </p:cNvPr>
          <p:cNvSpPr>
            <a:spLocks xmlns:a="http://schemas.openxmlformats.org/drawingml/2006/main" noGrp="1"/>
          </p:cNvSpPr>
          <p:nvPr/>
        </p:nvSpPr>
        <p:spPr>
          <a:xfrm xmlns:a="http://schemas.openxmlformats.org/drawingml/2006/main">
            <a:off x="647700" y="2171700"/>
            <a:ext cx="3429000" cy="3314700"/>
          </a:xfrm>
          <a:prstGeom xmlns:a="http://schemas.openxmlformats.org/drawingml/2006/main" prst="roundRect">
            <a:avLst>
              <a:gd name="adj" fmla="val 2299"/>
            </a:avLst>
          </a:prstGeom>
          <a:solidFill xmlns:a="http://schemas.openxmlformats.org/drawingml/2006/main">
            <a:srgbClr val="EEF7FD"/>
          </a:solidFill>
          <a:ln xmlns:a="http://schemas.openxmlformats.org/drawingml/2006/main" w="9525">
            <a:solidFill>
              <a:srgbClr val="3D8DFF"/>
            </a:solidFill>
            <a:prstDash val="solid"/>
          </a:ln>
        </p:spPr>
      </p:sp>
      <p:sp>
        <p:nvSpPr>
          <p:cNvPr id="5" name="">
            <a:extLst xmlns:a="http://schemas.openxmlformats.org/drawingml/2006/main">
              <a:ext uri="{FF2B5EF4-FFF2-40B4-BE49-F238E27FC236}">
                <a16:creationId xmlns:a16="http://schemas.microsoft.com/office/drawing/2014/main" id="{C2D75D88-18BE-489D-A417-FFFF0A520C74}"/>
              </a:ext>
            </a:extLst>
          </p:cNvPr>
          <p:cNvSpPr>
            <a:spLocks xmlns:a="http://schemas.openxmlformats.org/drawingml/2006/main" noGrp="1"/>
          </p:cNvSpPr>
          <p:nvPr/>
        </p:nvSpPr>
        <p:spPr>
          <a:xfrm xmlns:a="http://schemas.openxmlformats.org/drawingml/2006/main">
            <a:off x="933450" y="2514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kagent</a:t>
            </a:r>
          </a:p>
        </p:txBody>
      </p:sp>
      <p:sp>
        <p:nvSpPr>
          <p:cNvPr id="6" name="">
            <a:extLst xmlns:a="http://schemas.openxmlformats.org/drawingml/2006/main">
              <a:ext uri="{FF2B5EF4-FFF2-40B4-BE49-F238E27FC236}">
                <a16:creationId xmlns:a16="http://schemas.microsoft.com/office/drawing/2014/main" id="{DB2B7668-FD8D-4056-BF02-3CE772DB67A6}"/>
              </a:ext>
            </a:extLst>
          </p:cNvPr>
          <p:cNvSpPr>
            <a:spLocks xmlns:a="http://schemas.openxmlformats.org/drawingml/2006/main" noGrp="1"/>
          </p:cNvSpPr>
          <p:nvPr/>
        </p:nvSpPr>
        <p:spPr>
          <a:xfrm xmlns:a="http://schemas.openxmlformats.org/drawingml/2006/main">
            <a:off x="933450" y="3257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F1CD2B99-9AFB-47EB-A051-36C89358C0D0}"/>
              </a:ext>
            </a:extLst>
          </p:cNvPr>
          <p:cNvSpPr>
            <a:spLocks xmlns:a="http://schemas.openxmlformats.org/drawingml/2006/main" noGrp="1"/>
          </p:cNvSpPr>
          <p:nvPr/>
        </p:nvSpPr>
        <p:spPr>
          <a:xfrm xmlns:a="http://schemas.openxmlformats.org/drawingml/2006/main">
            <a:off x="1238250" y="325755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Controller</a:t>
            </a:r>
          </a:p>
        </p:txBody>
      </p:sp>
      <p:sp>
        <p:nvSpPr>
          <p:cNvPr id="8" name="">
            <a:extLst xmlns:a="http://schemas.openxmlformats.org/drawingml/2006/main">
              <a:ext uri="{FF2B5EF4-FFF2-40B4-BE49-F238E27FC236}">
                <a16:creationId xmlns:a16="http://schemas.microsoft.com/office/drawing/2014/main" id="{E37AF65A-C641-4104-8E01-3DEF096A2A91}"/>
              </a:ext>
            </a:extLst>
          </p:cNvPr>
          <p:cNvSpPr>
            <a:spLocks xmlns:a="http://schemas.openxmlformats.org/drawingml/2006/main" noGrp="1"/>
          </p:cNvSpPr>
          <p:nvPr/>
        </p:nvSpPr>
        <p:spPr>
          <a:xfrm xmlns:a="http://schemas.openxmlformats.org/drawingml/2006/main">
            <a:off x="933450" y="37052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156872F8-AD9E-4AE2-8A6A-BAEBB951EB15}"/>
              </a:ext>
            </a:extLst>
          </p:cNvPr>
          <p:cNvSpPr>
            <a:spLocks xmlns:a="http://schemas.openxmlformats.org/drawingml/2006/main" noGrp="1"/>
          </p:cNvSpPr>
          <p:nvPr/>
        </p:nvSpPr>
        <p:spPr>
          <a:xfrm xmlns:a="http://schemas.openxmlformats.org/drawingml/2006/main">
            <a:off x="1238250" y="3705225"/>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PostgreSQL</a:t>
            </a:r>
          </a:p>
        </p:txBody>
      </p:sp>
      <p:sp>
        <p:nvSpPr>
          <p:cNvPr id="10" name="">
            <a:extLst xmlns:a="http://schemas.openxmlformats.org/drawingml/2006/main">
              <a:ext uri="{FF2B5EF4-FFF2-40B4-BE49-F238E27FC236}">
                <a16:creationId xmlns:a16="http://schemas.microsoft.com/office/drawing/2014/main" id="{57FF4529-89BC-4631-83F0-81BCCD0EA14F}"/>
              </a:ext>
            </a:extLst>
          </p:cNvPr>
          <p:cNvSpPr>
            <a:spLocks xmlns:a="http://schemas.openxmlformats.org/drawingml/2006/main" noGrp="1"/>
          </p:cNvSpPr>
          <p:nvPr/>
        </p:nvSpPr>
        <p:spPr>
          <a:xfrm xmlns:a="http://schemas.openxmlformats.org/drawingml/2006/main">
            <a:off x="933450" y="41529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4151E668-6D6E-41A3-8D92-83EB90D35FD1}"/>
              </a:ext>
            </a:extLst>
          </p:cNvPr>
          <p:cNvSpPr>
            <a:spLocks xmlns:a="http://schemas.openxmlformats.org/drawingml/2006/main" noGrp="1"/>
          </p:cNvSpPr>
          <p:nvPr/>
        </p:nvSpPr>
        <p:spPr>
          <a:xfrm xmlns:a="http://schemas.openxmlformats.org/drawingml/2006/main">
            <a:off x="1238250" y="4152900"/>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Dashboard</a:t>
            </a:r>
          </a:p>
        </p:txBody>
      </p:sp>
      <p:sp>
        <p:nvSpPr>
          <p:cNvPr id="12" name="">
            <a:extLst xmlns:a="http://schemas.openxmlformats.org/drawingml/2006/main">
              <a:ext uri="{FF2B5EF4-FFF2-40B4-BE49-F238E27FC236}">
                <a16:creationId xmlns:a16="http://schemas.microsoft.com/office/drawing/2014/main" id="{51358654-EFFE-446A-B728-62B878FEA95F}"/>
              </a:ext>
            </a:extLst>
          </p:cNvPr>
          <p:cNvSpPr>
            <a:spLocks xmlns:a="http://schemas.openxmlformats.org/drawingml/2006/main" noGrp="1"/>
          </p:cNvSpPr>
          <p:nvPr/>
        </p:nvSpPr>
        <p:spPr>
          <a:xfrm xmlns:a="http://schemas.openxmlformats.org/drawingml/2006/main">
            <a:off x="933450" y="46005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79387255-09C0-4E5B-9EFB-88608920307D}"/>
              </a:ext>
            </a:extLst>
          </p:cNvPr>
          <p:cNvSpPr>
            <a:spLocks xmlns:a="http://schemas.openxmlformats.org/drawingml/2006/main" noGrp="1"/>
          </p:cNvSpPr>
          <p:nvPr/>
        </p:nvSpPr>
        <p:spPr>
          <a:xfrm xmlns:a="http://schemas.openxmlformats.org/drawingml/2006/main">
            <a:off x="1238250" y="4600575"/>
            <a:ext cx="2362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Go Agent</a:t>
            </a:r>
          </a:p>
        </p:txBody>
      </p:sp>
      <p:sp>
        <p:nvSpPr>
          <p:cNvPr id="14" name="">
            <a:extLst xmlns:a="http://schemas.openxmlformats.org/drawingml/2006/main">
              <a:ext uri="{FF2B5EF4-FFF2-40B4-BE49-F238E27FC236}">
                <a16:creationId xmlns:a16="http://schemas.microsoft.com/office/drawing/2014/main" id="{9ABBEDBA-F7E6-4BC7-87C3-BE7605A4AB22}"/>
              </a:ext>
            </a:extLst>
          </p:cNvPr>
          <p:cNvSpPr>
            <a:spLocks xmlns:a="http://schemas.openxmlformats.org/drawingml/2006/main" noGrp="1"/>
          </p:cNvSpPr>
          <p:nvPr/>
        </p:nvSpPr>
        <p:spPr>
          <a:xfrm xmlns:a="http://schemas.openxmlformats.org/drawingml/2006/main">
            <a:off x="4419600" y="2171700"/>
            <a:ext cx="3276600" cy="3314700"/>
          </a:xfrm>
          <a:prstGeom xmlns:a="http://schemas.openxmlformats.org/drawingml/2006/main" prst="roundRect">
            <a:avLst>
              <a:gd name="adj" fmla="val 2326"/>
            </a:avLst>
          </a:prstGeom>
          <a:solidFill xmlns:a="http://schemas.openxmlformats.org/drawingml/2006/main">
            <a:srgbClr val="F6F7F8"/>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A566539A-A5BB-4B72-914B-1C528B927337}"/>
              </a:ext>
            </a:extLst>
          </p:cNvPr>
          <p:cNvSpPr>
            <a:spLocks xmlns:a="http://schemas.openxmlformats.org/drawingml/2006/main" noGrp="1"/>
          </p:cNvSpPr>
          <p:nvPr/>
        </p:nvSpPr>
        <p:spPr>
          <a:xfrm xmlns:a="http://schemas.openxmlformats.org/drawingml/2006/main">
            <a:off x="4705350" y="2514600"/>
            <a:ext cx="2705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Tool-Server</a:t>
            </a:r>
          </a:p>
        </p:txBody>
      </p:sp>
      <p:sp>
        <p:nvSpPr>
          <p:cNvPr id="16" name="">
            <a:extLst xmlns:a="http://schemas.openxmlformats.org/drawingml/2006/main">
              <a:ext uri="{FF2B5EF4-FFF2-40B4-BE49-F238E27FC236}">
                <a16:creationId xmlns:a16="http://schemas.microsoft.com/office/drawing/2014/main" id="{55C4486D-82D6-402E-8671-962A5278098F}"/>
              </a:ext>
            </a:extLst>
          </p:cNvPr>
          <p:cNvSpPr>
            <a:spLocks xmlns:a="http://schemas.openxmlformats.org/drawingml/2006/main" noGrp="1"/>
          </p:cNvSpPr>
          <p:nvPr/>
        </p:nvSpPr>
        <p:spPr>
          <a:xfrm xmlns:a="http://schemas.openxmlformats.org/drawingml/2006/main">
            <a:off x="4705350" y="3257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C4BA26F9-CF60-4204-BCAC-1A1846355943}"/>
              </a:ext>
            </a:extLst>
          </p:cNvPr>
          <p:cNvSpPr>
            <a:spLocks xmlns:a="http://schemas.openxmlformats.org/drawingml/2006/main" noGrp="1"/>
          </p:cNvSpPr>
          <p:nvPr/>
        </p:nvSpPr>
        <p:spPr>
          <a:xfrm xmlns:a="http://schemas.openxmlformats.org/drawingml/2006/main">
            <a:off x="5010150" y="3257550"/>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Read Kubernetes</a:t>
            </a:r>
          </a:p>
        </p:txBody>
      </p:sp>
      <p:sp>
        <p:nvSpPr>
          <p:cNvPr id="18" name="">
            <a:extLst xmlns:a="http://schemas.openxmlformats.org/drawingml/2006/main">
              <a:ext uri="{FF2B5EF4-FFF2-40B4-BE49-F238E27FC236}">
                <a16:creationId xmlns:a16="http://schemas.microsoft.com/office/drawing/2014/main" id="{E9184400-9001-4067-AD39-DD40E4A2BED0}"/>
              </a:ext>
            </a:extLst>
          </p:cNvPr>
          <p:cNvSpPr>
            <a:spLocks xmlns:a="http://schemas.openxmlformats.org/drawingml/2006/main" noGrp="1"/>
          </p:cNvSpPr>
          <p:nvPr/>
        </p:nvSpPr>
        <p:spPr>
          <a:xfrm xmlns:a="http://schemas.openxmlformats.org/drawingml/2006/main">
            <a:off x="4705350" y="37052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B12432F1-7339-445A-A381-3F20D2023E05}"/>
              </a:ext>
            </a:extLst>
          </p:cNvPr>
          <p:cNvSpPr>
            <a:spLocks xmlns:a="http://schemas.openxmlformats.org/drawingml/2006/main" noGrp="1"/>
          </p:cNvSpPr>
          <p:nvPr/>
        </p:nvSpPr>
        <p:spPr>
          <a:xfrm xmlns:a="http://schemas.openxmlformats.org/drawingml/2006/main">
            <a:off x="5010150" y="3705225"/>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No secrets</a:t>
            </a:r>
          </a:p>
        </p:txBody>
      </p:sp>
      <p:sp>
        <p:nvSpPr>
          <p:cNvPr id="20" name="">
            <a:extLst xmlns:a="http://schemas.openxmlformats.org/drawingml/2006/main">
              <a:ext uri="{FF2B5EF4-FFF2-40B4-BE49-F238E27FC236}">
                <a16:creationId xmlns:a16="http://schemas.microsoft.com/office/drawing/2014/main" id="{AFA9B72F-D8A9-4CE8-90BF-5E6CB5A8782A}"/>
              </a:ext>
            </a:extLst>
          </p:cNvPr>
          <p:cNvSpPr>
            <a:spLocks xmlns:a="http://schemas.openxmlformats.org/drawingml/2006/main" noGrp="1"/>
          </p:cNvSpPr>
          <p:nvPr/>
        </p:nvSpPr>
        <p:spPr>
          <a:xfrm xmlns:a="http://schemas.openxmlformats.org/drawingml/2006/main">
            <a:off x="4705350" y="41529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F547E5C8-E5DC-4F02-9D1A-1FFB6854576B}"/>
              </a:ext>
            </a:extLst>
          </p:cNvPr>
          <p:cNvSpPr>
            <a:spLocks xmlns:a="http://schemas.openxmlformats.org/drawingml/2006/main" noGrp="1"/>
          </p:cNvSpPr>
          <p:nvPr/>
        </p:nvSpPr>
        <p:spPr>
          <a:xfrm xmlns:a="http://schemas.openxmlformats.org/drawingml/2006/main">
            <a:off x="5010150" y="4152900"/>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No writes</a:t>
            </a:r>
          </a:p>
        </p:txBody>
      </p:sp>
      <p:sp>
        <p:nvSpPr>
          <p:cNvPr id="22" name="">
            <a:extLst xmlns:a="http://schemas.openxmlformats.org/drawingml/2006/main">
              <a:ext uri="{FF2B5EF4-FFF2-40B4-BE49-F238E27FC236}">
                <a16:creationId xmlns:a16="http://schemas.microsoft.com/office/drawing/2014/main" id="{89D618E7-E43C-4A8D-9A7C-E7D06001C4E3}"/>
              </a:ext>
            </a:extLst>
          </p:cNvPr>
          <p:cNvSpPr>
            <a:spLocks xmlns:a="http://schemas.openxmlformats.org/drawingml/2006/main" noGrp="1"/>
          </p:cNvSpPr>
          <p:nvPr/>
        </p:nvSpPr>
        <p:spPr>
          <a:xfrm xmlns:a="http://schemas.openxmlformats.org/drawingml/2006/main">
            <a:off x="4705350" y="46005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DFD93665-F039-4405-809F-D7CD78D6FA7C}"/>
              </a:ext>
            </a:extLst>
          </p:cNvPr>
          <p:cNvSpPr>
            <a:spLocks xmlns:a="http://schemas.openxmlformats.org/drawingml/2006/main" noGrp="1"/>
          </p:cNvSpPr>
          <p:nvPr/>
        </p:nvSpPr>
        <p:spPr>
          <a:xfrm xmlns:a="http://schemas.openxmlformats.org/drawingml/2006/main">
            <a:off x="5010150" y="4600575"/>
            <a:ext cx="2266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No wildcards</a:t>
            </a:r>
          </a:p>
        </p:txBody>
      </p:sp>
      <p:sp>
        <p:nvSpPr>
          <p:cNvPr id="24" name="">
            <a:extLst xmlns:a="http://schemas.openxmlformats.org/drawingml/2006/main">
              <a:ext uri="{FF2B5EF4-FFF2-40B4-BE49-F238E27FC236}">
                <a16:creationId xmlns:a16="http://schemas.microsoft.com/office/drawing/2014/main" id="{D489324A-724B-4693-855E-F7DC454E3F77}"/>
              </a:ext>
            </a:extLst>
          </p:cNvPr>
          <p:cNvSpPr>
            <a:spLocks xmlns:a="http://schemas.openxmlformats.org/drawingml/2006/main" noGrp="1"/>
          </p:cNvSpPr>
          <p:nvPr/>
        </p:nvSpPr>
        <p:spPr>
          <a:xfrm xmlns:a="http://schemas.openxmlformats.org/drawingml/2006/main">
            <a:off x="8039100" y="2171700"/>
            <a:ext cx="3505200" cy="3314700"/>
          </a:xfrm>
          <a:prstGeom xmlns:a="http://schemas.openxmlformats.org/drawingml/2006/main" prst="roundRect">
            <a:avLst>
              <a:gd name="adj" fmla="val 2299"/>
            </a:avLst>
          </a:prstGeom>
          <a:solidFill xmlns:a="http://schemas.openxmlformats.org/drawingml/2006/main">
            <a:srgbClr val="F6F7F8"/>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8278FBF5-09F6-4158-81AA-35FADD9E4003}"/>
              </a:ext>
            </a:extLst>
          </p:cNvPr>
          <p:cNvSpPr>
            <a:spLocks xmlns:a="http://schemas.openxmlformats.org/drawingml/2006/main" noGrp="1"/>
          </p:cNvSpPr>
          <p:nvPr/>
        </p:nvSpPr>
        <p:spPr>
          <a:xfrm xmlns:a="http://schemas.openxmlformats.org/drawingml/2006/main">
            <a:off x="8324850" y="2514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Fixtures</a:t>
            </a:r>
          </a:p>
        </p:txBody>
      </p:sp>
      <p:sp>
        <p:nvSpPr>
          <p:cNvPr id="26" name="">
            <a:extLst xmlns:a="http://schemas.openxmlformats.org/drawingml/2006/main">
              <a:ext uri="{FF2B5EF4-FFF2-40B4-BE49-F238E27FC236}">
                <a16:creationId xmlns:a16="http://schemas.microsoft.com/office/drawing/2014/main" id="{FA5467FB-34A0-47BF-B313-C99C490E8CD5}"/>
              </a:ext>
            </a:extLst>
          </p:cNvPr>
          <p:cNvSpPr>
            <a:spLocks xmlns:a="http://schemas.openxmlformats.org/drawingml/2006/main" noGrp="1"/>
          </p:cNvSpPr>
          <p:nvPr/>
        </p:nvSpPr>
        <p:spPr>
          <a:xfrm xmlns:a="http://schemas.openxmlformats.org/drawingml/2006/main">
            <a:off x="8324850" y="3257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37800"/>
                </a:solidFill>
                <a:latin typeface="Helvetica Neue"/>
                <a:ea typeface="Helvetica Neue"/>
                <a:cs typeface="Helvetica Neue"/>
              </a:defRPr>
            </a:pPr>
            <a:r>
              <a:rPr sz="1500" b="1">
                <a:solidFill>
                  <a:srgbClr val="C37800"/>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CAAB4982-A5C2-49DE-8263-40299C359B6B}"/>
              </a:ext>
            </a:extLst>
          </p:cNvPr>
          <p:cNvSpPr>
            <a:spLocks xmlns:a="http://schemas.openxmlformats.org/drawingml/2006/main" noGrp="1"/>
          </p:cNvSpPr>
          <p:nvPr/>
        </p:nvSpPr>
        <p:spPr>
          <a:xfrm xmlns:a="http://schemas.openxmlformats.org/drawingml/2006/main">
            <a:off x="8629650" y="3257550"/>
            <a:ext cx="2362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healthy</a:t>
            </a:r>
          </a:p>
        </p:txBody>
      </p:sp>
      <p:sp>
        <p:nvSpPr>
          <p:cNvPr id="28" name="">
            <a:extLst xmlns:a="http://schemas.openxmlformats.org/drawingml/2006/main">
              <a:ext uri="{FF2B5EF4-FFF2-40B4-BE49-F238E27FC236}">
                <a16:creationId xmlns:a16="http://schemas.microsoft.com/office/drawing/2014/main" id="{B54A2297-2489-4AF3-B26E-0866C15D5822}"/>
              </a:ext>
            </a:extLst>
          </p:cNvPr>
          <p:cNvSpPr>
            <a:spLocks xmlns:a="http://schemas.openxmlformats.org/drawingml/2006/main" noGrp="1"/>
          </p:cNvSpPr>
          <p:nvPr/>
        </p:nvSpPr>
        <p:spPr>
          <a:xfrm xmlns:a="http://schemas.openxmlformats.org/drawingml/2006/main">
            <a:off x="8324850" y="3810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37800"/>
                </a:solidFill>
                <a:latin typeface="Helvetica Neue"/>
                <a:ea typeface="Helvetica Neue"/>
                <a:cs typeface="Helvetica Neue"/>
              </a:defRPr>
            </a:pPr>
            <a:r>
              <a:rPr sz="1500" b="1">
                <a:solidFill>
                  <a:srgbClr val="C37800"/>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9E271379-3247-40CD-8CD3-9E69EDF32C62}"/>
              </a:ext>
            </a:extLst>
          </p:cNvPr>
          <p:cNvSpPr>
            <a:spLocks xmlns:a="http://schemas.openxmlformats.org/drawingml/2006/main" noGrp="1"/>
          </p:cNvSpPr>
          <p:nvPr/>
        </p:nvSpPr>
        <p:spPr>
          <a:xfrm xmlns:a="http://schemas.openxmlformats.org/drawingml/2006/main">
            <a:off x="8629650" y="3810000"/>
            <a:ext cx="2362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imagepull</a:t>
            </a:r>
          </a:p>
        </p:txBody>
      </p:sp>
      <p:sp>
        <p:nvSpPr>
          <p:cNvPr id="30" name="">
            <a:extLst xmlns:a="http://schemas.openxmlformats.org/drawingml/2006/main">
              <a:ext uri="{FF2B5EF4-FFF2-40B4-BE49-F238E27FC236}">
                <a16:creationId xmlns:a16="http://schemas.microsoft.com/office/drawing/2014/main" id="{01EEDFD7-7390-4AD1-9753-6806BE9F72C6}"/>
              </a:ext>
            </a:extLst>
          </p:cNvPr>
          <p:cNvSpPr>
            <a:spLocks xmlns:a="http://schemas.openxmlformats.org/drawingml/2006/main" noGrp="1"/>
          </p:cNvSpPr>
          <p:nvPr/>
        </p:nvSpPr>
        <p:spPr>
          <a:xfrm xmlns:a="http://schemas.openxmlformats.org/drawingml/2006/main">
            <a:off x="8324850" y="43624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37800"/>
                </a:solidFill>
                <a:latin typeface="Helvetica Neue"/>
                <a:ea typeface="Helvetica Neue"/>
                <a:cs typeface="Helvetica Neue"/>
              </a:defRPr>
            </a:pPr>
            <a:r>
              <a:rPr sz="1500" b="1">
                <a:solidFill>
                  <a:srgbClr val="C37800"/>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7E9C9C5D-F529-46FC-B05D-CDD286DF5538}"/>
              </a:ext>
            </a:extLst>
          </p:cNvPr>
          <p:cNvSpPr>
            <a:spLocks xmlns:a="http://schemas.openxmlformats.org/drawingml/2006/main" noGrp="1"/>
          </p:cNvSpPr>
          <p:nvPr/>
        </p:nvSpPr>
        <p:spPr>
          <a:xfrm xmlns:a="http://schemas.openxmlformats.org/drawingml/2006/main">
            <a:off x="8629650" y="4362450"/>
            <a:ext cx="2362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crashloop</a:t>
            </a:r>
          </a:p>
        </p:txBody>
      </p:sp>
      <p:sp>
        <p:nvSpPr>
          <p:cNvPr id="32" name="">
            <a:extLst xmlns:a="http://schemas.openxmlformats.org/drawingml/2006/main">
              <a:ext uri="{FF2B5EF4-FFF2-40B4-BE49-F238E27FC236}">
                <a16:creationId xmlns:a16="http://schemas.microsoft.com/office/drawing/2014/main" id="{C3F13E40-F7A6-4B7E-AF77-8FB35FB26212}"/>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READ-ONLY KAGENT</a:t>
            </a:r>
          </a:p>
        </p:txBody>
      </p:sp>
      <p:sp>
        <p:nvSpPr>
          <p:cNvPr id="33" name="">
            <a:extLst xmlns:a="http://schemas.openxmlformats.org/drawingml/2006/main">
              <a:ext uri="{FF2B5EF4-FFF2-40B4-BE49-F238E27FC236}">
                <a16:creationId xmlns:a16="http://schemas.microsoft.com/office/drawing/2014/main" id="{5469A92C-5428-46A7-ADDA-D956279BAEAD}"/>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08</a:t>
            </a:r>
          </a:p>
        </p:txBody>
      </p:sp>
    </p:spTree>
    <p:extLst>
      <p:ext uri="{BB962C8B-B14F-4D97-AF65-F5344CB8AC3E}">
        <p14:creationId xmlns:p14="http://schemas.microsoft.com/office/powerpoint/2010/main" val="19320952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B458DEC4-07DF-408B-AD77-F7580C8CF7DD}"/>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Three fixtures make diagnostic results reproducible</a:t>
            </a:r>
          </a:p>
        </p:txBody>
      </p:sp>
      <p:sp>
        <p:nvSpPr>
          <p:cNvPr id="2" name="">
            <a:extLst xmlns:a="http://schemas.openxmlformats.org/drawingml/2006/main">
              <a:ext uri="{FF2B5EF4-FFF2-40B4-BE49-F238E27FC236}">
                <a16:creationId xmlns:a16="http://schemas.microsoft.com/office/drawing/2014/main" id="{CDF34DEF-3D4A-4A99-AE9E-8B244B7696FA}"/>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Each case has unambiguous Kubernetes evidence.</a:t>
            </a:r>
          </a:p>
        </p:txBody>
      </p:sp>
      <p:cxnSp>
        <p:nvCxnSpPr>
          <p:cNvPr id="24"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3F22BA30-69BB-4745-816A-7CFDC4885E94}"/>
              </a:ext>
            </a:extLst>
          </p:cNvPr>
          <p:cNvSpPr>
            <a:spLocks xmlns:a="http://schemas.openxmlformats.org/drawingml/2006/main" noGrp="1"/>
          </p:cNvSpPr>
          <p:nvPr/>
        </p:nvSpPr>
        <p:spPr>
          <a:xfrm xmlns:a="http://schemas.openxmlformats.org/drawingml/2006/main">
            <a:off x="628650" y="2190750"/>
            <a:ext cx="10953750" cy="5905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3B8C5D9-007D-4B92-8C2D-63661EC6D4EB}"/>
              </a:ext>
            </a:extLst>
          </p:cNvPr>
          <p:cNvSpPr>
            <a:spLocks xmlns:a="http://schemas.openxmlformats.org/drawingml/2006/main" noGrp="1"/>
          </p:cNvSpPr>
          <p:nvPr/>
        </p:nvSpPr>
        <p:spPr>
          <a:xfrm xmlns:a="http://schemas.openxmlformats.org/drawingml/2006/main">
            <a:off x="800100" y="23431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Fixture</a:t>
            </a:r>
          </a:p>
        </p:txBody>
      </p:sp>
      <p:sp>
        <p:nvSpPr>
          <p:cNvPr id="6" name="">
            <a:extLst xmlns:a="http://schemas.openxmlformats.org/drawingml/2006/main">
              <a:ext uri="{FF2B5EF4-FFF2-40B4-BE49-F238E27FC236}">
                <a16:creationId xmlns:a16="http://schemas.microsoft.com/office/drawing/2014/main" id="{74EF4AB3-543D-4682-8119-96BBDF3277FA}"/>
              </a:ext>
            </a:extLst>
          </p:cNvPr>
          <p:cNvSpPr>
            <a:spLocks xmlns:a="http://schemas.openxmlformats.org/drawingml/2006/main" noGrp="1"/>
          </p:cNvSpPr>
          <p:nvPr/>
        </p:nvSpPr>
        <p:spPr>
          <a:xfrm xmlns:a="http://schemas.openxmlformats.org/drawingml/2006/main">
            <a:off x="2990850" y="2343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Expected state</a:t>
            </a:r>
          </a:p>
        </p:txBody>
      </p:sp>
      <p:sp>
        <p:nvSpPr>
          <p:cNvPr id="7" name="">
            <a:extLst xmlns:a="http://schemas.openxmlformats.org/drawingml/2006/main">
              <a:ext uri="{FF2B5EF4-FFF2-40B4-BE49-F238E27FC236}">
                <a16:creationId xmlns:a16="http://schemas.microsoft.com/office/drawing/2014/main" id="{DDE8124D-F346-4334-A4CD-E5814648555F}"/>
              </a:ext>
            </a:extLst>
          </p:cNvPr>
          <p:cNvSpPr>
            <a:spLocks xmlns:a="http://schemas.openxmlformats.org/drawingml/2006/main" noGrp="1"/>
          </p:cNvSpPr>
          <p:nvPr/>
        </p:nvSpPr>
        <p:spPr>
          <a:xfrm xmlns:a="http://schemas.openxmlformats.org/drawingml/2006/main">
            <a:off x="5848350" y="23431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Decisive evidence</a:t>
            </a:r>
          </a:p>
        </p:txBody>
      </p:sp>
      <p:sp>
        <p:nvSpPr>
          <p:cNvPr id="8" name="">
            <a:extLst xmlns:a="http://schemas.openxmlformats.org/drawingml/2006/main">
              <a:ext uri="{FF2B5EF4-FFF2-40B4-BE49-F238E27FC236}">
                <a16:creationId xmlns:a16="http://schemas.microsoft.com/office/drawing/2014/main" id="{E20AD841-FE48-4907-8055-8FA2A909FF09}"/>
              </a:ext>
            </a:extLst>
          </p:cNvPr>
          <p:cNvSpPr>
            <a:spLocks xmlns:a="http://schemas.openxmlformats.org/drawingml/2006/main" noGrp="1"/>
          </p:cNvSpPr>
          <p:nvPr/>
        </p:nvSpPr>
        <p:spPr>
          <a:xfrm xmlns:a="http://schemas.openxmlformats.org/drawingml/2006/main">
            <a:off x="628650" y="2781300"/>
            <a:ext cx="1095375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4ED7EC54-DF40-44CE-A8A0-96A67E3835A8}"/>
              </a:ext>
            </a:extLst>
          </p:cNvPr>
          <p:cNvSpPr>
            <a:spLocks xmlns:a="http://schemas.openxmlformats.org/drawingml/2006/main" noGrp="1"/>
          </p:cNvSpPr>
          <p:nvPr/>
        </p:nvSpPr>
        <p:spPr>
          <a:xfrm xmlns:a="http://schemas.openxmlformats.org/drawingml/2006/main">
            <a:off x="800100" y="29718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healthy</a:t>
            </a:r>
          </a:p>
        </p:txBody>
      </p:sp>
      <p:sp>
        <p:nvSpPr>
          <p:cNvPr id="10" name="">
            <a:extLst xmlns:a="http://schemas.openxmlformats.org/drawingml/2006/main">
              <a:ext uri="{FF2B5EF4-FFF2-40B4-BE49-F238E27FC236}">
                <a16:creationId xmlns:a16="http://schemas.microsoft.com/office/drawing/2014/main" id="{1B363C0F-F4FB-4BDF-9F42-6F213114FA18}"/>
              </a:ext>
            </a:extLst>
          </p:cNvPr>
          <p:cNvSpPr>
            <a:spLocks xmlns:a="http://schemas.openxmlformats.org/drawingml/2006/main" noGrp="1"/>
          </p:cNvSpPr>
          <p:nvPr/>
        </p:nvSpPr>
        <p:spPr>
          <a:xfrm xmlns:a="http://schemas.openxmlformats.org/drawingml/2006/main">
            <a:off x="2990850" y="29718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845B"/>
                </a:solidFill>
                <a:latin typeface="Helvetica Neue"/>
                <a:ea typeface="Helvetica Neue"/>
                <a:cs typeface="Helvetica Neue"/>
              </a:defRPr>
            </a:pPr>
            <a:r>
              <a:rPr sz="1500" b="0">
                <a:solidFill>
                  <a:srgbClr val="16845B"/>
                </a:solidFill>
                <a:latin typeface="Helvetica Neue"/>
                <a:ea typeface="Helvetica Neue"/>
                <a:cs typeface="Helvetica Neue"/>
              </a:rPr>
              <a:t>Running / Ready</a:t>
            </a:r>
          </a:p>
        </p:txBody>
      </p:sp>
      <p:sp>
        <p:nvSpPr>
          <p:cNvPr id="11" name="">
            <a:extLst xmlns:a="http://schemas.openxmlformats.org/drawingml/2006/main">
              <a:ext uri="{FF2B5EF4-FFF2-40B4-BE49-F238E27FC236}">
                <a16:creationId xmlns:a16="http://schemas.microsoft.com/office/drawing/2014/main" id="{201F7491-EC16-4951-AD26-12B38FDAD8F3}"/>
              </a:ext>
            </a:extLst>
          </p:cNvPr>
          <p:cNvSpPr>
            <a:spLocks xmlns:a="http://schemas.openxmlformats.org/drawingml/2006/main" noGrp="1"/>
          </p:cNvSpPr>
          <p:nvPr/>
        </p:nvSpPr>
        <p:spPr>
          <a:xfrm xmlns:a="http://schemas.openxmlformats.org/drawingml/2006/main">
            <a:off x="5848350" y="2971800"/>
            <a:ext cx="5600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Container ready, Ready conditions set</a:t>
            </a:r>
          </a:p>
        </p:txBody>
      </p:sp>
      <p:sp>
        <p:nvSpPr>
          <p:cNvPr id="12" name="">
            <a:extLst xmlns:a="http://schemas.openxmlformats.org/drawingml/2006/main">
              <a:ext uri="{FF2B5EF4-FFF2-40B4-BE49-F238E27FC236}">
                <a16:creationId xmlns:a16="http://schemas.microsoft.com/office/drawing/2014/main" id="{AB544106-0AC2-4DAA-926D-70213ABD0154}"/>
              </a:ext>
            </a:extLst>
          </p:cNvPr>
          <p:cNvSpPr>
            <a:spLocks xmlns:a="http://schemas.openxmlformats.org/drawingml/2006/main" noGrp="1"/>
          </p:cNvSpPr>
          <p:nvPr/>
        </p:nvSpPr>
        <p:spPr>
          <a:xfrm xmlns:a="http://schemas.openxmlformats.org/drawingml/2006/main">
            <a:off x="628650" y="3733800"/>
            <a:ext cx="10953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A0495A4-2AAB-4DB7-8FE1-B3121A687D57}"/>
              </a:ext>
            </a:extLst>
          </p:cNvPr>
          <p:cNvSpPr>
            <a:spLocks xmlns:a="http://schemas.openxmlformats.org/drawingml/2006/main" noGrp="1"/>
          </p:cNvSpPr>
          <p:nvPr/>
        </p:nvSpPr>
        <p:spPr>
          <a:xfrm xmlns:a="http://schemas.openxmlformats.org/drawingml/2006/main">
            <a:off x="800100" y="3924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imagepull</a:t>
            </a:r>
          </a:p>
        </p:txBody>
      </p:sp>
      <p:sp>
        <p:nvSpPr>
          <p:cNvPr id="14" name="">
            <a:extLst xmlns:a="http://schemas.openxmlformats.org/drawingml/2006/main">
              <a:ext uri="{FF2B5EF4-FFF2-40B4-BE49-F238E27FC236}">
                <a16:creationId xmlns:a16="http://schemas.microsoft.com/office/drawing/2014/main" id="{3C776C1A-EC01-4AC4-ACF4-0086C1210DC8}"/>
              </a:ext>
            </a:extLst>
          </p:cNvPr>
          <p:cNvSpPr>
            <a:spLocks xmlns:a="http://schemas.openxmlformats.org/drawingml/2006/main" noGrp="1"/>
          </p:cNvSpPr>
          <p:nvPr/>
        </p:nvSpPr>
        <p:spPr>
          <a:xfrm xmlns:a="http://schemas.openxmlformats.org/drawingml/2006/main">
            <a:off x="2990850" y="39243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C37800"/>
                </a:solidFill>
                <a:latin typeface="Helvetica Neue"/>
                <a:ea typeface="Helvetica Neue"/>
                <a:cs typeface="Helvetica Neue"/>
              </a:defRPr>
            </a:pPr>
            <a:r>
              <a:rPr sz="1500" b="0">
                <a:solidFill>
                  <a:srgbClr val="C37800"/>
                </a:solidFill>
                <a:latin typeface="Helvetica Neue"/>
                <a:ea typeface="Helvetica Neue"/>
                <a:cs typeface="Helvetica Neue"/>
              </a:rPr>
              <a:t>Pending</a:t>
            </a:r>
          </a:p>
        </p:txBody>
      </p:sp>
      <p:sp>
        <p:nvSpPr>
          <p:cNvPr id="15" name="">
            <a:extLst xmlns:a="http://schemas.openxmlformats.org/drawingml/2006/main">
              <a:ext uri="{FF2B5EF4-FFF2-40B4-BE49-F238E27FC236}">
                <a16:creationId xmlns:a16="http://schemas.microsoft.com/office/drawing/2014/main" id="{D8E0D64A-8D07-4C2F-A140-7CD2DCDD8152}"/>
              </a:ext>
            </a:extLst>
          </p:cNvPr>
          <p:cNvSpPr>
            <a:spLocks xmlns:a="http://schemas.openxmlformats.org/drawingml/2006/main" noGrp="1"/>
          </p:cNvSpPr>
          <p:nvPr/>
        </p:nvSpPr>
        <p:spPr>
          <a:xfrm xmlns:a="http://schemas.openxmlformats.org/drawingml/2006/main">
            <a:off x="5848350" y="3924300"/>
            <a:ext cx="5600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ImagePullBackOff or ErrImagePull</a:t>
            </a:r>
          </a:p>
        </p:txBody>
      </p:sp>
      <p:sp>
        <p:nvSpPr>
          <p:cNvPr id="16" name="">
            <a:extLst xmlns:a="http://schemas.openxmlformats.org/drawingml/2006/main">
              <a:ext uri="{FF2B5EF4-FFF2-40B4-BE49-F238E27FC236}">
                <a16:creationId xmlns:a16="http://schemas.microsoft.com/office/drawing/2014/main" id="{52B75651-EBD3-4A6F-BEE1-425EA38C22CC}"/>
              </a:ext>
            </a:extLst>
          </p:cNvPr>
          <p:cNvSpPr>
            <a:spLocks xmlns:a="http://schemas.openxmlformats.org/drawingml/2006/main" noGrp="1"/>
          </p:cNvSpPr>
          <p:nvPr/>
        </p:nvSpPr>
        <p:spPr>
          <a:xfrm xmlns:a="http://schemas.openxmlformats.org/drawingml/2006/main">
            <a:off x="628650" y="4686300"/>
            <a:ext cx="10953750" cy="8382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BC8B4B8C-25F4-4BB4-88DD-047BA307E854}"/>
              </a:ext>
            </a:extLst>
          </p:cNvPr>
          <p:cNvSpPr>
            <a:spLocks xmlns:a="http://schemas.openxmlformats.org/drawingml/2006/main" noGrp="1"/>
          </p:cNvSpPr>
          <p:nvPr/>
        </p:nvSpPr>
        <p:spPr>
          <a:xfrm xmlns:a="http://schemas.openxmlformats.org/drawingml/2006/main">
            <a:off x="800100" y="48768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crashloop</a:t>
            </a:r>
          </a:p>
        </p:txBody>
      </p:sp>
      <p:sp>
        <p:nvSpPr>
          <p:cNvPr id="18" name="">
            <a:extLst xmlns:a="http://schemas.openxmlformats.org/drawingml/2006/main">
              <a:ext uri="{FF2B5EF4-FFF2-40B4-BE49-F238E27FC236}">
                <a16:creationId xmlns:a16="http://schemas.microsoft.com/office/drawing/2014/main" id="{992CC3BF-8323-4103-A0B9-E5A87719F904}"/>
              </a:ext>
            </a:extLst>
          </p:cNvPr>
          <p:cNvSpPr>
            <a:spLocks xmlns:a="http://schemas.openxmlformats.org/drawingml/2006/main" noGrp="1"/>
          </p:cNvSpPr>
          <p:nvPr/>
        </p:nvSpPr>
        <p:spPr>
          <a:xfrm xmlns:a="http://schemas.openxmlformats.org/drawingml/2006/main">
            <a:off x="2990850" y="48768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C37800"/>
                </a:solidFill>
                <a:latin typeface="Helvetica Neue"/>
                <a:ea typeface="Helvetica Neue"/>
                <a:cs typeface="Helvetica Neue"/>
              </a:defRPr>
            </a:pPr>
            <a:r>
              <a:rPr sz="1500" b="0">
                <a:solidFill>
                  <a:srgbClr val="C37800"/>
                </a:solidFill>
                <a:latin typeface="Helvetica Neue"/>
                <a:ea typeface="Helvetica Neue"/>
                <a:cs typeface="Helvetica Neue"/>
              </a:rPr>
              <a:t>Not Ready</a:t>
            </a:r>
          </a:p>
        </p:txBody>
      </p:sp>
      <p:sp>
        <p:nvSpPr>
          <p:cNvPr id="19" name="">
            <a:extLst xmlns:a="http://schemas.openxmlformats.org/drawingml/2006/main">
              <a:ext uri="{FF2B5EF4-FFF2-40B4-BE49-F238E27FC236}">
                <a16:creationId xmlns:a16="http://schemas.microsoft.com/office/drawing/2014/main" id="{732BA344-24EA-4CD3-940E-A7318B2A8BC6}"/>
              </a:ext>
            </a:extLst>
          </p:cNvPr>
          <p:cNvSpPr>
            <a:spLocks xmlns:a="http://schemas.openxmlformats.org/drawingml/2006/main" noGrp="1"/>
          </p:cNvSpPr>
          <p:nvPr/>
        </p:nvSpPr>
        <p:spPr>
          <a:xfrm xmlns:a="http://schemas.openxmlformats.org/drawingml/2006/main">
            <a:off x="5848350" y="4876800"/>
            <a:ext cx="5600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Exit code 42, restarts, and BackOff events</a:t>
            </a:r>
          </a:p>
        </p:txBody>
      </p:sp>
      <p:sp>
        <p:nvSpPr>
          <p:cNvPr id="20" name="">
            <a:extLst xmlns:a="http://schemas.openxmlformats.org/drawingml/2006/main">
              <a:ext uri="{FF2B5EF4-FFF2-40B4-BE49-F238E27FC236}">
                <a16:creationId xmlns:a16="http://schemas.microsoft.com/office/drawing/2014/main" id="{37542CD4-53F0-481F-9E6F-7CBF39D8DBAF}"/>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DIAGNOSTIC FIXTURES</a:t>
            </a:r>
          </a:p>
        </p:txBody>
      </p:sp>
      <p:sp>
        <p:nvSpPr>
          <p:cNvPr id="21" name="">
            <a:extLst xmlns:a="http://schemas.openxmlformats.org/drawingml/2006/main">
              <a:ext uri="{FF2B5EF4-FFF2-40B4-BE49-F238E27FC236}">
                <a16:creationId xmlns:a16="http://schemas.microsoft.com/office/drawing/2014/main" id="{7EA778BF-3630-4F2B-89D2-423398E9D27D}"/>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09</a:t>
            </a:r>
          </a:p>
        </p:txBody>
      </p:sp>
    </p:spTree>
    <p:extLst>
      <p:ext uri="{BB962C8B-B14F-4D97-AF65-F5344CB8AC3E}">
        <p14:creationId xmlns:p14="http://schemas.microsoft.com/office/powerpoint/2010/main" val="4095792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8BE723B3-A1F2-49FD-B95B-70DD69EF718F}"/>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One Make workflow installs and proves read-only kagent</a:t>
            </a:r>
          </a:p>
        </p:txBody>
      </p:sp>
      <p:sp>
        <p:nvSpPr>
          <p:cNvPr id="2" name="">
            <a:extLst xmlns:a="http://schemas.openxmlformats.org/drawingml/2006/main">
              <a:ext uri="{FF2B5EF4-FFF2-40B4-BE49-F238E27FC236}">
                <a16:creationId xmlns:a16="http://schemas.microsoft.com/office/drawing/2014/main" id="{DFAE2226-18AA-4F6C-BEE5-BEC74FC036A2}"/>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Preflight, installation, and live verification remain independently traceable.</a:t>
            </a:r>
          </a:p>
        </p:txBody>
      </p:sp>
      <p:cxnSp>
        <p:nvCxnSpPr>
          <p:cNvPr id="18"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66DDF234-F4A7-46EE-9229-8B25AF80DE34}"/>
              </a:ext>
            </a:extLst>
          </p:cNvPr>
          <p:cNvSpPr>
            <a:spLocks xmlns:a="http://schemas.openxmlformats.org/drawingml/2006/main" noGrp="1"/>
          </p:cNvSpPr>
          <p:nvPr/>
        </p:nvSpPr>
        <p:spPr>
          <a:xfrm xmlns:a="http://schemas.openxmlformats.org/drawingml/2006/main">
            <a:off x="666750" y="2190750"/>
            <a:ext cx="5619750" cy="2724150"/>
          </a:xfrm>
          <a:prstGeom xmlns:a="http://schemas.openxmlformats.org/drawingml/2006/main" prst="roundRect">
            <a:avLst>
              <a:gd name="adj" fmla="val 2797"/>
            </a:avLst>
          </a:prstGeom>
          <a:solidFill xmlns:a="http://schemas.openxmlformats.org/drawingml/2006/main">
            <a:srgbClr val="151A21"/>
          </a:solidFill>
          <a:ln xmlns:a="http://schemas.openxmlformats.org/drawingml/2006/main" w="0">
            <a:noFill/>
            <a:prstDash val="solid"/>
          </a:ln>
        </p:spPr>
      </p:sp>
      <p:sp>
        <p:nvSpPr>
          <p:cNvPr id="5" name="command">
            <a:extLst xmlns:a="http://schemas.openxmlformats.org/drawingml/2006/main">
              <a:ext uri="{FF2B5EF4-FFF2-40B4-BE49-F238E27FC236}">
                <a16:creationId xmlns:a16="http://schemas.microsoft.com/office/drawing/2014/main" id="{12CC8660-62D4-4104-921D-77F845322CC6}"/>
              </a:ext>
            </a:extLst>
          </p:cNvPr>
          <p:cNvSpPr>
            <a:spLocks xmlns:a="http://schemas.openxmlformats.org/drawingml/2006/main" noGrp="1"/>
          </p:cNvSpPr>
          <p:nvPr/>
        </p:nvSpPr>
        <p:spPr>
          <a:xfrm xmlns:a="http://schemas.openxmlformats.org/drawingml/2006/main">
            <a:off x="895350" y="2362200"/>
            <a:ext cx="51625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preflight</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install</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status</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kagent verify-kagent</a:t>
            </a:r>
          </a:p>
        </p:txBody>
      </p:sp>
      <p:sp>
        <p:nvSpPr>
          <p:cNvPr id="6" name="">
            <a:extLst xmlns:a="http://schemas.openxmlformats.org/drawingml/2006/main">
              <a:ext uri="{FF2B5EF4-FFF2-40B4-BE49-F238E27FC236}">
                <a16:creationId xmlns:a16="http://schemas.microsoft.com/office/drawing/2014/main" id="{6B066B11-5FAD-4085-81F2-E8ECE8E6841E}"/>
              </a:ext>
            </a:extLst>
          </p:cNvPr>
          <p:cNvSpPr>
            <a:spLocks xmlns:a="http://schemas.openxmlformats.org/drawingml/2006/main" noGrp="1"/>
          </p:cNvSpPr>
          <p:nvPr/>
        </p:nvSpPr>
        <p:spPr>
          <a:xfrm xmlns:a="http://schemas.openxmlformats.org/drawingml/2006/main">
            <a:off x="6953250" y="21907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6845B"/>
                </a:solidFill>
                <a:latin typeface="Helvetica Neue"/>
                <a:ea typeface="Helvetica Neue"/>
                <a:cs typeface="Helvetica Neue"/>
              </a:defRPr>
            </a:pPr>
            <a:r>
              <a:rPr sz="1800" b="1">
                <a:solidFill>
                  <a:srgbClr val="16845B"/>
                </a:solidFill>
                <a:latin typeface="Helvetica Neue"/>
                <a:ea typeface="Helvetica Neue"/>
                <a:cs typeface="Helvetica Neue"/>
              </a:rPr>
              <a:t>Success signal</a:t>
            </a:r>
          </a:p>
        </p:txBody>
      </p:sp>
      <p:sp>
        <p:nvSpPr>
          <p:cNvPr id="7" name="">
            <a:extLst xmlns:a="http://schemas.openxmlformats.org/drawingml/2006/main">
              <a:ext uri="{FF2B5EF4-FFF2-40B4-BE49-F238E27FC236}">
                <a16:creationId xmlns:a16="http://schemas.microsoft.com/office/drawing/2014/main" id="{AF8AA2D4-6B0A-4522-8846-EA22D34F9CB4}"/>
              </a:ext>
            </a:extLst>
          </p:cNvPr>
          <p:cNvSpPr>
            <a:spLocks xmlns:a="http://schemas.openxmlformats.org/drawingml/2006/main" noGrp="1"/>
          </p:cNvSpPr>
          <p:nvPr/>
        </p:nvSpPr>
        <p:spPr>
          <a:xfrm xmlns:a="http://schemas.openxmlformats.org/drawingml/2006/main">
            <a:off x="6953250" y="274320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kagent verification PASS</a:t>
            </a:r>
          </a:p>
        </p:txBody>
      </p:sp>
      <p:sp>
        <p:nvSpPr>
          <p:cNvPr id="8" name="">
            <a:extLst xmlns:a="http://schemas.openxmlformats.org/drawingml/2006/main">
              <a:ext uri="{FF2B5EF4-FFF2-40B4-BE49-F238E27FC236}">
                <a16:creationId xmlns:a16="http://schemas.microsoft.com/office/drawing/2014/main" id="{683F6404-DF7F-46EC-B23B-91562BF10936}"/>
              </a:ext>
            </a:extLst>
          </p:cNvPr>
          <p:cNvSpPr>
            <a:spLocks xmlns:a="http://schemas.openxmlformats.org/drawingml/2006/main" noGrp="1"/>
          </p:cNvSpPr>
          <p:nvPr/>
        </p:nvSpPr>
        <p:spPr>
          <a:xfrm xmlns:a="http://schemas.openxmlformats.org/drawingml/2006/main">
            <a:off x="6953250" y="36385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FE466B9B-3CD3-4B38-9C94-FE18C556FD20}"/>
              </a:ext>
            </a:extLst>
          </p:cNvPr>
          <p:cNvSpPr>
            <a:spLocks xmlns:a="http://schemas.openxmlformats.org/drawingml/2006/main" noGrp="1"/>
          </p:cNvSpPr>
          <p:nvPr/>
        </p:nvSpPr>
        <p:spPr>
          <a:xfrm xmlns:a="http://schemas.openxmlformats.org/drawingml/2006/main">
            <a:off x="7258050" y="3638550"/>
            <a:ext cx="3981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Agent and tool server Accepted</a:t>
            </a:r>
          </a:p>
        </p:txBody>
      </p:sp>
      <p:sp>
        <p:nvSpPr>
          <p:cNvPr id="10" name="">
            <a:extLst xmlns:a="http://schemas.openxmlformats.org/drawingml/2006/main">
              <a:ext uri="{FF2B5EF4-FFF2-40B4-BE49-F238E27FC236}">
                <a16:creationId xmlns:a16="http://schemas.microsoft.com/office/drawing/2014/main" id="{F57AE0E1-461A-41B7-8B59-F0DAB7DDF68C}"/>
              </a:ext>
            </a:extLst>
          </p:cNvPr>
          <p:cNvSpPr>
            <a:spLocks xmlns:a="http://schemas.openxmlformats.org/drawingml/2006/main" noGrp="1"/>
          </p:cNvSpPr>
          <p:nvPr/>
        </p:nvSpPr>
        <p:spPr>
          <a:xfrm xmlns:a="http://schemas.openxmlformats.org/drawingml/2006/main">
            <a:off x="6953250" y="4191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B4C34CE3-EA8F-445E-846E-FDC4CC9D1438}"/>
              </a:ext>
            </a:extLst>
          </p:cNvPr>
          <p:cNvSpPr>
            <a:spLocks xmlns:a="http://schemas.openxmlformats.org/drawingml/2006/main" noGrp="1"/>
          </p:cNvSpPr>
          <p:nvPr/>
        </p:nvSpPr>
        <p:spPr>
          <a:xfrm xmlns:a="http://schemas.openxmlformats.org/drawingml/2006/main">
            <a:off x="7258050" y="4191000"/>
            <a:ext cx="3981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All three fixtures detected</a:t>
            </a:r>
          </a:p>
        </p:txBody>
      </p:sp>
      <p:sp>
        <p:nvSpPr>
          <p:cNvPr id="12" name="">
            <a:extLst xmlns:a="http://schemas.openxmlformats.org/drawingml/2006/main">
              <a:ext uri="{FF2B5EF4-FFF2-40B4-BE49-F238E27FC236}">
                <a16:creationId xmlns:a16="http://schemas.microsoft.com/office/drawing/2014/main" id="{0C32A913-DB39-4A55-AC5C-989E0D9D8ACB}"/>
              </a:ext>
            </a:extLst>
          </p:cNvPr>
          <p:cNvSpPr>
            <a:spLocks xmlns:a="http://schemas.openxmlformats.org/drawingml/2006/main" noGrp="1"/>
          </p:cNvSpPr>
          <p:nvPr/>
        </p:nvSpPr>
        <p:spPr>
          <a:xfrm xmlns:a="http://schemas.openxmlformats.org/drawingml/2006/main">
            <a:off x="6953250" y="47434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CD1BA56C-69EF-4C00-A7D1-DCAD5076FB93}"/>
              </a:ext>
            </a:extLst>
          </p:cNvPr>
          <p:cNvSpPr>
            <a:spLocks xmlns:a="http://schemas.openxmlformats.org/drawingml/2006/main" noGrp="1"/>
          </p:cNvSpPr>
          <p:nvPr/>
        </p:nvSpPr>
        <p:spPr>
          <a:xfrm xmlns:a="http://schemas.openxmlformats.org/drawingml/2006/main">
            <a:off x="7258050" y="4743450"/>
            <a:ext cx="3981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Read yes — writes, secrets, wildcards no</a:t>
            </a:r>
          </a:p>
        </p:txBody>
      </p:sp>
      <p:sp>
        <p:nvSpPr>
          <p:cNvPr id="14" name="">
            <a:extLst xmlns:a="http://schemas.openxmlformats.org/drawingml/2006/main">
              <a:ext uri="{FF2B5EF4-FFF2-40B4-BE49-F238E27FC236}">
                <a16:creationId xmlns:a16="http://schemas.microsoft.com/office/drawing/2014/main" id="{01A0B98F-97E4-4AB1-B8F8-999E4F84E0A0}"/>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VERIFY KAGENT</a:t>
            </a:r>
          </a:p>
        </p:txBody>
      </p:sp>
      <p:sp>
        <p:nvSpPr>
          <p:cNvPr id="15" name="">
            <a:extLst xmlns:a="http://schemas.openxmlformats.org/drawingml/2006/main">
              <a:ext uri="{FF2B5EF4-FFF2-40B4-BE49-F238E27FC236}">
                <a16:creationId xmlns:a16="http://schemas.microsoft.com/office/drawing/2014/main" id="{D1D0D225-AF08-4EB3-B970-9D1079291CA9}"/>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10</a:t>
            </a:r>
          </a:p>
        </p:txBody>
      </p:sp>
    </p:spTree>
    <p:extLst>
      <p:ext uri="{BB962C8B-B14F-4D97-AF65-F5344CB8AC3E}">
        <p14:creationId xmlns:p14="http://schemas.microsoft.com/office/powerpoint/2010/main" val="16016507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1ADF1EEC-6156-4C36-A923-6BDEAD9629B5}"/>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OpenClaw connects the user question to verified evidence</a:t>
            </a:r>
          </a:p>
        </p:txBody>
      </p:sp>
      <p:sp>
        <p:nvSpPr>
          <p:cNvPr id="2" name="">
            <a:extLst xmlns:a="http://schemas.openxmlformats.org/drawingml/2006/main">
              <a:ext uri="{FF2B5EF4-FFF2-40B4-BE49-F238E27FC236}">
                <a16:creationId xmlns:a16="http://schemas.microsoft.com/office/drawing/2014/main" id="{C37B7A6E-BC63-40A4-928B-4516DEF579F3}"/>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Each layer has a clearly limited responsibility.</a:t>
            </a:r>
          </a:p>
        </p:txBody>
      </p:sp>
      <p:cxnSp>
        <p:nvCxnSpPr>
          <p:cNvPr id="37"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cxnSp>
        <p:nvCxnSpPr>
          <p:cNvPr id="38" name=""/>
          <p:cNvCxnSpPr/>
          <p:nvPr/>
        </p:nvCxnSpPr>
        <p:spPr>
          <a:xfrm xmlns:a="http://schemas.openxmlformats.org/drawingml/2006/main">
            <a:off x="1943100"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5" name="">
            <a:extLst xmlns:a="http://schemas.openxmlformats.org/drawingml/2006/main">
              <a:ext uri="{FF2B5EF4-FFF2-40B4-BE49-F238E27FC236}">
                <a16:creationId xmlns:a16="http://schemas.microsoft.com/office/drawing/2014/main" id="{0C1EBE96-4B8A-4BC9-A730-E2D7BA63864C}"/>
              </a:ext>
            </a:extLst>
          </p:cNvPr>
          <p:cNvSpPr>
            <a:spLocks xmlns:a="http://schemas.openxmlformats.org/drawingml/2006/main" noGrp="1"/>
          </p:cNvSpPr>
          <p:nvPr/>
        </p:nvSpPr>
        <p:spPr>
          <a:xfrm xmlns:a="http://schemas.openxmlformats.org/drawingml/2006/main">
            <a:off x="2028825"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0" name=""/>
          <p:cNvCxnSpPr/>
          <p:nvPr/>
        </p:nvCxnSpPr>
        <p:spPr>
          <a:xfrm xmlns:a="http://schemas.openxmlformats.org/drawingml/2006/main">
            <a:off x="3895725"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7" name="">
            <a:extLst xmlns:a="http://schemas.openxmlformats.org/drawingml/2006/main">
              <a:ext uri="{FF2B5EF4-FFF2-40B4-BE49-F238E27FC236}">
                <a16:creationId xmlns:a16="http://schemas.microsoft.com/office/drawing/2014/main" id="{CEB4385B-D6AB-48C7-B256-0E4F6CBAE2B5}"/>
              </a:ext>
            </a:extLst>
          </p:cNvPr>
          <p:cNvSpPr>
            <a:spLocks xmlns:a="http://schemas.openxmlformats.org/drawingml/2006/main" noGrp="1"/>
          </p:cNvSpPr>
          <p:nvPr/>
        </p:nvSpPr>
        <p:spPr>
          <a:xfrm xmlns:a="http://schemas.openxmlformats.org/drawingml/2006/main">
            <a:off x="3981450"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2" name=""/>
          <p:cNvCxnSpPr/>
          <p:nvPr/>
        </p:nvCxnSpPr>
        <p:spPr>
          <a:xfrm xmlns:a="http://schemas.openxmlformats.org/drawingml/2006/main">
            <a:off x="5848350"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9" name="">
            <a:extLst xmlns:a="http://schemas.openxmlformats.org/drawingml/2006/main">
              <a:ext uri="{FF2B5EF4-FFF2-40B4-BE49-F238E27FC236}">
                <a16:creationId xmlns:a16="http://schemas.microsoft.com/office/drawing/2014/main" id="{C093CD5C-1DA7-4595-A910-6CB720874FF3}"/>
              </a:ext>
            </a:extLst>
          </p:cNvPr>
          <p:cNvSpPr>
            <a:spLocks xmlns:a="http://schemas.openxmlformats.org/drawingml/2006/main" noGrp="1"/>
          </p:cNvSpPr>
          <p:nvPr/>
        </p:nvSpPr>
        <p:spPr>
          <a:xfrm xmlns:a="http://schemas.openxmlformats.org/drawingml/2006/main">
            <a:off x="5934075"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4" name=""/>
          <p:cNvCxnSpPr/>
          <p:nvPr/>
        </p:nvCxnSpPr>
        <p:spPr>
          <a:xfrm xmlns:a="http://schemas.openxmlformats.org/drawingml/2006/main">
            <a:off x="7800975"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11" name="">
            <a:extLst xmlns:a="http://schemas.openxmlformats.org/drawingml/2006/main">
              <a:ext uri="{FF2B5EF4-FFF2-40B4-BE49-F238E27FC236}">
                <a16:creationId xmlns:a16="http://schemas.microsoft.com/office/drawing/2014/main" id="{C0037574-FDDB-4252-A681-6FA6DED006AF}"/>
              </a:ext>
            </a:extLst>
          </p:cNvPr>
          <p:cNvSpPr>
            <a:spLocks xmlns:a="http://schemas.openxmlformats.org/drawingml/2006/main" noGrp="1"/>
          </p:cNvSpPr>
          <p:nvPr/>
        </p:nvSpPr>
        <p:spPr>
          <a:xfrm xmlns:a="http://schemas.openxmlformats.org/drawingml/2006/main">
            <a:off x="7886700"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cxnSp>
        <p:nvCxnSpPr>
          <p:cNvPr id="46" name=""/>
          <p:cNvCxnSpPr/>
          <p:nvPr/>
        </p:nvCxnSpPr>
        <p:spPr>
          <a:xfrm xmlns:a="http://schemas.openxmlformats.org/drawingml/2006/main">
            <a:off x="9753600" y="3429000"/>
            <a:ext cx="409575" cy="0"/>
          </a:xfrm>
          <a:prstGeom xmlns:a="http://schemas.openxmlformats.org/drawingml/2006/main" prst="straightConnector1">
            <a:avLst/>
          </a:prstGeom>
          <a:ln xmlns:a="http://schemas.openxmlformats.org/drawingml/2006/main" w="28575">
            <a:solidFill>
              <a:srgbClr val="3D8DFF"/>
            </a:solidFill>
            <a:prstDash val="solid"/>
          </a:ln>
        </p:spPr>
      </p:cxnSp>
      <p:sp>
        <p:nvSpPr>
          <p:cNvPr id="13" name="">
            <a:extLst xmlns:a="http://schemas.openxmlformats.org/drawingml/2006/main">
              <a:ext uri="{FF2B5EF4-FFF2-40B4-BE49-F238E27FC236}">
                <a16:creationId xmlns:a16="http://schemas.microsoft.com/office/drawing/2014/main" id="{787E605E-C810-46E5-8E30-BED0D5D673BD}"/>
              </a:ext>
            </a:extLst>
          </p:cNvPr>
          <p:cNvSpPr>
            <a:spLocks xmlns:a="http://schemas.openxmlformats.org/drawingml/2006/main" noGrp="1"/>
          </p:cNvSpPr>
          <p:nvPr/>
        </p:nvSpPr>
        <p:spPr>
          <a:xfrm xmlns:a="http://schemas.openxmlformats.org/drawingml/2006/main">
            <a:off x="9839325" y="3200400"/>
            <a:ext cx="323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11198AD6-F7FA-4A24-AC73-9B3424420CDD}"/>
              </a:ext>
            </a:extLst>
          </p:cNvPr>
          <p:cNvSpPr>
            <a:spLocks xmlns:a="http://schemas.openxmlformats.org/drawingml/2006/main" noGrp="1"/>
          </p:cNvSpPr>
          <p:nvPr/>
        </p:nvSpPr>
        <p:spPr>
          <a:xfrm xmlns:a="http://schemas.openxmlformats.org/drawingml/2006/main">
            <a:off x="400050" y="2724150"/>
            <a:ext cx="1543050" cy="1428750"/>
          </a:xfrm>
          <a:prstGeom xmlns:a="http://schemas.openxmlformats.org/drawingml/2006/main" prst="roundRect">
            <a:avLst>
              <a:gd name="adj" fmla="val 5333"/>
            </a:avLst>
          </a:prstGeom>
          <a:solidFill xmlns:a="http://schemas.openxmlformats.org/drawingml/2006/main">
            <a:srgbClr val="EEF7FD"/>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41B322CB-423D-4A7C-9918-7684FAE1BD22}"/>
              </a:ext>
            </a:extLst>
          </p:cNvPr>
          <p:cNvSpPr>
            <a:spLocks xmlns:a="http://schemas.openxmlformats.org/drawingml/2006/main" noGrp="1"/>
          </p:cNvSpPr>
          <p:nvPr/>
        </p:nvSpPr>
        <p:spPr>
          <a:xfrm xmlns:a="http://schemas.openxmlformats.org/drawingml/2006/main">
            <a:off x="533400"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Open WebUI</a:t>
            </a:r>
          </a:p>
        </p:txBody>
      </p:sp>
      <p:sp>
        <p:nvSpPr>
          <p:cNvPr id="16" name="">
            <a:extLst xmlns:a="http://schemas.openxmlformats.org/drawingml/2006/main">
              <a:ext uri="{FF2B5EF4-FFF2-40B4-BE49-F238E27FC236}">
                <a16:creationId xmlns:a16="http://schemas.microsoft.com/office/drawing/2014/main" id="{E85399ED-9C6B-4C24-BCE5-E09474E000D3}"/>
              </a:ext>
            </a:extLst>
          </p:cNvPr>
          <p:cNvSpPr>
            <a:spLocks xmlns:a="http://schemas.openxmlformats.org/drawingml/2006/main" noGrp="1"/>
          </p:cNvSpPr>
          <p:nvPr/>
        </p:nvSpPr>
        <p:spPr>
          <a:xfrm xmlns:a="http://schemas.openxmlformats.org/drawingml/2006/main">
            <a:off x="514350"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Login + Chat</a:t>
            </a:r>
          </a:p>
        </p:txBody>
      </p:sp>
      <p:sp>
        <p:nvSpPr>
          <p:cNvPr id="17" name="">
            <a:extLst xmlns:a="http://schemas.openxmlformats.org/drawingml/2006/main">
              <a:ext uri="{FF2B5EF4-FFF2-40B4-BE49-F238E27FC236}">
                <a16:creationId xmlns:a16="http://schemas.microsoft.com/office/drawing/2014/main" id="{B68DAE9F-DF82-470D-9792-97822B4C3FEB}"/>
              </a:ext>
            </a:extLst>
          </p:cNvPr>
          <p:cNvSpPr>
            <a:spLocks xmlns:a="http://schemas.openxmlformats.org/drawingml/2006/main" noGrp="1"/>
          </p:cNvSpPr>
          <p:nvPr/>
        </p:nvSpPr>
        <p:spPr>
          <a:xfrm xmlns:a="http://schemas.openxmlformats.org/drawingml/2006/main">
            <a:off x="2352675"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979BA4E9-54B9-4C91-A744-C5846FD0B36E}"/>
              </a:ext>
            </a:extLst>
          </p:cNvPr>
          <p:cNvSpPr>
            <a:spLocks xmlns:a="http://schemas.openxmlformats.org/drawingml/2006/main" noGrp="1"/>
          </p:cNvSpPr>
          <p:nvPr/>
        </p:nvSpPr>
        <p:spPr>
          <a:xfrm xmlns:a="http://schemas.openxmlformats.org/drawingml/2006/main">
            <a:off x="2486025"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OpenClaw</a:t>
            </a:r>
          </a:p>
        </p:txBody>
      </p:sp>
      <p:sp>
        <p:nvSpPr>
          <p:cNvPr id="19" name="">
            <a:extLst xmlns:a="http://schemas.openxmlformats.org/drawingml/2006/main">
              <a:ext uri="{FF2B5EF4-FFF2-40B4-BE49-F238E27FC236}">
                <a16:creationId xmlns:a16="http://schemas.microsoft.com/office/drawing/2014/main" id="{B79DC18B-A684-46AB-9A72-9749589AA7D9}"/>
              </a:ext>
            </a:extLst>
          </p:cNvPr>
          <p:cNvSpPr>
            <a:spLocks xmlns:a="http://schemas.openxmlformats.org/drawingml/2006/main" noGrp="1"/>
          </p:cNvSpPr>
          <p:nvPr/>
        </p:nvSpPr>
        <p:spPr>
          <a:xfrm xmlns:a="http://schemas.openxmlformats.org/drawingml/2006/main">
            <a:off x="2466975"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Consumer</a:t>
            </a:r>
          </a:p>
        </p:txBody>
      </p:sp>
      <p:sp>
        <p:nvSpPr>
          <p:cNvPr id="20" name="">
            <a:extLst xmlns:a="http://schemas.openxmlformats.org/drawingml/2006/main">
              <a:ext uri="{FF2B5EF4-FFF2-40B4-BE49-F238E27FC236}">
                <a16:creationId xmlns:a16="http://schemas.microsoft.com/office/drawing/2014/main" id="{43834443-CB1B-4EC5-8244-DBD43AC3FEE5}"/>
              </a:ext>
            </a:extLst>
          </p:cNvPr>
          <p:cNvSpPr>
            <a:spLocks xmlns:a="http://schemas.openxmlformats.org/drawingml/2006/main" noGrp="1"/>
          </p:cNvSpPr>
          <p:nvPr/>
        </p:nvSpPr>
        <p:spPr>
          <a:xfrm xmlns:a="http://schemas.openxmlformats.org/drawingml/2006/main">
            <a:off x="4305300"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D8E27524-C649-4873-8735-2B6DF7C721B7}"/>
              </a:ext>
            </a:extLst>
          </p:cNvPr>
          <p:cNvSpPr>
            <a:spLocks xmlns:a="http://schemas.openxmlformats.org/drawingml/2006/main" noGrp="1"/>
          </p:cNvSpPr>
          <p:nvPr/>
        </p:nvSpPr>
        <p:spPr>
          <a:xfrm xmlns:a="http://schemas.openxmlformats.org/drawingml/2006/main">
            <a:off x="4438650"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MCP adapter</a:t>
            </a:r>
          </a:p>
        </p:txBody>
      </p:sp>
      <p:sp>
        <p:nvSpPr>
          <p:cNvPr id="22" name="">
            <a:extLst xmlns:a="http://schemas.openxmlformats.org/drawingml/2006/main">
              <a:ext uri="{FF2B5EF4-FFF2-40B4-BE49-F238E27FC236}">
                <a16:creationId xmlns:a16="http://schemas.microsoft.com/office/drawing/2014/main" id="{91BEE153-B1E5-40D2-A051-B8B9FEC54B71}"/>
              </a:ext>
            </a:extLst>
          </p:cNvPr>
          <p:cNvSpPr>
            <a:spLocks xmlns:a="http://schemas.openxmlformats.org/drawingml/2006/main" noGrp="1"/>
          </p:cNvSpPr>
          <p:nvPr/>
        </p:nvSpPr>
        <p:spPr>
          <a:xfrm xmlns:a="http://schemas.openxmlformats.org/drawingml/2006/main">
            <a:off x="4419600"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3 functions</a:t>
            </a:r>
          </a:p>
        </p:txBody>
      </p:sp>
      <p:sp>
        <p:nvSpPr>
          <p:cNvPr id="23" name="">
            <a:extLst xmlns:a="http://schemas.openxmlformats.org/drawingml/2006/main">
              <a:ext uri="{FF2B5EF4-FFF2-40B4-BE49-F238E27FC236}">
                <a16:creationId xmlns:a16="http://schemas.microsoft.com/office/drawing/2014/main" id="{AC25014E-EBFC-45FE-8735-0EE872371FCE}"/>
              </a:ext>
            </a:extLst>
          </p:cNvPr>
          <p:cNvSpPr>
            <a:spLocks xmlns:a="http://schemas.openxmlformats.org/drawingml/2006/main" noGrp="1"/>
          </p:cNvSpPr>
          <p:nvPr/>
        </p:nvSpPr>
        <p:spPr>
          <a:xfrm xmlns:a="http://schemas.openxmlformats.org/drawingml/2006/main">
            <a:off x="6257925"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B7A282D1-9C47-44DF-A554-94CF9B546124}"/>
              </a:ext>
            </a:extLst>
          </p:cNvPr>
          <p:cNvSpPr>
            <a:spLocks xmlns:a="http://schemas.openxmlformats.org/drawingml/2006/main" noGrp="1"/>
          </p:cNvSpPr>
          <p:nvPr/>
        </p:nvSpPr>
        <p:spPr>
          <a:xfrm xmlns:a="http://schemas.openxmlformats.org/drawingml/2006/main">
            <a:off x="6391275"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Facade</a:t>
            </a:r>
          </a:p>
        </p:txBody>
      </p:sp>
      <p:sp>
        <p:nvSpPr>
          <p:cNvPr id="25" name="">
            <a:extLst xmlns:a="http://schemas.openxmlformats.org/drawingml/2006/main">
              <a:ext uri="{FF2B5EF4-FFF2-40B4-BE49-F238E27FC236}">
                <a16:creationId xmlns:a16="http://schemas.microsoft.com/office/drawing/2014/main" id="{12FABA04-88CF-4FCD-A77A-01992BED4D2B}"/>
              </a:ext>
            </a:extLst>
          </p:cNvPr>
          <p:cNvSpPr>
            <a:spLocks xmlns:a="http://schemas.openxmlformats.org/drawingml/2006/main" noGrp="1"/>
          </p:cNvSpPr>
          <p:nvPr/>
        </p:nvSpPr>
        <p:spPr>
          <a:xfrm xmlns:a="http://schemas.openxmlformats.org/drawingml/2006/main">
            <a:off x="6372225"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Contract</a:t>
            </a:r>
          </a:p>
        </p:txBody>
      </p:sp>
      <p:sp>
        <p:nvSpPr>
          <p:cNvPr id="26" name="">
            <a:extLst xmlns:a="http://schemas.openxmlformats.org/drawingml/2006/main">
              <a:ext uri="{FF2B5EF4-FFF2-40B4-BE49-F238E27FC236}">
                <a16:creationId xmlns:a16="http://schemas.microsoft.com/office/drawing/2014/main" id="{9FA68B22-883E-4990-8AB2-9AE9CAE99FB2}"/>
              </a:ext>
            </a:extLst>
          </p:cNvPr>
          <p:cNvSpPr>
            <a:spLocks xmlns:a="http://schemas.openxmlformats.org/drawingml/2006/main" noGrp="1"/>
          </p:cNvSpPr>
          <p:nvPr/>
        </p:nvSpPr>
        <p:spPr>
          <a:xfrm xmlns:a="http://schemas.openxmlformats.org/drawingml/2006/main">
            <a:off x="8210550"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54D1360C-3BC1-4C60-9F74-E5C6B79EE399}"/>
              </a:ext>
            </a:extLst>
          </p:cNvPr>
          <p:cNvSpPr>
            <a:spLocks xmlns:a="http://schemas.openxmlformats.org/drawingml/2006/main" noGrp="1"/>
          </p:cNvSpPr>
          <p:nvPr/>
        </p:nvSpPr>
        <p:spPr>
          <a:xfrm xmlns:a="http://schemas.openxmlformats.org/drawingml/2006/main">
            <a:off x="8343900"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kagent</a:t>
            </a:r>
          </a:p>
        </p:txBody>
      </p:sp>
      <p:sp>
        <p:nvSpPr>
          <p:cNvPr id="28" name="">
            <a:extLst xmlns:a="http://schemas.openxmlformats.org/drawingml/2006/main">
              <a:ext uri="{FF2B5EF4-FFF2-40B4-BE49-F238E27FC236}">
                <a16:creationId xmlns:a16="http://schemas.microsoft.com/office/drawing/2014/main" id="{D8985227-54FC-4DBF-B7D2-95AC3E1B175F}"/>
              </a:ext>
            </a:extLst>
          </p:cNvPr>
          <p:cNvSpPr>
            <a:spLocks xmlns:a="http://schemas.openxmlformats.org/drawingml/2006/main" noGrp="1"/>
          </p:cNvSpPr>
          <p:nvPr/>
        </p:nvSpPr>
        <p:spPr>
          <a:xfrm xmlns:a="http://schemas.openxmlformats.org/drawingml/2006/main">
            <a:off x="8324850"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Agent</a:t>
            </a:r>
          </a:p>
        </p:txBody>
      </p:sp>
      <p:sp>
        <p:nvSpPr>
          <p:cNvPr id="29" name="">
            <a:extLst xmlns:a="http://schemas.openxmlformats.org/drawingml/2006/main">
              <a:ext uri="{FF2B5EF4-FFF2-40B4-BE49-F238E27FC236}">
                <a16:creationId xmlns:a16="http://schemas.microsoft.com/office/drawing/2014/main" id="{35A052D1-A1B9-4F1C-927B-7CDA24388C9A}"/>
              </a:ext>
            </a:extLst>
          </p:cNvPr>
          <p:cNvSpPr>
            <a:spLocks xmlns:a="http://schemas.openxmlformats.org/drawingml/2006/main" noGrp="1"/>
          </p:cNvSpPr>
          <p:nvPr/>
        </p:nvSpPr>
        <p:spPr>
          <a:xfrm xmlns:a="http://schemas.openxmlformats.org/drawingml/2006/main">
            <a:off x="10163175" y="2724150"/>
            <a:ext cx="1543050" cy="1428750"/>
          </a:xfrm>
          <a:prstGeom xmlns:a="http://schemas.openxmlformats.org/drawingml/2006/main" prst="roundRect">
            <a:avLst>
              <a:gd name="adj" fmla="val 5333"/>
            </a:avLst>
          </a:prstGeom>
          <a:solidFill xmlns:a="http://schemas.openxmlformats.org/drawingml/2006/main">
            <a:srgbClr val="F6F7F8"/>
          </a:solidFill>
          <a:ln xmlns:a="http://schemas.openxmlformats.org/drawingml/2006/main" w="9525">
            <a:solidFill>
              <a:srgbClr val="B8BCC4"/>
            </a:solidFill>
            <a:prstDash val="solid"/>
          </a:ln>
        </p:spPr>
      </p:sp>
      <p:sp>
        <p:nvSpPr>
          <p:cNvPr id="30" name="">
            <a:extLst xmlns:a="http://schemas.openxmlformats.org/drawingml/2006/main">
              <a:ext uri="{FF2B5EF4-FFF2-40B4-BE49-F238E27FC236}">
                <a16:creationId xmlns:a16="http://schemas.microsoft.com/office/drawing/2014/main" id="{F3C1DB52-5598-4841-8110-FE0D5C912A26}"/>
              </a:ext>
            </a:extLst>
          </p:cNvPr>
          <p:cNvSpPr>
            <a:spLocks xmlns:a="http://schemas.openxmlformats.org/drawingml/2006/main" noGrp="1"/>
          </p:cNvSpPr>
          <p:nvPr/>
        </p:nvSpPr>
        <p:spPr>
          <a:xfrm xmlns:a="http://schemas.openxmlformats.org/drawingml/2006/main">
            <a:off x="10296525" y="3009900"/>
            <a:ext cx="1276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Tool-Server</a:t>
            </a:r>
          </a:p>
        </p:txBody>
      </p:sp>
      <p:sp>
        <p:nvSpPr>
          <p:cNvPr id="31" name="">
            <a:extLst xmlns:a="http://schemas.openxmlformats.org/drawingml/2006/main">
              <a:ext uri="{FF2B5EF4-FFF2-40B4-BE49-F238E27FC236}">
                <a16:creationId xmlns:a16="http://schemas.microsoft.com/office/drawing/2014/main" id="{42BF0E0C-C183-4D8F-A022-18C8072CCF50}"/>
              </a:ext>
            </a:extLst>
          </p:cNvPr>
          <p:cNvSpPr>
            <a:spLocks xmlns:a="http://schemas.openxmlformats.org/drawingml/2006/main" noGrp="1"/>
          </p:cNvSpPr>
          <p:nvPr/>
        </p:nvSpPr>
        <p:spPr>
          <a:xfrm xmlns:a="http://schemas.openxmlformats.org/drawingml/2006/main">
            <a:off x="10277475" y="36385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D6570"/>
                </a:solidFill>
                <a:latin typeface="Helvetica Neue"/>
                <a:ea typeface="Helvetica Neue"/>
                <a:cs typeface="Helvetica Neue"/>
              </a:defRPr>
            </a:pPr>
            <a:r>
              <a:rPr sz="1200" b="0">
                <a:solidFill>
                  <a:srgbClr val="5D6570"/>
                </a:solidFill>
                <a:latin typeface="Helvetica Neue"/>
                <a:ea typeface="Helvetica Neue"/>
                <a:cs typeface="Helvetica Neue"/>
              </a:rPr>
              <a:t>K8s read-only</a:t>
            </a:r>
          </a:p>
        </p:txBody>
      </p:sp>
      <p:sp>
        <p:nvSpPr>
          <p:cNvPr id="32" name="">
            <a:extLst xmlns:a="http://schemas.openxmlformats.org/drawingml/2006/main">
              <a:ext uri="{FF2B5EF4-FFF2-40B4-BE49-F238E27FC236}">
                <a16:creationId xmlns:a16="http://schemas.microsoft.com/office/drawing/2014/main" id="{FE97BFF1-89E6-419C-889A-F2F8071A5AF3}"/>
              </a:ext>
            </a:extLst>
          </p:cNvPr>
          <p:cNvSpPr>
            <a:spLocks xmlns:a="http://schemas.openxmlformats.org/drawingml/2006/main" noGrp="1"/>
          </p:cNvSpPr>
          <p:nvPr/>
        </p:nvSpPr>
        <p:spPr>
          <a:xfrm xmlns:a="http://schemas.openxmlformats.org/drawingml/2006/main">
            <a:off x="8972550" y="46101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6845B"/>
                </a:solidFill>
                <a:latin typeface="Helvetica Neue"/>
                <a:ea typeface="Helvetica Neue"/>
                <a:cs typeface="Helvetica Neue"/>
              </a:defRPr>
            </a:pPr>
            <a:r>
              <a:rPr sz="1350" b="1">
                <a:solidFill>
                  <a:srgbClr val="16845B"/>
                </a:solidFill>
                <a:latin typeface="Helvetica Neue"/>
                <a:ea typeface="Helvetica Neue"/>
                <a:cs typeface="Helvetica Neue"/>
              </a:rPr>
              <a:t>Only this component holds a Kubernetes API identity</a:t>
            </a:r>
          </a:p>
        </p:txBody>
      </p:sp>
      <p:sp>
        <p:nvSpPr>
          <p:cNvPr id="33" name="">
            <a:extLst xmlns:a="http://schemas.openxmlformats.org/drawingml/2006/main">
              <a:ext uri="{FF2B5EF4-FFF2-40B4-BE49-F238E27FC236}">
                <a16:creationId xmlns:a16="http://schemas.microsoft.com/office/drawing/2014/main" id="{CCA59921-DBFD-4C16-8673-DFBE7983AFA1}"/>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OPENCLAW ARCHITECTURE</a:t>
            </a:r>
          </a:p>
        </p:txBody>
      </p:sp>
      <p:sp>
        <p:nvSpPr>
          <p:cNvPr id="34" name="">
            <a:extLst xmlns:a="http://schemas.openxmlformats.org/drawingml/2006/main">
              <a:ext uri="{FF2B5EF4-FFF2-40B4-BE49-F238E27FC236}">
                <a16:creationId xmlns:a16="http://schemas.microsoft.com/office/drawing/2014/main" id="{58202AA3-94DE-4C0A-B209-A6BA87D9C5F2}"/>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11</a:t>
            </a:r>
          </a:p>
        </p:txBody>
      </p:sp>
    </p:spTree>
    <p:extLst>
      <p:ext uri="{BB962C8B-B14F-4D97-AF65-F5344CB8AC3E}">
        <p14:creationId xmlns:p14="http://schemas.microsoft.com/office/powerpoint/2010/main" val="9804019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8AA3D72-C403-4FC5-BBEC-78DA32B1389D}"/>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OpenClaw sees exactly three diagnostic functions</a:t>
            </a:r>
          </a:p>
        </p:txBody>
      </p:sp>
      <p:sp>
        <p:nvSpPr>
          <p:cNvPr id="2" name="">
            <a:extLst xmlns:a="http://schemas.openxmlformats.org/drawingml/2006/main">
              <a:ext uri="{FF2B5EF4-FFF2-40B4-BE49-F238E27FC236}">
                <a16:creationId xmlns:a16="http://schemas.microsoft.com/office/drawing/2014/main" id="{F94F4D25-E2E4-4688-859E-1647B54D7BD2}"/>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An allowlist limits capabilities regardless of how a prompt is phrased.</a:t>
            </a:r>
          </a:p>
        </p:txBody>
      </p:sp>
      <p:cxnSp>
        <p:nvCxnSpPr>
          <p:cNvPr id="19"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ABD542D5-F22C-48E2-986A-F72B3DB4B31F}"/>
              </a:ext>
            </a:extLst>
          </p:cNvPr>
          <p:cNvSpPr>
            <a:spLocks xmlns:a="http://schemas.openxmlformats.org/drawingml/2006/main" noGrp="1"/>
          </p:cNvSpPr>
          <p:nvPr/>
        </p:nvSpPr>
        <p:spPr>
          <a:xfrm xmlns:a="http://schemas.openxmlformats.org/drawingml/2006/main">
            <a:off x="742950" y="21526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77C77294-7082-4259-B140-0477CD37023A}"/>
              </a:ext>
            </a:extLst>
          </p:cNvPr>
          <p:cNvSpPr>
            <a:spLocks xmlns:a="http://schemas.openxmlformats.org/drawingml/2006/main" noGrp="1"/>
          </p:cNvSpPr>
          <p:nvPr/>
        </p:nvSpPr>
        <p:spPr>
          <a:xfrm xmlns:a="http://schemas.openxmlformats.org/drawingml/2006/main">
            <a:off x="1562100" y="21145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get_platform_health</a:t>
            </a:r>
          </a:p>
        </p:txBody>
      </p:sp>
      <p:sp>
        <p:nvSpPr>
          <p:cNvPr id="6" name="">
            <a:extLst xmlns:a="http://schemas.openxmlformats.org/drawingml/2006/main">
              <a:ext uri="{FF2B5EF4-FFF2-40B4-BE49-F238E27FC236}">
                <a16:creationId xmlns:a16="http://schemas.microsoft.com/office/drawing/2014/main" id="{1E0F26B0-4B17-4CB4-9B9D-9524677B293C}"/>
              </a:ext>
            </a:extLst>
          </p:cNvPr>
          <p:cNvSpPr>
            <a:spLocks xmlns:a="http://schemas.openxmlformats.org/drawingml/2006/main" noGrp="1"/>
          </p:cNvSpPr>
          <p:nvPr/>
        </p:nvSpPr>
        <p:spPr>
          <a:xfrm xmlns:a="http://schemas.openxmlformats.org/drawingml/2006/main">
            <a:off x="6572250" y="21526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Evaluates the health of ok-infra-local.</a:t>
            </a:r>
          </a:p>
        </p:txBody>
      </p:sp>
      <p:cxnSp>
        <p:nvCxnSpPr>
          <p:cNvPr id="23" name=""/>
          <p:cNvCxnSpPr/>
          <p:nvPr/>
        </p:nvCxnSpPr>
        <p:spPr>
          <a:xfrm xmlns:a="http://schemas.openxmlformats.org/drawingml/2006/main">
            <a:off x="742950" y="2876550"/>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ECE52E56-DC6A-49AB-81BE-469DB7A70256}"/>
              </a:ext>
            </a:extLst>
          </p:cNvPr>
          <p:cNvSpPr>
            <a:spLocks xmlns:a="http://schemas.openxmlformats.org/drawingml/2006/main" noGrp="1"/>
          </p:cNvSpPr>
          <p:nvPr/>
        </p:nvSpPr>
        <p:spPr>
          <a:xfrm xmlns:a="http://schemas.openxmlformats.org/drawingml/2006/main">
            <a:off x="742950" y="331470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977C342B-0074-4E29-95C9-B6D3635BB200}"/>
              </a:ext>
            </a:extLst>
          </p:cNvPr>
          <p:cNvSpPr>
            <a:spLocks xmlns:a="http://schemas.openxmlformats.org/drawingml/2006/main" noGrp="1"/>
          </p:cNvSpPr>
          <p:nvPr/>
        </p:nvSpPr>
        <p:spPr>
          <a:xfrm xmlns:a="http://schemas.openxmlformats.org/drawingml/2006/main">
            <a:off x="1562100" y="3276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investigate_workload</a:t>
            </a:r>
          </a:p>
        </p:txBody>
      </p:sp>
      <p:sp>
        <p:nvSpPr>
          <p:cNvPr id="10" name="">
            <a:extLst xmlns:a="http://schemas.openxmlformats.org/drawingml/2006/main">
              <a:ext uri="{FF2B5EF4-FFF2-40B4-BE49-F238E27FC236}">
                <a16:creationId xmlns:a16="http://schemas.microsoft.com/office/drawing/2014/main" id="{4EA137B4-C4E1-4D38-91A7-4587CE46F2BB}"/>
              </a:ext>
            </a:extLst>
          </p:cNvPr>
          <p:cNvSpPr>
            <a:spLocks xmlns:a="http://schemas.openxmlformats.org/drawingml/2006/main" noGrp="1"/>
          </p:cNvSpPr>
          <p:nvPr/>
        </p:nvSpPr>
        <p:spPr>
          <a:xfrm xmlns:a="http://schemas.openxmlformats.org/drawingml/2006/main">
            <a:off x="6572250" y="331470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Investigates healthy, imagepull, or crashloop.</a:t>
            </a:r>
          </a:p>
        </p:txBody>
      </p:sp>
      <p:cxnSp>
        <p:nvCxnSpPr>
          <p:cNvPr id="27" name=""/>
          <p:cNvCxnSpPr/>
          <p:nvPr/>
        </p:nvCxnSpPr>
        <p:spPr>
          <a:xfrm xmlns:a="http://schemas.openxmlformats.org/drawingml/2006/main">
            <a:off x="742950" y="4038600"/>
            <a:ext cx="103822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224B242F-9C85-44BE-9E3F-E0BBC7886422}"/>
              </a:ext>
            </a:extLst>
          </p:cNvPr>
          <p:cNvSpPr>
            <a:spLocks xmlns:a="http://schemas.openxmlformats.org/drawingml/2006/main" noGrp="1"/>
          </p:cNvSpPr>
          <p:nvPr/>
        </p:nvSpPr>
        <p:spPr>
          <a:xfrm xmlns:a="http://schemas.openxmlformats.org/drawingml/2006/main">
            <a:off x="742950" y="447675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07AB3045-F9A8-41B4-8E1A-A3A71675AEC4}"/>
              </a:ext>
            </a:extLst>
          </p:cNvPr>
          <p:cNvSpPr>
            <a:spLocks xmlns:a="http://schemas.openxmlformats.org/drawingml/2006/main" noGrp="1"/>
          </p:cNvSpPr>
          <p:nvPr/>
        </p:nvSpPr>
        <p:spPr>
          <a:xfrm xmlns:a="http://schemas.openxmlformats.org/drawingml/2006/main">
            <a:off x="1562100" y="44386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collect_diagnostic_evidence</a:t>
            </a:r>
          </a:p>
        </p:txBody>
      </p:sp>
      <p:sp>
        <p:nvSpPr>
          <p:cNvPr id="14" name="">
            <a:extLst xmlns:a="http://schemas.openxmlformats.org/drawingml/2006/main">
              <a:ext uri="{FF2B5EF4-FFF2-40B4-BE49-F238E27FC236}">
                <a16:creationId xmlns:a16="http://schemas.microsoft.com/office/drawing/2014/main" id="{A90DCF06-6E06-4424-8D36-9428FFE1B815}"/>
              </a:ext>
            </a:extLst>
          </p:cNvPr>
          <p:cNvSpPr>
            <a:spLocks xmlns:a="http://schemas.openxmlformats.org/drawingml/2006/main" noGrp="1"/>
          </p:cNvSpPr>
          <p:nvPr/>
        </p:nvSpPr>
        <p:spPr>
          <a:xfrm xmlns:a="http://schemas.openxmlformats.org/drawingml/2006/main">
            <a:off x="6572250" y="4476750"/>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Helvetica Neue"/>
                <a:ea typeface="Helvetica Neue"/>
                <a:cs typeface="Helvetica Neue"/>
              </a:defRPr>
            </a:pPr>
            <a:r>
              <a:rPr sz="1500" b="0">
                <a:solidFill>
                  <a:srgbClr val="5D6570"/>
                </a:solidFill>
                <a:latin typeface="Helvetica Neue"/>
                <a:ea typeface="Helvetica Neue"/>
                <a:cs typeface="Helvetica Neue"/>
              </a:rPr>
              <a:t>Collects traceable diagnostic evidence.</a:t>
            </a:r>
          </a:p>
        </p:txBody>
      </p:sp>
      <p:sp>
        <p:nvSpPr>
          <p:cNvPr id="15" name="">
            <a:extLst xmlns:a="http://schemas.openxmlformats.org/drawingml/2006/main">
              <a:ext uri="{FF2B5EF4-FFF2-40B4-BE49-F238E27FC236}">
                <a16:creationId xmlns:a16="http://schemas.microsoft.com/office/drawing/2014/main" id="{3DAE5B18-2B62-44E3-9205-3FB22EB7AC9A}"/>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MCP SURFACE</a:t>
            </a:r>
          </a:p>
        </p:txBody>
      </p:sp>
      <p:sp>
        <p:nvSpPr>
          <p:cNvPr id="16" name="">
            <a:extLst xmlns:a="http://schemas.openxmlformats.org/drawingml/2006/main">
              <a:ext uri="{FF2B5EF4-FFF2-40B4-BE49-F238E27FC236}">
                <a16:creationId xmlns:a16="http://schemas.microsoft.com/office/drawing/2014/main" id="{BD665BA8-02F9-4071-ACFA-44B812DFC558}"/>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12</a:t>
            </a:r>
          </a:p>
        </p:txBody>
      </p:sp>
    </p:spTree>
    <p:extLst>
      <p:ext uri="{BB962C8B-B14F-4D97-AF65-F5344CB8AC3E}">
        <p14:creationId xmlns:p14="http://schemas.microsoft.com/office/powerpoint/2010/main" val="5070750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A99ED71A-8B70-4A13-861E-3C4E6C6F8AC7}"/>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The hard security boundary is the tool server</a:t>
            </a:r>
          </a:p>
        </p:txBody>
      </p:sp>
      <p:sp>
        <p:nvSpPr>
          <p:cNvPr id="2" name="">
            <a:extLst xmlns:a="http://schemas.openxmlformats.org/drawingml/2006/main">
              <a:ext uri="{FF2B5EF4-FFF2-40B4-BE49-F238E27FC236}">
                <a16:creationId xmlns:a16="http://schemas.microsoft.com/office/drawing/2014/main" id="{B846DB61-10B8-4252-9680-7D91BE94EAEB}"/>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Prompts explain behavior — RBAC and token mounts enforce it.</a:t>
            </a:r>
          </a:p>
        </p:txBody>
      </p:sp>
      <p:cxnSp>
        <p:nvCxnSpPr>
          <p:cNvPr id="29"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C4E2A2D2-47FC-4A45-919B-6948A7C4FB68}"/>
              </a:ext>
            </a:extLst>
          </p:cNvPr>
          <p:cNvSpPr>
            <a:spLocks xmlns:a="http://schemas.openxmlformats.org/drawingml/2006/main" noGrp="1"/>
          </p:cNvSpPr>
          <p:nvPr/>
        </p:nvSpPr>
        <p:spPr>
          <a:xfrm xmlns:a="http://schemas.openxmlformats.org/drawingml/2006/main">
            <a:off x="628650" y="2152650"/>
            <a:ext cx="5219700" cy="3371850"/>
          </a:xfrm>
          <a:prstGeom xmlns:a="http://schemas.openxmlformats.org/drawingml/2006/main" prst="roundRect">
            <a:avLst>
              <a:gd name="adj" fmla="val 2260"/>
            </a:avLst>
          </a:prstGeom>
          <a:solidFill xmlns:a="http://schemas.openxmlformats.org/drawingml/2006/main">
            <a:srgbClr val="F6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7CA690D1-928B-429D-B613-15B213F3CD4C}"/>
              </a:ext>
            </a:extLst>
          </p:cNvPr>
          <p:cNvSpPr>
            <a:spLocks xmlns:a="http://schemas.openxmlformats.org/drawingml/2006/main" noGrp="1"/>
          </p:cNvSpPr>
          <p:nvPr/>
        </p:nvSpPr>
        <p:spPr>
          <a:xfrm xmlns:a="http://schemas.openxmlformats.org/drawingml/2006/main">
            <a:off x="933450" y="24765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Without Kubernetes access</a:t>
            </a:r>
          </a:p>
        </p:txBody>
      </p:sp>
      <p:sp>
        <p:nvSpPr>
          <p:cNvPr id="6" name="">
            <a:extLst xmlns:a="http://schemas.openxmlformats.org/drawingml/2006/main">
              <a:ext uri="{FF2B5EF4-FFF2-40B4-BE49-F238E27FC236}">
                <a16:creationId xmlns:a16="http://schemas.microsoft.com/office/drawing/2014/main" id="{24F61941-373C-4B22-8C53-573D77F71BA4}"/>
              </a:ext>
            </a:extLst>
          </p:cNvPr>
          <p:cNvSpPr>
            <a:spLocks xmlns:a="http://schemas.openxmlformats.org/drawingml/2006/main" noGrp="1"/>
          </p:cNvSpPr>
          <p:nvPr/>
        </p:nvSpPr>
        <p:spPr>
          <a:xfrm xmlns:a="http://schemas.openxmlformats.org/drawingml/2006/main">
            <a:off x="933450" y="31813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108E1F65-742A-40C9-8B0C-B459B0876741}"/>
              </a:ext>
            </a:extLst>
          </p:cNvPr>
          <p:cNvSpPr>
            <a:spLocks xmlns:a="http://schemas.openxmlformats.org/drawingml/2006/main" noGrp="1"/>
          </p:cNvSpPr>
          <p:nvPr/>
        </p:nvSpPr>
        <p:spPr>
          <a:xfrm xmlns:a="http://schemas.openxmlformats.org/drawingml/2006/main">
            <a:off x="1238250" y="318135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Open WebUI</a:t>
            </a:r>
          </a:p>
        </p:txBody>
      </p:sp>
      <p:sp>
        <p:nvSpPr>
          <p:cNvPr id="8" name="">
            <a:extLst xmlns:a="http://schemas.openxmlformats.org/drawingml/2006/main">
              <a:ext uri="{FF2B5EF4-FFF2-40B4-BE49-F238E27FC236}">
                <a16:creationId xmlns:a16="http://schemas.microsoft.com/office/drawing/2014/main" id="{15ADB773-841D-405A-B790-BD4AD9A5314A}"/>
              </a:ext>
            </a:extLst>
          </p:cNvPr>
          <p:cNvSpPr>
            <a:spLocks xmlns:a="http://schemas.openxmlformats.org/drawingml/2006/main" noGrp="1"/>
          </p:cNvSpPr>
          <p:nvPr/>
        </p:nvSpPr>
        <p:spPr>
          <a:xfrm xmlns:a="http://schemas.openxmlformats.org/drawingml/2006/main">
            <a:off x="933450" y="36576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8B584086-4C91-4B3A-A628-31C8E8E8F6B5}"/>
              </a:ext>
            </a:extLst>
          </p:cNvPr>
          <p:cNvSpPr>
            <a:spLocks xmlns:a="http://schemas.openxmlformats.org/drawingml/2006/main" noGrp="1"/>
          </p:cNvSpPr>
          <p:nvPr/>
        </p:nvSpPr>
        <p:spPr>
          <a:xfrm xmlns:a="http://schemas.openxmlformats.org/drawingml/2006/main">
            <a:off x="1238250" y="365760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OpenClaw</a:t>
            </a:r>
          </a:p>
        </p:txBody>
      </p:sp>
      <p:sp>
        <p:nvSpPr>
          <p:cNvPr id="10" name="">
            <a:extLst xmlns:a="http://schemas.openxmlformats.org/drawingml/2006/main">
              <a:ext uri="{FF2B5EF4-FFF2-40B4-BE49-F238E27FC236}">
                <a16:creationId xmlns:a16="http://schemas.microsoft.com/office/drawing/2014/main" id="{9770310D-50DF-4E4F-99D7-BFB89E5B16C0}"/>
              </a:ext>
            </a:extLst>
          </p:cNvPr>
          <p:cNvSpPr>
            <a:spLocks xmlns:a="http://schemas.openxmlformats.org/drawingml/2006/main" noGrp="1"/>
          </p:cNvSpPr>
          <p:nvPr/>
        </p:nvSpPr>
        <p:spPr>
          <a:xfrm xmlns:a="http://schemas.openxmlformats.org/drawingml/2006/main">
            <a:off x="933450" y="41338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70686146-7C17-4EC1-8946-03B121A63C7A}"/>
              </a:ext>
            </a:extLst>
          </p:cNvPr>
          <p:cNvSpPr>
            <a:spLocks xmlns:a="http://schemas.openxmlformats.org/drawingml/2006/main" noGrp="1"/>
          </p:cNvSpPr>
          <p:nvPr/>
        </p:nvSpPr>
        <p:spPr>
          <a:xfrm xmlns:a="http://schemas.openxmlformats.org/drawingml/2006/main">
            <a:off x="1238250" y="413385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MCP adapter and facade</a:t>
            </a:r>
          </a:p>
        </p:txBody>
      </p:sp>
      <p:sp>
        <p:nvSpPr>
          <p:cNvPr id="12" name="">
            <a:extLst xmlns:a="http://schemas.openxmlformats.org/drawingml/2006/main">
              <a:ext uri="{FF2B5EF4-FFF2-40B4-BE49-F238E27FC236}">
                <a16:creationId xmlns:a16="http://schemas.microsoft.com/office/drawing/2014/main" id="{69D3D269-46B0-45B6-8815-3470EBF65633}"/>
              </a:ext>
            </a:extLst>
          </p:cNvPr>
          <p:cNvSpPr>
            <a:spLocks xmlns:a="http://schemas.openxmlformats.org/drawingml/2006/main" noGrp="1"/>
          </p:cNvSpPr>
          <p:nvPr/>
        </p:nvSpPr>
        <p:spPr>
          <a:xfrm xmlns:a="http://schemas.openxmlformats.org/drawingml/2006/main">
            <a:off x="933450" y="46101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C74444"/>
                </a:solidFill>
                <a:latin typeface="Helvetica Neue"/>
                <a:ea typeface="Helvetica Neue"/>
                <a:cs typeface="Helvetica Neue"/>
              </a:defRPr>
            </a:pPr>
            <a:r>
              <a:rPr sz="1500" b="1">
                <a:solidFill>
                  <a:srgbClr val="C74444"/>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01D5C89B-ED30-4FB6-B01C-6365BB9BB999}"/>
              </a:ext>
            </a:extLst>
          </p:cNvPr>
          <p:cNvSpPr>
            <a:spLocks xmlns:a="http://schemas.openxmlformats.org/drawingml/2006/main" noGrp="1"/>
          </p:cNvSpPr>
          <p:nvPr/>
        </p:nvSpPr>
        <p:spPr>
          <a:xfrm xmlns:a="http://schemas.openxmlformats.org/drawingml/2006/main">
            <a:off x="1238250" y="4610100"/>
            <a:ext cx="3981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Four kagent agents</a:t>
            </a:r>
          </a:p>
        </p:txBody>
      </p:sp>
      <p:sp>
        <p:nvSpPr>
          <p:cNvPr id="14" name="">
            <a:extLst xmlns:a="http://schemas.openxmlformats.org/drawingml/2006/main">
              <a:ext uri="{FF2B5EF4-FFF2-40B4-BE49-F238E27FC236}">
                <a16:creationId xmlns:a16="http://schemas.microsoft.com/office/drawing/2014/main" id="{CC3D0202-A318-46F8-BE28-ABF78D5E9FDB}"/>
              </a:ext>
            </a:extLst>
          </p:cNvPr>
          <p:cNvSpPr>
            <a:spLocks xmlns:a="http://schemas.openxmlformats.org/drawingml/2006/main" noGrp="1"/>
          </p:cNvSpPr>
          <p:nvPr/>
        </p:nvSpPr>
        <p:spPr>
          <a:xfrm xmlns:a="http://schemas.openxmlformats.org/drawingml/2006/main">
            <a:off x="6343650" y="2152650"/>
            <a:ext cx="5219700" cy="3371850"/>
          </a:xfrm>
          <a:prstGeom xmlns:a="http://schemas.openxmlformats.org/drawingml/2006/main" prst="roundRect">
            <a:avLst>
              <a:gd name="adj" fmla="val 2260"/>
            </a:avLst>
          </a:prstGeom>
          <a:solidFill xmlns:a="http://schemas.openxmlformats.org/drawingml/2006/main">
            <a:srgbClr val="EEF7FD"/>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40B89D6F-B2A7-48AE-92C6-D618103E90C8}"/>
              </a:ext>
            </a:extLst>
          </p:cNvPr>
          <p:cNvSpPr>
            <a:spLocks xmlns:a="http://schemas.openxmlformats.org/drawingml/2006/main" noGrp="1"/>
          </p:cNvSpPr>
          <p:nvPr/>
        </p:nvSpPr>
        <p:spPr>
          <a:xfrm xmlns:a="http://schemas.openxmlformats.org/drawingml/2006/main">
            <a:off x="6648450" y="24765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With limited access</a:t>
            </a:r>
          </a:p>
        </p:txBody>
      </p:sp>
      <p:sp>
        <p:nvSpPr>
          <p:cNvPr id="16" name="">
            <a:extLst xmlns:a="http://schemas.openxmlformats.org/drawingml/2006/main">
              <a:ext uri="{FF2B5EF4-FFF2-40B4-BE49-F238E27FC236}">
                <a16:creationId xmlns:a16="http://schemas.microsoft.com/office/drawing/2014/main" id="{D39F8F2C-B055-426F-84F3-8F5A6AAA7AED}"/>
              </a:ext>
            </a:extLst>
          </p:cNvPr>
          <p:cNvSpPr>
            <a:spLocks xmlns:a="http://schemas.openxmlformats.org/drawingml/2006/main" noGrp="1"/>
          </p:cNvSpPr>
          <p:nvPr/>
        </p:nvSpPr>
        <p:spPr>
          <a:xfrm xmlns:a="http://schemas.openxmlformats.org/drawingml/2006/main">
            <a:off x="6648450" y="31813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platform-diagnostics-tools</a:t>
            </a:r>
          </a:p>
        </p:txBody>
      </p:sp>
      <p:sp>
        <p:nvSpPr>
          <p:cNvPr id="17" name="">
            <a:extLst xmlns:a="http://schemas.openxmlformats.org/drawingml/2006/main">
              <a:ext uri="{FF2B5EF4-FFF2-40B4-BE49-F238E27FC236}">
                <a16:creationId xmlns:a16="http://schemas.microsoft.com/office/drawing/2014/main" id="{1F8A9CAF-1D90-4809-BB29-C83F7B8778CA}"/>
              </a:ext>
            </a:extLst>
          </p:cNvPr>
          <p:cNvSpPr>
            <a:spLocks xmlns:a="http://schemas.openxmlformats.org/drawingml/2006/main" noGrp="1"/>
          </p:cNvSpPr>
          <p:nvPr/>
        </p:nvSpPr>
        <p:spPr>
          <a:xfrm xmlns:a="http://schemas.openxmlformats.org/drawingml/2006/main">
            <a:off x="6648450" y="37528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D3EAD0BA-204E-492B-8BEB-C0BD1C18FF0C}"/>
              </a:ext>
            </a:extLst>
          </p:cNvPr>
          <p:cNvSpPr>
            <a:spLocks xmlns:a="http://schemas.openxmlformats.org/drawingml/2006/main" noGrp="1"/>
          </p:cNvSpPr>
          <p:nvPr/>
        </p:nvSpPr>
        <p:spPr>
          <a:xfrm xmlns:a="http://schemas.openxmlformats.org/drawingml/2006/main">
            <a:off x="6953250" y="3752850"/>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get, list, watch</a:t>
            </a:r>
          </a:p>
        </p:txBody>
      </p:sp>
      <p:sp>
        <p:nvSpPr>
          <p:cNvPr id="19" name="">
            <a:extLst xmlns:a="http://schemas.openxmlformats.org/drawingml/2006/main">
              <a:ext uri="{FF2B5EF4-FFF2-40B4-BE49-F238E27FC236}">
                <a16:creationId xmlns:a16="http://schemas.microsoft.com/office/drawing/2014/main" id="{40C0C72B-1F81-4EC6-A23C-A940FD48FA28}"/>
              </a:ext>
            </a:extLst>
          </p:cNvPr>
          <p:cNvSpPr>
            <a:spLocks xmlns:a="http://schemas.openxmlformats.org/drawingml/2006/main" noGrp="1"/>
          </p:cNvSpPr>
          <p:nvPr/>
        </p:nvSpPr>
        <p:spPr>
          <a:xfrm xmlns:a="http://schemas.openxmlformats.org/drawingml/2006/main">
            <a:off x="6648450" y="41624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D66CE4D0-E6F9-4E07-AF6C-2414B31267EB}"/>
              </a:ext>
            </a:extLst>
          </p:cNvPr>
          <p:cNvSpPr>
            <a:spLocks xmlns:a="http://schemas.openxmlformats.org/drawingml/2006/main" noGrp="1"/>
          </p:cNvSpPr>
          <p:nvPr/>
        </p:nvSpPr>
        <p:spPr>
          <a:xfrm xmlns:a="http://schemas.openxmlformats.org/drawingml/2006/main">
            <a:off x="6953250" y="4162425"/>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No secrets</a:t>
            </a:r>
          </a:p>
        </p:txBody>
      </p:sp>
      <p:sp>
        <p:nvSpPr>
          <p:cNvPr id="21" name="">
            <a:extLst xmlns:a="http://schemas.openxmlformats.org/drawingml/2006/main">
              <a:ext uri="{FF2B5EF4-FFF2-40B4-BE49-F238E27FC236}">
                <a16:creationId xmlns:a16="http://schemas.microsoft.com/office/drawing/2014/main" id="{663C03F5-666D-491B-B463-518D0B61CEFC}"/>
              </a:ext>
            </a:extLst>
          </p:cNvPr>
          <p:cNvSpPr>
            <a:spLocks xmlns:a="http://schemas.openxmlformats.org/drawingml/2006/main" noGrp="1"/>
          </p:cNvSpPr>
          <p:nvPr/>
        </p:nvSpPr>
        <p:spPr>
          <a:xfrm xmlns:a="http://schemas.openxmlformats.org/drawingml/2006/main">
            <a:off x="6648450" y="4572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D3E66559-8A80-4C8B-BF8F-2EED6D148F71}"/>
              </a:ext>
            </a:extLst>
          </p:cNvPr>
          <p:cNvSpPr>
            <a:spLocks xmlns:a="http://schemas.openxmlformats.org/drawingml/2006/main" noGrp="1"/>
          </p:cNvSpPr>
          <p:nvPr/>
        </p:nvSpPr>
        <p:spPr>
          <a:xfrm xmlns:a="http://schemas.openxmlformats.org/drawingml/2006/main">
            <a:off x="6953250" y="4572000"/>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No writes</a:t>
            </a:r>
          </a:p>
        </p:txBody>
      </p:sp>
      <p:sp>
        <p:nvSpPr>
          <p:cNvPr id="23" name="">
            <a:extLst xmlns:a="http://schemas.openxmlformats.org/drawingml/2006/main">
              <a:ext uri="{FF2B5EF4-FFF2-40B4-BE49-F238E27FC236}">
                <a16:creationId xmlns:a16="http://schemas.microsoft.com/office/drawing/2014/main" id="{875586D4-C126-4573-883C-29EDA80404F3}"/>
              </a:ext>
            </a:extLst>
          </p:cNvPr>
          <p:cNvSpPr>
            <a:spLocks xmlns:a="http://schemas.openxmlformats.org/drawingml/2006/main" noGrp="1"/>
          </p:cNvSpPr>
          <p:nvPr/>
        </p:nvSpPr>
        <p:spPr>
          <a:xfrm xmlns:a="http://schemas.openxmlformats.org/drawingml/2006/main">
            <a:off x="6648450" y="49815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6845B"/>
                </a:solidFill>
                <a:latin typeface="Helvetica Neue"/>
                <a:ea typeface="Helvetica Neue"/>
                <a:cs typeface="Helvetica Neue"/>
              </a:defRPr>
            </a:pPr>
            <a:r>
              <a:rPr sz="1500" b="1">
                <a:solidFill>
                  <a:srgbClr val="16845B"/>
                </a:solidFill>
                <a:latin typeface="Helvetica Neue"/>
                <a:ea typeface="Helvetica Neue"/>
                <a:cs typeface="Helvetica Neue"/>
              </a:rPr>
              <a:t>•</a:t>
            </a:r>
          </a:p>
        </p:txBody>
      </p:sp>
      <p:sp>
        <p:nvSpPr>
          <p:cNvPr id="24" name="">
            <a:extLst xmlns:a="http://schemas.openxmlformats.org/drawingml/2006/main">
              <a:ext uri="{FF2B5EF4-FFF2-40B4-BE49-F238E27FC236}">
                <a16:creationId xmlns:a16="http://schemas.microsoft.com/office/drawing/2014/main" id="{BB8E3BF9-C31D-45C7-BAD9-E93B4A5112D8}"/>
              </a:ext>
            </a:extLst>
          </p:cNvPr>
          <p:cNvSpPr>
            <a:spLocks xmlns:a="http://schemas.openxmlformats.org/drawingml/2006/main" noGrp="1"/>
          </p:cNvSpPr>
          <p:nvPr/>
        </p:nvSpPr>
        <p:spPr>
          <a:xfrm xmlns:a="http://schemas.openxmlformats.org/drawingml/2006/main">
            <a:off x="6953250" y="4981575"/>
            <a:ext cx="3981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No wildcards</a:t>
            </a:r>
          </a:p>
        </p:txBody>
      </p:sp>
      <p:sp>
        <p:nvSpPr>
          <p:cNvPr id="25" name="">
            <a:extLst xmlns:a="http://schemas.openxmlformats.org/drawingml/2006/main">
              <a:ext uri="{FF2B5EF4-FFF2-40B4-BE49-F238E27FC236}">
                <a16:creationId xmlns:a16="http://schemas.microsoft.com/office/drawing/2014/main" id="{C335E986-AC57-46D6-A7DD-CE061BD32D9F}"/>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SECURITY BY DESIGN</a:t>
            </a:r>
          </a:p>
        </p:txBody>
      </p:sp>
      <p:sp>
        <p:nvSpPr>
          <p:cNvPr id="26" name="">
            <a:extLst xmlns:a="http://schemas.openxmlformats.org/drawingml/2006/main">
              <a:ext uri="{FF2B5EF4-FFF2-40B4-BE49-F238E27FC236}">
                <a16:creationId xmlns:a16="http://schemas.microsoft.com/office/drawing/2014/main" id="{79C572A8-E966-4D52-A67D-9287718D8601}"/>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13</a:t>
            </a:r>
          </a:p>
        </p:txBody>
      </p:sp>
    </p:spTree>
    <p:extLst>
      <p:ext uri="{BB962C8B-B14F-4D97-AF65-F5344CB8AC3E}">
        <p14:creationId xmlns:p14="http://schemas.microsoft.com/office/powerpoint/2010/main" val="71117622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141D8E63-6B38-4F70-8C1F-799EC9765CB0}"/>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One command installs and tests the OpenClaw integration</a:t>
            </a:r>
          </a:p>
        </p:txBody>
      </p:sp>
      <p:sp>
        <p:nvSpPr>
          <p:cNvPr id="2" name="">
            <a:extLst xmlns:a="http://schemas.openxmlformats.org/drawingml/2006/main">
              <a:ext uri="{FF2B5EF4-FFF2-40B4-BE49-F238E27FC236}">
                <a16:creationId xmlns:a16="http://schemas.microsoft.com/office/drawing/2014/main" id="{75FFA0E6-AA97-46C5-A4E2-A06A90D3A5D4}"/>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The install target finishes only after the authenticated E2E test.</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15EC79A4-DF84-4675-9646-64A118591D5F}"/>
              </a:ext>
            </a:extLst>
          </p:cNvPr>
          <p:cNvSpPr>
            <a:spLocks xmlns:a="http://schemas.openxmlformats.org/drawingml/2006/main" noGrp="1"/>
          </p:cNvSpPr>
          <p:nvPr/>
        </p:nvSpPr>
        <p:spPr>
          <a:xfrm xmlns:a="http://schemas.openxmlformats.org/drawingml/2006/main">
            <a:off x="666750" y="2190750"/>
            <a:ext cx="5619750" cy="2724150"/>
          </a:xfrm>
          <a:prstGeom xmlns:a="http://schemas.openxmlformats.org/drawingml/2006/main" prst="roundRect">
            <a:avLst>
              <a:gd name="adj" fmla="val 2797"/>
            </a:avLst>
          </a:prstGeom>
          <a:solidFill xmlns:a="http://schemas.openxmlformats.org/drawingml/2006/main">
            <a:srgbClr val="151A21"/>
          </a:solidFill>
          <a:ln xmlns:a="http://schemas.openxmlformats.org/drawingml/2006/main" w="0">
            <a:noFill/>
            <a:prstDash val="solid"/>
          </a:ln>
        </p:spPr>
      </p:sp>
      <p:sp>
        <p:nvSpPr>
          <p:cNvPr id="5" name="command">
            <a:extLst xmlns:a="http://schemas.openxmlformats.org/drawingml/2006/main">
              <a:ext uri="{FF2B5EF4-FFF2-40B4-BE49-F238E27FC236}">
                <a16:creationId xmlns:a16="http://schemas.microsoft.com/office/drawing/2014/main" id="{0AAFF9A4-E406-4C33-B8B9-BB4BA78CB54F}"/>
              </a:ext>
            </a:extLst>
          </p:cNvPr>
          <p:cNvSpPr>
            <a:spLocks xmlns:a="http://schemas.openxmlformats.org/drawingml/2006/main" noGrp="1"/>
          </p:cNvSpPr>
          <p:nvPr/>
        </p:nvSpPr>
        <p:spPr>
          <a:xfrm xmlns:a="http://schemas.openxmlformats.org/drawingml/2006/main">
            <a:off x="895350" y="2362200"/>
            <a:ext cx="51625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preflight</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install</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status</a:t>
            </a:r>
          </a:p>
          <a:p xmlns:a="http://schemas.openxmlformats.org/drawingml/2006/main">
            <a:pPr algn="l">
              <a:defRPr sz="1350" b="0">
                <a:solidFill>
                  <a:srgbClr val="F4F7FA"/>
                </a:solidFill>
                <a:latin typeface="Helvetica Neue"/>
                <a:ea typeface="Helvetica Neue"/>
                <a:cs typeface="Helvetica Neue"/>
              </a:defRPr>
            </a:pPr>
            <a:r>
              <a:rPr sz="1350" b="0">
                <a:solidFill>
                  <a:srgbClr val="F4F7FA"/>
                </a:solidFill>
                <a:latin typeface="Helvetica Neue"/>
                <a:ea typeface="Helvetica Neue"/>
                <a:cs typeface="Helvetica Neue"/>
              </a:rPr>
              <a:t>make -C openclaw verify</a:t>
            </a:r>
          </a:p>
        </p:txBody>
      </p:sp>
      <p:sp>
        <p:nvSpPr>
          <p:cNvPr id="6" name="">
            <a:extLst xmlns:a="http://schemas.openxmlformats.org/drawingml/2006/main">
              <a:ext uri="{FF2B5EF4-FFF2-40B4-BE49-F238E27FC236}">
                <a16:creationId xmlns:a16="http://schemas.microsoft.com/office/drawing/2014/main" id="{BEAC52A1-40EA-4D1E-9B3F-EDE9FDAE5BF1}"/>
              </a:ext>
            </a:extLst>
          </p:cNvPr>
          <p:cNvSpPr>
            <a:spLocks xmlns:a="http://schemas.openxmlformats.org/drawingml/2006/main" noGrp="1"/>
          </p:cNvSpPr>
          <p:nvPr/>
        </p:nvSpPr>
        <p:spPr>
          <a:xfrm xmlns:a="http://schemas.openxmlformats.org/drawingml/2006/main">
            <a:off x="6858000" y="21526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What install handles automatically</a:t>
            </a:r>
          </a:p>
        </p:txBody>
      </p:sp>
      <p:sp>
        <p:nvSpPr>
          <p:cNvPr id="7" name="">
            <a:extLst xmlns:a="http://schemas.openxmlformats.org/drawingml/2006/main">
              <a:ext uri="{FF2B5EF4-FFF2-40B4-BE49-F238E27FC236}">
                <a16:creationId xmlns:a16="http://schemas.microsoft.com/office/drawing/2014/main" id="{EAFB5389-8F2C-4DE7-BDE6-A8907FE2625F}"/>
              </a:ext>
            </a:extLst>
          </p:cNvPr>
          <p:cNvSpPr>
            <a:spLocks xmlns:a="http://schemas.openxmlformats.org/drawingml/2006/main" noGrp="1"/>
          </p:cNvSpPr>
          <p:nvPr/>
        </p:nvSpPr>
        <p:spPr>
          <a:xfrm xmlns:a="http://schemas.openxmlformats.org/drawingml/2006/main">
            <a:off x="6858000" y="28575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D6687096-CA09-4C12-9928-DD2937629E02}"/>
              </a:ext>
            </a:extLst>
          </p:cNvPr>
          <p:cNvSpPr>
            <a:spLocks xmlns:a="http://schemas.openxmlformats.org/drawingml/2006/main" noGrp="1"/>
          </p:cNvSpPr>
          <p:nvPr/>
        </p:nvSpPr>
        <p:spPr>
          <a:xfrm xmlns:a="http://schemas.openxmlformats.org/drawingml/2006/main">
            <a:off x="7162800" y="285750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Model and pinned sources</a:t>
            </a:r>
          </a:p>
        </p:txBody>
      </p:sp>
      <p:sp>
        <p:nvSpPr>
          <p:cNvPr id="9" name="">
            <a:extLst xmlns:a="http://schemas.openxmlformats.org/drawingml/2006/main">
              <a:ext uri="{FF2B5EF4-FFF2-40B4-BE49-F238E27FC236}">
                <a16:creationId xmlns:a16="http://schemas.microsoft.com/office/drawing/2014/main" id="{32672017-D155-4230-B131-09B064D1CD0D}"/>
              </a:ext>
            </a:extLst>
          </p:cNvPr>
          <p:cNvSpPr>
            <a:spLocks xmlns:a="http://schemas.openxmlformats.org/drawingml/2006/main" noGrp="1"/>
          </p:cNvSpPr>
          <p:nvPr/>
        </p:nvSpPr>
        <p:spPr>
          <a:xfrm xmlns:a="http://schemas.openxmlformats.org/drawingml/2006/main">
            <a:off x="6858000" y="3409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87889363-CD94-4CDF-B771-BF2AD108B8B1}"/>
              </a:ext>
            </a:extLst>
          </p:cNvPr>
          <p:cNvSpPr>
            <a:spLocks xmlns:a="http://schemas.openxmlformats.org/drawingml/2006/main" noGrp="1"/>
          </p:cNvSpPr>
          <p:nvPr/>
        </p:nvSpPr>
        <p:spPr>
          <a:xfrm xmlns:a="http://schemas.openxmlformats.org/drawingml/2006/main">
            <a:off x="7162800" y="340995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Tool server, agents, facade, adapter</a:t>
            </a:r>
          </a:p>
        </p:txBody>
      </p:sp>
      <p:sp>
        <p:nvSpPr>
          <p:cNvPr id="11" name="">
            <a:extLst xmlns:a="http://schemas.openxmlformats.org/drawingml/2006/main">
              <a:ext uri="{FF2B5EF4-FFF2-40B4-BE49-F238E27FC236}">
                <a16:creationId xmlns:a16="http://schemas.microsoft.com/office/drawing/2014/main" id="{32976F0B-C14F-42A1-BEEE-7B38488F80C7}"/>
              </a:ext>
            </a:extLst>
          </p:cNvPr>
          <p:cNvSpPr>
            <a:spLocks xmlns:a="http://schemas.openxmlformats.org/drawingml/2006/main" noGrp="1"/>
          </p:cNvSpPr>
          <p:nvPr/>
        </p:nvSpPr>
        <p:spPr>
          <a:xfrm xmlns:a="http://schemas.openxmlformats.org/drawingml/2006/main">
            <a:off x="6858000" y="39624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31E02A35-A000-4C3B-826D-A20126F6E14C}"/>
              </a:ext>
            </a:extLst>
          </p:cNvPr>
          <p:cNvSpPr>
            <a:spLocks xmlns:a="http://schemas.openxmlformats.org/drawingml/2006/main" noGrp="1"/>
          </p:cNvSpPr>
          <p:nvPr/>
        </p:nvSpPr>
        <p:spPr>
          <a:xfrm xmlns:a="http://schemas.openxmlformats.org/drawingml/2006/main">
            <a:off x="7162800" y="396240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OpenClaw + Open WebUI connection</a:t>
            </a:r>
          </a:p>
        </p:txBody>
      </p:sp>
      <p:sp>
        <p:nvSpPr>
          <p:cNvPr id="13" name="">
            <a:extLst xmlns:a="http://schemas.openxmlformats.org/drawingml/2006/main">
              <a:ext uri="{FF2B5EF4-FFF2-40B4-BE49-F238E27FC236}">
                <a16:creationId xmlns:a16="http://schemas.microsoft.com/office/drawing/2014/main" id="{99C7840A-EC49-4B0B-9367-163F4E878B2D}"/>
              </a:ext>
            </a:extLst>
          </p:cNvPr>
          <p:cNvSpPr>
            <a:spLocks xmlns:a="http://schemas.openxmlformats.org/drawingml/2006/main" noGrp="1"/>
          </p:cNvSpPr>
          <p:nvPr/>
        </p:nvSpPr>
        <p:spPr>
          <a:xfrm xmlns:a="http://schemas.openxmlformats.org/drawingml/2006/main">
            <a:off x="6858000" y="45148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AB41231B-241C-40DB-BC5A-E03AFD48210F}"/>
              </a:ext>
            </a:extLst>
          </p:cNvPr>
          <p:cNvSpPr>
            <a:spLocks xmlns:a="http://schemas.openxmlformats.org/drawingml/2006/main" noGrp="1"/>
          </p:cNvSpPr>
          <p:nvPr/>
        </p:nvSpPr>
        <p:spPr>
          <a:xfrm xmlns:a="http://schemas.openxmlformats.org/drawingml/2006/main">
            <a:off x="7162800" y="4514850"/>
            <a:ext cx="4076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Five complete acceptance scenarios</a:t>
            </a:r>
          </a:p>
        </p:txBody>
      </p:sp>
      <p:sp>
        <p:nvSpPr>
          <p:cNvPr id="15" name="">
            <a:extLst xmlns:a="http://schemas.openxmlformats.org/drawingml/2006/main">
              <a:ext uri="{FF2B5EF4-FFF2-40B4-BE49-F238E27FC236}">
                <a16:creationId xmlns:a16="http://schemas.microsoft.com/office/drawing/2014/main" id="{891EF3EF-2590-4C51-A196-C97C2844CD46}"/>
              </a:ext>
            </a:extLst>
          </p:cNvPr>
          <p:cNvSpPr>
            <a:spLocks xmlns:a="http://schemas.openxmlformats.org/drawingml/2006/main" noGrp="1"/>
          </p:cNvSpPr>
          <p:nvPr/>
        </p:nvSpPr>
        <p:spPr>
          <a:xfrm xmlns:a="http://schemas.openxmlformats.org/drawingml/2006/main">
            <a:off x="6858000" y="52197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C37800"/>
                </a:solidFill>
                <a:latin typeface="Helvetica Neue"/>
                <a:ea typeface="Helvetica Neue"/>
                <a:cs typeface="Helvetica Neue"/>
              </a:defRPr>
            </a:pPr>
            <a:r>
              <a:rPr sz="1425" b="1">
                <a:solidFill>
                  <a:srgbClr val="C37800"/>
                </a:solidFill>
                <a:latin typeface="Helvetica Neue"/>
                <a:ea typeface="Helvetica Neue"/>
                <a:cs typeface="Helvetica Neue"/>
              </a:rPr>
              <a:t>≈ 30–40 min on local CPU</a:t>
            </a:r>
          </a:p>
        </p:txBody>
      </p:sp>
      <p:sp>
        <p:nvSpPr>
          <p:cNvPr id="16" name="">
            <a:extLst xmlns:a="http://schemas.openxmlformats.org/drawingml/2006/main">
              <a:ext uri="{FF2B5EF4-FFF2-40B4-BE49-F238E27FC236}">
                <a16:creationId xmlns:a16="http://schemas.microsoft.com/office/drawing/2014/main" id="{F3752139-2FA7-4E46-A0DC-BF029D3ABC39}"/>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INSTALL OPENCLAW</a:t>
            </a:r>
          </a:p>
        </p:txBody>
      </p:sp>
      <p:sp>
        <p:nvSpPr>
          <p:cNvPr id="17" name="">
            <a:extLst xmlns:a="http://schemas.openxmlformats.org/drawingml/2006/main">
              <a:ext uri="{FF2B5EF4-FFF2-40B4-BE49-F238E27FC236}">
                <a16:creationId xmlns:a16="http://schemas.microsoft.com/office/drawing/2014/main" id="{03E4B54D-F7DB-4CAA-B03F-40CA2DF5C103}"/>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14</a:t>
            </a:r>
          </a:p>
        </p:txBody>
      </p:sp>
    </p:spTree>
    <p:extLst>
      <p:ext uri="{BB962C8B-B14F-4D97-AF65-F5344CB8AC3E}">
        <p14:creationId xmlns:p14="http://schemas.microsoft.com/office/powerpoint/2010/main" val="1244545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A2EB0B3C-827E-479E-A493-6F2561AEAF30}"/>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565"/>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Good questions name the cluster, namespace, and workload</a:t>
            </a:r>
          </a:p>
        </p:txBody>
      </p:sp>
      <p:sp>
        <p:nvSpPr>
          <p:cNvPr id="2" name="">
            <a:extLst xmlns:a="http://schemas.openxmlformats.org/drawingml/2006/main">
              <a:ext uri="{FF2B5EF4-FFF2-40B4-BE49-F238E27FC236}">
                <a16:creationId xmlns:a16="http://schemas.microsoft.com/office/drawing/2014/main" id="{EA0050CC-4558-48F7-8487-BFD9A15A0A23}"/>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Concrete arguments make diagnosis and evidence reproducible.</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CF236E92-A604-4D99-8D6F-E717EB9A25E1}"/>
              </a:ext>
            </a:extLst>
          </p:cNvPr>
          <p:cNvSpPr>
            <a:spLocks xmlns:a="http://schemas.openxmlformats.org/drawingml/2006/main" noGrp="1"/>
          </p:cNvSpPr>
          <p:nvPr/>
        </p:nvSpPr>
        <p:spPr>
          <a:xfrm xmlns:a="http://schemas.openxmlformats.org/drawingml/2006/main">
            <a:off x="685800" y="21526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Cluster</a:t>
            </a:r>
          </a:p>
        </p:txBody>
      </p:sp>
      <p:sp>
        <p:nvSpPr>
          <p:cNvPr id="5" name="">
            <a:extLst xmlns:a="http://schemas.openxmlformats.org/drawingml/2006/main">
              <a:ext uri="{FF2B5EF4-FFF2-40B4-BE49-F238E27FC236}">
                <a16:creationId xmlns:a16="http://schemas.microsoft.com/office/drawing/2014/main" id="{1FCDB0D5-6D4A-44A3-8B66-6E9557283391}"/>
              </a:ext>
            </a:extLst>
          </p:cNvPr>
          <p:cNvSpPr>
            <a:spLocks xmlns:a="http://schemas.openxmlformats.org/drawingml/2006/main" noGrp="1"/>
          </p:cNvSpPr>
          <p:nvPr/>
        </p:nvSpPr>
        <p:spPr>
          <a:xfrm xmlns:a="http://schemas.openxmlformats.org/drawingml/2006/main">
            <a:off x="2381250" y="203835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10506517-68D8-4FFD-8770-6DE749A84113}"/>
              </a:ext>
            </a:extLst>
          </p:cNvPr>
          <p:cNvSpPr>
            <a:spLocks xmlns:a="http://schemas.openxmlformats.org/drawingml/2006/main" noGrp="1"/>
          </p:cNvSpPr>
          <p:nvPr/>
        </p:nvSpPr>
        <p:spPr>
          <a:xfrm xmlns:a="http://schemas.openxmlformats.org/drawingml/2006/main">
            <a:off x="2609850" y="220027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Check the health of cluster ok-infra-local.</a:t>
            </a:r>
          </a:p>
        </p:txBody>
      </p:sp>
      <p:sp>
        <p:nvSpPr>
          <p:cNvPr id="7" name="">
            <a:extLst xmlns:a="http://schemas.openxmlformats.org/drawingml/2006/main">
              <a:ext uri="{FF2B5EF4-FFF2-40B4-BE49-F238E27FC236}">
                <a16:creationId xmlns:a16="http://schemas.microsoft.com/office/drawing/2014/main" id="{00C7CE21-D54D-4296-AFA6-C837402F4E7A}"/>
              </a:ext>
            </a:extLst>
          </p:cNvPr>
          <p:cNvSpPr>
            <a:spLocks xmlns:a="http://schemas.openxmlformats.org/drawingml/2006/main" noGrp="1"/>
          </p:cNvSpPr>
          <p:nvPr/>
        </p:nvSpPr>
        <p:spPr>
          <a:xfrm xmlns:a="http://schemas.openxmlformats.org/drawingml/2006/main">
            <a:off x="685800" y="3124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Healthy</a:t>
            </a:r>
          </a:p>
        </p:txBody>
      </p:sp>
      <p:sp>
        <p:nvSpPr>
          <p:cNvPr id="8" name="">
            <a:extLst xmlns:a="http://schemas.openxmlformats.org/drawingml/2006/main">
              <a:ext uri="{FF2B5EF4-FFF2-40B4-BE49-F238E27FC236}">
                <a16:creationId xmlns:a16="http://schemas.microsoft.com/office/drawing/2014/main" id="{E6553BF9-77DE-4452-A894-AB331E0155BB}"/>
              </a:ext>
            </a:extLst>
          </p:cNvPr>
          <p:cNvSpPr>
            <a:spLocks xmlns:a="http://schemas.openxmlformats.org/drawingml/2006/main" noGrp="1"/>
          </p:cNvSpPr>
          <p:nvPr/>
        </p:nvSpPr>
        <p:spPr>
          <a:xfrm xmlns:a="http://schemas.openxmlformats.org/drawingml/2006/main">
            <a:off x="2381250" y="300990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2B46AA12-0143-48AF-8AD4-F94B1FE8415F}"/>
              </a:ext>
            </a:extLst>
          </p:cNvPr>
          <p:cNvSpPr>
            <a:spLocks xmlns:a="http://schemas.openxmlformats.org/drawingml/2006/main" noGrp="1"/>
          </p:cNvSpPr>
          <p:nvPr/>
        </p:nvSpPr>
        <p:spPr>
          <a:xfrm xmlns:a="http://schemas.openxmlformats.org/drawingml/2006/main">
            <a:off x="2609850" y="317182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Investigate the healthy workload in namespace kagent-lab on cluster ok-infra-local.</a:t>
            </a:r>
          </a:p>
        </p:txBody>
      </p:sp>
      <p:sp>
        <p:nvSpPr>
          <p:cNvPr id="10" name="">
            <a:extLst xmlns:a="http://schemas.openxmlformats.org/drawingml/2006/main">
              <a:ext uri="{FF2B5EF4-FFF2-40B4-BE49-F238E27FC236}">
                <a16:creationId xmlns:a16="http://schemas.microsoft.com/office/drawing/2014/main" id="{678F8C39-D843-4974-8751-86B749939A4E}"/>
              </a:ext>
            </a:extLst>
          </p:cNvPr>
          <p:cNvSpPr>
            <a:spLocks xmlns:a="http://schemas.openxmlformats.org/drawingml/2006/main" noGrp="1"/>
          </p:cNvSpPr>
          <p:nvPr/>
        </p:nvSpPr>
        <p:spPr>
          <a:xfrm xmlns:a="http://schemas.openxmlformats.org/drawingml/2006/main">
            <a:off x="685800" y="40957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Image Pull</a:t>
            </a:r>
          </a:p>
        </p:txBody>
      </p:sp>
      <p:sp>
        <p:nvSpPr>
          <p:cNvPr id="11" name="">
            <a:extLst xmlns:a="http://schemas.openxmlformats.org/drawingml/2006/main">
              <a:ext uri="{FF2B5EF4-FFF2-40B4-BE49-F238E27FC236}">
                <a16:creationId xmlns:a16="http://schemas.microsoft.com/office/drawing/2014/main" id="{760F91D3-D35E-4340-9A30-CDE731759ABC}"/>
              </a:ext>
            </a:extLst>
          </p:cNvPr>
          <p:cNvSpPr>
            <a:spLocks xmlns:a="http://schemas.openxmlformats.org/drawingml/2006/main" noGrp="1"/>
          </p:cNvSpPr>
          <p:nvPr/>
        </p:nvSpPr>
        <p:spPr>
          <a:xfrm xmlns:a="http://schemas.openxmlformats.org/drawingml/2006/main">
            <a:off x="2381250" y="398145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F1921F33-9F04-41DD-8162-262FB432B7D4}"/>
              </a:ext>
            </a:extLst>
          </p:cNvPr>
          <p:cNvSpPr>
            <a:spLocks xmlns:a="http://schemas.openxmlformats.org/drawingml/2006/main" noGrp="1"/>
          </p:cNvSpPr>
          <p:nvPr/>
        </p:nvSpPr>
        <p:spPr>
          <a:xfrm xmlns:a="http://schemas.openxmlformats.org/drawingml/2006/main">
            <a:off x="2609850" y="414337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Why is the imagepull workload in namespace kagent-lab not starting?</a:t>
            </a:r>
          </a:p>
        </p:txBody>
      </p:sp>
      <p:sp>
        <p:nvSpPr>
          <p:cNvPr id="13" name="">
            <a:extLst xmlns:a="http://schemas.openxmlformats.org/drawingml/2006/main">
              <a:ext uri="{FF2B5EF4-FFF2-40B4-BE49-F238E27FC236}">
                <a16:creationId xmlns:a16="http://schemas.microsoft.com/office/drawing/2014/main" id="{AFC2BB12-C8D6-4BCB-B4CD-B52BD843E2B6}"/>
              </a:ext>
            </a:extLst>
          </p:cNvPr>
          <p:cNvSpPr>
            <a:spLocks xmlns:a="http://schemas.openxmlformats.org/drawingml/2006/main" noGrp="1"/>
          </p:cNvSpPr>
          <p:nvPr/>
        </p:nvSpPr>
        <p:spPr>
          <a:xfrm xmlns:a="http://schemas.openxmlformats.org/drawingml/2006/main">
            <a:off x="685800" y="50673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Crash Loop</a:t>
            </a:r>
          </a:p>
        </p:txBody>
      </p:sp>
      <p:sp>
        <p:nvSpPr>
          <p:cNvPr id="14" name="">
            <a:extLst xmlns:a="http://schemas.openxmlformats.org/drawingml/2006/main">
              <a:ext uri="{FF2B5EF4-FFF2-40B4-BE49-F238E27FC236}">
                <a16:creationId xmlns:a16="http://schemas.microsoft.com/office/drawing/2014/main" id="{E1782CB5-746C-4088-8121-94495FEDAE1D}"/>
              </a:ext>
            </a:extLst>
          </p:cNvPr>
          <p:cNvSpPr>
            <a:spLocks xmlns:a="http://schemas.openxmlformats.org/drawingml/2006/main" noGrp="1"/>
          </p:cNvSpPr>
          <p:nvPr/>
        </p:nvSpPr>
        <p:spPr>
          <a:xfrm xmlns:a="http://schemas.openxmlformats.org/drawingml/2006/main">
            <a:off x="2381250" y="4953000"/>
            <a:ext cx="9105900" cy="666750"/>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56B661D1-7E9F-4F4F-B4E5-2FC77EE23B98}"/>
              </a:ext>
            </a:extLst>
          </p:cNvPr>
          <p:cNvSpPr>
            <a:spLocks xmlns:a="http://schemas.openxmlformats.org/drawingml/2006/main" noGrp="1"/>
          </p:cNvSpPr>
          <p:nvPr/>
        </p:nvSpPr>
        <p:spPr>
          <a:xfrm xmlns:a="http://schemas.openxmlformats.org/drawingml/2006/main">
            <a:off x="2609850" y="5114925"/>
            <a:ext cx="864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Collect diagnostic evidence for crashloop in namespace kagent-lab on ok-infra-local.</a:t>
            </a:r>
          </a:p>
        </p:txBody>
      </p:sp>
      <p:sp>
        <p:nvSpPr>
          <p:cNvPr id="16" name="">
            <a:extLst xmlns:a="http://schemas.openxmlformats.org/drawingml/2006/main">
              <a:ext uri="{FF2B5EF4-FFF2-40B4-BE49-F238E27FC236}">
                <a16:creationId xmlns:a16="http://schemas.microsoft.com/office/drawing/2014/main" id="{74193A40-4715-459E-B06A-058945C62886}"/>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USE OPEN WEBUI</a:t>
            </a:r>
          </a:p>
        </p:txBody>
      </p:sp>
      <p:sp>
        <p:nvSpPr>
          <p:cNvPr id="17" name="">
            <a:extLst xmlns:a="http://schemas.openxmlformats.org/drawingml/2006/main">
              <a:ext uri="{FF2B5EF4-FFF2-40B4-BE49-F238E27FC236}">
                <a16:creationId xmlns:a16="http://schemas.microsoft.com/office/drawing/2014/main" id="{10CCF307-187C-46F7-82B5-5B09433CBF9B}"/>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15</a:t>
            </a:r>
          </a:p>
        </p:txBody>
      </p:sp>
    </p:spTree>
    <p:extLst>
      <p:ext uri="{BB962C8B-B14F-4D97-AF65-F5344CB8AC3E}">
        <p14:creationId xmlns:p14="http://schemas.microsoft.com/office/powerpoint/2010/main" val="2536855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6B6A4ECC-2519-4B48-A29E-6D612DA02EF5}"/>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All five E2E scenarios passed</a:t>
            </a:r>
          </a:p>
        </p:txBody>
      </p:sp>
      <p:sp>
        <p:nvSpPr>
          <p:cNvPr id="2" name="">
            <a:extLst xmlns:a="http://schemas.openxmlformats.org/drawingml/2006/main">
              <a:ext uri="{FF2B5EF4-FFF2-40B4-BE49-F238E27FC236}">
                <a16:creationId xmlns:a16="http://schemas.microsoft.com/office/drawing/2014/main" id="{C93FA960-C1F3-48D3-899F-086896E98C22}"/>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The local CPU makes complex incident analysis slow, but measurable and reproducible.</a:t>
            </a:r>
          </a:p>
        </p:txBody>
      </p:sp>
      <p:cxnSp>
        <p:nvCxnSpPr>
          <p:cNvPr id="3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21834309-D16C-4D33-82A1-60DD5B7D9EF5}"/>
              </a:ext>
            </a:extLst>
          </p:cNvPr>
          <p:cNvSpPr>
            <a:spLocks xmlns:a="http://schemas.openxmlformats.org/drawingml/2006/main" noGrp="1"/>
          </p:cNvSpPr>
          <p:nvPr/>
        </p:nvSpPr>
        <p:spPr>
          <a:xfrm xmlns:a="http://schemas.openxmlformats.org/drawingml/2006/main">
            <a:off x="685800" y="2143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Platform health</a:t>
            </a:r>
          </a:p>
        </p:txBody>
      </p:sp>
      <p:sp>
        <p:nvSpPr>
          <p:cNvPr id="5" name="">
            <a:extLst xmlns:a="http://schemas.openxmlformats.org/drawingml/2006/main">
              <a:ext uri="{FF2B5EF4-FFF2-40B4-BE49-F238E27FC236}">
                <a16:creationId xmlns:a16="http://schemas.microsoft.com/office/drawing/2014/main" id="{1E85B4A9-2794-43F8-8BD1-D6E7A81194E5}"/>
              </a:ext>
            </a:extLst>
          </p:cNvPr>
          <p:cNvSpPr>
            <a:spLocks xmlns:a="http://schemas.openxmlformats.org/drawingml/2006/main" noGrp="1"/>
          </p:cNvSpPr>
          <p:nvPr/>
        </p:nvSpPr>
        <p:spPr>
          <a:xfrm xmlns:a="http://schemas.openxmlformats.org/drawingml/2006/main">
            <a:off x="3143250" y="207645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6133AA-A183-4752-9281-19994BC01757}"/>
              </a:ext>
            </a:extLst>
          </p:cNvPr>
          <p:cNvSpPr>
            <a:spLocks xmlns:a="http://schemas.openxmlformats.org/drawingml/2006/main" noGrp="1"/>
          </p:cNvSpPr>
          <p:nvPr/>
        </p:nvSpPr>
        <p:spPr>
          <a:xfrm xmlns:a="http://schemas.openxmlformats.org/drawingml/2006/main">
            <a:off x="3143250" y="2076450"/>
            <a:ext cx="2115312" cy="361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4B255E7-03FB-48AA-BC08-7A6E05315E21}"/>
              </a:ext>
            </a:extLst>
          </p:cNvPr>
          <p:cNvSpPr>
            <a:spLocks xmlns:a="http://schemas.openxmlformats.org/drawingml/2006/main" noGrp="1"/>
          </p:cNvSpPr>
          <p:nvPr/>
        </p:nvSpPr>
        <p:spPr>
          <a:xfrm xmlns:a="http://schemas.openxmlformats.org/drawingml/2006/main">
            <a:off x="10572750" y="2143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277.6 s</a:t>
            </a:r>
          </a:p>
        </p:txBody>
      </p:sp>
      <p:sp>
        <p:nvSpPr>
          <p:cNvPr id="8" name="">
            <a:extLst xmlns:a="http://schemas.openxmlformats.org/drawingml/2006/main">
              <a:ext uri="{FF2B5EF4-FFF2-40B4-BE49-F238E27FC236}">
                <a16:creationId xmlns:a16="http://schemas.microsoft.com/office/drawing/2014/main" id="{4C7F986A-08A1-4998-B149-7D0C1B496F52}"/>
              </a:ext>
            </a:extLst>
          </p:cNvPr>
          <p:cNvSpPr>
            <a:spLocks xmlns:a="http://schemas.openxmlformats.org/drawingml/2006/main" noGrp="1"/>
          </p:cNvSpPr>
          <p:nvPr/>
        </p:nvSpPr>
        <p:spPr>
          <a:xfrm xmlns:a="http://schemas.openxmlformats.org/drawingml/2006/main">
            <a:off x="685800" y="29241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Healthy</a:t>
            </a:r>
          </a:p>
        </p:txBody>
      </p:sp>
      <p:sp>
        <p:nvSpPr>
          <p:cNvPr id="9" name="">
            <a:extLst xmlns:a="http://schemas.openxmlformats.org/drawingml/2006/main">
              <a:ext uri="{FF2B5EF4-FFF2-40B4-BE49-F238E27FC236}">
                <a16:creationId xmlns:a16="http://schemas.microsoft.com/office/drawing/2014/main" id="{66AE41B5-FB2C-4E6D-8E30-DBCD26AEAED3}"/>
              </a:ext>
            </a:extLst>
          </p:cNvPr>
          <p:cNvSpPr>
            <a:spLocks xmlns:a="http://schemas.openxmlformats.org/drawingml/2006/main" noGrp="1"/>
          </p:cNvSpPr>
          <p:nvPr/>
        </p:nvSpPr>
        <p:spPr>
          <a:xfrm xmlns:a="http://schemas.openxmlformats.org/drawingml/2006/main">
            <a:off x="3143250" y="285750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37BF35-38A7-439F-AB1A-EB2BA81B4069}"/>
              </a:ext>
            </a:extLst>
          </p:cNvPr>
          <p:cNvSpPr>
            <a:spLocks xmlns:a="http://schemas.openxmlformats.org/drawingml/2006/main" noGrp="1"/>
          </p:cNvSpPr>
          <p:nvPr/>
        </p:nvSpPr>
        <p:spPr>
          <a:xfrm xmlns:a="http://schemas.openxmlformats.org/drawingml/2006/main">
            <a:off x="3143250" y="2857500"/>
            <a:ext cx="1004316" cy="361950"/>
          </a:xfrm>
          <a:prstGeom xmlns:a="http://schemas.openxmlformats.org/drawingml/2006/main" prst="rect">
            <a:avLst/>
          </a:prstGeom>
          <a:solidFill xmlns:a="http://schemas.openxmlformats.org/drawingml/2006/main">
            <a:srgbClr val="1684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944A914-7683-4C9C-8762-5FDEA78D7658}"/>
              </a:ext>
            </a:extLst>
          </p:cNvPr>
          <p:cNvSpPr>
            <a:spLocks xmlns:a="http://schemas.openxmlformats.org/drawingml/2006/main" noGrp="1"/>
          </p:cNvSpPr>
          <p:nvPr/>
        </p:nvSpPr>
        <p:spPr>
          <a:xfrm xmlns:a="http://schemas.openxmlformats.org/drawingml/2006/main">
            <a:off x="10572750" y="29241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131.8 s</a:t>
            </a:r>
          </a:p>
        </p:txBody>
      </p:sp>
      <p:sp>
        <p:nvSpPr>
          <p:cNvPr id="12" name="">
            <a:extLst xmlns:a="http://schemas.openxmlformats.org/drawingml/2006/main">
              <a:ext uri="{FF2B5EF4-FFF2-40B4-BE49-F238E27FC236}">
                <a16:creationId xmlns:a16="http://schemas.microsoft.com/office/drawing/2014/main" id="{71DF8223-FE2F-4EE5-8904-9EAE81B6EDCD}"/>
              </a:ext>
            </a:extLst>
          </p:cNvPr>
          <p:cNvSpPr>
            <a:spLocks xmlns:a="http://schemas.openxmlformats.org/drawingml/2006/main" noGrp="1"/>
          </p:cNvSpPr>
          <p:nvPr/>
        </p:nvSpPr>
        <p:spPr>
          <a:xfrm xmlns:a="http://schemas.openxmlformats.org/drawingml/2006/main">
            <a:off x="685800" y="37052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ImagePullBackOff</a:t>
            </a:r>
          </a:p>
        </p:txBody>
      </p:sp>
      <p:sp>
        <p:nvSpPr>
          <p:cNvPr id="13" name="">
            <a:extLst xmlns:a="http://schemas.openxmlformats.org/drawingml/2006/main">
              <a:ext uri="{FF2B5EF4-FFF2-40B4-BE49-F238E27FC236}">
                <a16:creationId xmlns:a16="http://schemas.microsoft.com/office/drawing/2014/main" id="{AA351D99-937B-4585-9D35-9F9EBD92A319}"/>
              </a:ext>
            </a:extLst>
          </p:cNvPr>
          <p:cNvSpPr>
            <a:spLocks xmlns:a="http://schemas.openxmlformats.org/drawingml/2006/main" noGrp="1"/>
          </p:cNvSpPr>
          <p:nvPr/>
        </p:nvSpPr>
        <p:spPr>
          <a:xfrm xmlns:a="http://schemas.openxmlformats.org/drawingml/2006/main">
            <a:off x="3143250" y="363855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A21A58-2815-4445-AED6-27060A96A9EA}"/>
              </a:ext>
            </a:extLst>
          </p:cNvPr>
          <p:cNvSpPr>
            <a:spLocks xmlns:a="http://schemas.openxmlformats.org/drawingml/2006/main" noGrp="1"/>
          </p:cNvSpPr>
          <p:nvPr/>
        </p:nvSpPr>
        <p:spPr>
          <a:xfrm xmlns:a="http://schemas.openxmlformats.org/drawingml/2006/main">
            <a:off x="3143250" y="3638550"/>
            <a:ext cx="6957822" cy="361950"/>
          </a:xfrm>
          <a:prstGeom xmlns:a="http://schemas.openxmlformats.org/drawingml/2006/main" prst="rect">
            <a:avLst/>
          </a:prstGeom>
          <a:solidFill xmlns:a="http://schemas.openxmlformats.org/drawingml/2006/main">
            <a:srgbClr val="C378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C83119-4696-47AB-9E9B-FF5FB1D990C1}"/>
              </a:ext>
            </a:extLst>
          </p:cNvPr>
          <p:cNvSpPr>
            <a:spLocks xmlns:a="http://schemas.openxmlformats.org/drawingml/2006/main" noGrp="1"/>
          </p:cNvSpPr>
          <p:nvPr/>
        </p:nvSpPr>
        <p:spPr>
          <a:xfrm xmlns:a="http://schemas.openxmlformats.org/drawingml/2006/main">
            <a:off x="10572750" y="37052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913.1 s</a:t>
            </a:r>
          </a:p>
        </p:txBody>
      </p:sp>
      <p:sp>
        <p:nvSpPr>
          <p:cNvPr id="16" name="">
            <a:extLst xmlns:a="http://schemas.openxmlformats.org/drawingml/2006/main">
              <a:ext uri="{FF2B5EF4-FFF2-40B4-BE49-F238E27FC236}">
                <a16:creationId xmlns:a16="http://schemas.microsoft.com/office/drawing/2014/main" id="{36FD0637-C1E3-40ED-87D4-18BB00B86073}"/>
              </a:ext>
            </a:extLst>
          </p:cNvPr>
          <p:cNvSpPr>
            <a:spLocks xmlns:a="http://schemas.openxmlformats.org/drawingml/2006/main" noGrp="1"/>
          </p:cNvSpPr>
          <p:nvPr/>
        </p:nvSpPr>
        <p:spPr>
          <a:xfrm xmlns:a="http://schemas.openxmlformats.org/drawingml/2006/main">
            <a:off x="685800" y="4486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CrashLoopBackOff</a:t>
            </a:r>
          </a:p>
        </p:txBody>
      </p:sp>
      <p:sp>
        <p:nvSpPr>
          <p:cNvPr id="17" name="">
            <a:extLst xmlns:a="http://schemas.openxmlformats.org/drawingml/2006/main">
              <a:ext uri="{FF2B5EF4-FFF2-40B4-BE49-F238E27FC236}">
                <a16:creationId xmlns:a16="http://schemas.microsoft.com/office/drawing/2014/main" id="{C9780F6F-09BE-48D6-AE28-A118EF04C289}"/>
              </a:ext>
            </a:extLst>
          </p:cNvPr>
          <p:cNvSpPr>
            <a:spLocks xmlns:a="http://schemas.openxmlformats.org/drawingml/2006/main" noGrp="1"/>
          </p:cNvSpPr>
          <p:nvPr/>
        </p:nvSpPr>
        <p:spPr>
          <a:xfrm xmlns:a="http://schemas.openxmlformats.org/drawingml/2006/main">
            <a:off x="3143250" y="441960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808DB5C-B648-4D4D-9D0C-2C1DA50063A8}"/>
              </a:ext>
            </a:extLst>
          </p:cNvPr>
          <p:cNvSpPr>
            <a:spLocks xmlns:a="http://schemas.openxmlformats.org/drawingml/2006/main" noGrp="1"/>
          </p:cNvSpPr>
          <p:nvPr/>
        </p:nvSpPr>
        <p:spPr>
          <a:xfrm xmlns:a="http://schemas.openxmlformats.org/drawingml/2006/main">
            <a:off x="3143250" y="4419600"/>
            <a:ext cx="6303264" cy="361950"/>
          </a:xfrm>
          <a:prstGeom xmlns:a="http://schemas.openxmlformats.org/drawingml/2006/main" prst="rect">
            <a:avLst/>
          </a:prstGeom>
          <a:solidFill xmlns:a="http://schemas.openxmlformats.org/drawingml/2006/main">
            <a:srgbClr val="C7444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13E759A-6789-4DAD-9F76-2BB5E80A4A40}"/>
              </a:ext>
            </a:extLst>
          </p:cNvPr>
          <p:cNvSpPr>
            <a:spLocks xmlns:a="http://schemas.openxmlformats.org/drawingml/2006/main" noGrp="1"/>
          </p:cNvSpPr>
          <p:nvPr/>
        </p:nvSpPr>
        <p:spPr>
          <a:xfrm xmlns:a="http://schemas.openxmlformats.org/drawingml/2006/main">
            <a:off x="10572750" y="44862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827.2 s</a:t>
            </a:r>
          </a:p>
        </p:txBody>
      </p:sp>
      <p:sp>
        <p:nvSpPr>
          <p:cNvPr id="20" name="">
            <a:extLst xmlns:a="http://schemas.openxmlformats.org/drawingml/2006/main">
              <a:ext uri="{FF2B5EF4-FFF2-40B4-BE49-F238E27FC236}">
                <a16:creationId xmlns:a16="http://schemas.microsoft.com/office/drawing/2014/main" id="{4B295851-A538-4C15-9ECA-04E021341982}"/>
              </a:ext>
            </a:extLst>
          </p:cNvPr>
          <p:cNvSpPr>
            <a:spLocks xmlns:a="http://schemas.openxmlformats.org/drawingml/2006/main" noGrp="1"/>
          </p:cNvSpPr>
          <p:nvPr/>
        </p:nvSpPr>
        <p:spPr>
          <a:xfrm xmlns:a="http://schemas.openxmlformats.org/drawingml/2006/main">
            <a:off x="685800" y="52673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Evidence</a:t>
            </a:r>
          </a:p>
        </p:txBody>
      </p:sp>
      <p:sp>
        <p:nvSpPr>
          <p:cNvPr id="21" name="">
            <a:extLst xmlns:a="http://schemas.openxmlformats.org/drawingml/2006/main">
              <a:ext uri="{FF2B5EF4-FFF2-40B4-BE49-F238E27FC236}">
                <a16:creationId xmlns:a16="http://schemas.microsoft.com/office/drawing/2014/main" id="{3B4749E3-1120-45B8-899D-61D8ACDBDC4A}"/>
              </a:ext>
            </a:extLst>
          </p:cNvPr>
          <p:cNvSpPr>
            <a:spLocks xmlns:a="http://schemas.openxmlformats.org/drawingml/2006/main" noGrp="1"/>
          </p:cNvSpPr>
          <p:nvPr/>
        </p:nvSpPr>
        <p:spPr>
          <a:xfrm xmlns:a="http://schemas.openxmlformats.org/drawingml/2006/main">
            <a:off x="3143250" y="5200650"/>
            <a:ext cx="7239000" cy="3619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EDAADC1-B2B6-49FD-ACC1-6AC45482D8C2}"/>
              </a:ext>
            </a:extLst>
          </p:cNvPr>
          <p:cNvSpPr>
            <a:spLocks xmlns:a="http://schemas.openxmlformats.org/drawingml/2006/main" noGrp="1"/>
          </p:cNvSpPr>
          <p:nvPr/>
        </p:nvSpPr>
        <p:spPr>
          <a:xfrm xmlns:a="http://schemas.openxmlformats.org/drawingml/2006/main">
            <a:off x="3143250" y="5200650"/>
            <a:ext cx="1038606" cy="361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B855E3-4918-403F-974E-165EA735F635}"/>
              </a:ext>
            </a:extLst>
          </p:cNvPr>
          <p:cNvSpPr>
            <a:spLocks xmlns:a="http://schemas.openxmlformats.org/drawingml/2006/main" noGrp="1"/>
          </p:cNvSpPr>
          <p:nvPr/>
        </p:nvSpPr>
        <p:spPr>
          <a:xfrm xmlns:a="http://schemas.openxmlformats.org/drawingml/2006/main">
            <a:off x="10572750" y="52673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136.3 s</a:t>
            </a:r>
          </a:p>
        </p:txBody>
      </p:sp>
      <p:sp>
        <p:nvSpPr>
          <p:cNvPr id="24" name="">
            <a:extLst xmlns:a="http://schemas.openxmlformats.org/drawingml/2006/main">
              <a:ext uri="{FF2B5EF4-FFF2-40B4-BE49-F238E27FC236}">
                <a16:creationId xmlns:a16="http://schemas.microsoft.com/office/drawing/2014/main" id="{5FDC92C4-E522-4CCD-A5A4-A96D28422FBB}"/>
              </a:ext>
            </a:extLst>
          </p:cNvPr>
          <p:cNvSpPr>
            <a:spLocks xmlns:a="http://schemas.openxmlformats.org/drawingml/2006/main" noGrp="1"/>
          </p:cNvSpPr>
          <p:nvPr/>
        </p:nvSpPr>
        <p:spPr>
          <a:xfrm xmlns:a="http://schemas.openxmlformats.org/drawingml/2006/main">
            <a:off x="685800" y="59626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6845B"/>
                </a:solidFill>
                <a:latin typeface="Helvetica Neue"/>
                <a:ea typeface="Helvetica Neue"/>
                <a:cs typeface="Helvetica Neue"/>
              </a:defRPr>
            </a:pPr>
            <a:r>
              <a:rPr sz="1875" b="1">
                <a:solidFill>
                  <a:srgbClr val="16845B"/>
                </a:solidFill>
                <a:latin typeface="Helvetica Neue"/>
                <a:ea typeface="Helvetica Neue"/>
                <a:cs typeface="Helvetica Neue"/>
              </a:rPr>
              <a:t>PASS</a:t>
            </a:r>
          </a:p>
        </p:txBody>
      </p:sp>
      <p:sp>
        <p:nvSpPr>
          <p:cNvPr id="25" name="">
            <a:extLst xmlns:a="http://schemas.openxmlformats.org/drawingml/2006/main">
              <a:ext uri="{FF2B5EF4-FFF2-40B4-BE49-F238E27FC236}">
                <a16:creationId xmlns:a16="http://schemas.microsoft.com/office/drawing/2014/main" id="{FEF19A97-0835-4343-AADE-372206C7AB5D}"/>
              </a:ext>
            </a:extLst>
          </p:cNvPr>
          <p:cNvSpPr>
            <a:spLocks xmlns:a="http://schemas.openxmlformats.org/drawingml/2006/main" noGrp="1"/>
          </p:cNvSpPr>
          <p:nvPr/>
        </p:nvSpPr>
        <p:spPr>
          <a:xfrm xmlns:a="http://schemas.openxmlformats.org/drawingml/2006/main">
            <a:off x="2381250" y="59912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Authenticated Open WebUI entry point</a:t>
            </a:r>
          </a:p>
        </p:txBody>
      </p:sp>
      <p:sp>
        <p:nvSpPr>
          <p:cNvPr id="26" name="">
            <a:extLst xmlns:a="http://schemas.openxmlformats.org/drawingml/2006/main">
              <a:ext uri="{FF2B5EF4-FFF2-40B4-BE49-F238E27FC236}">
                <a16:creationId xmlns:a16="http://schemas.microsoft.com/office/drawing/2014/main" id="{4A3874D0-0ACC-4404-B2F6-7FF502DA8672}"/>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ACCEPTANCE EVIDENCE</a:t>
            </a:r>
          </a:p>
        </p:txBody>
      </p:sp>
      <p:sp>
        <p:nvSpPr>
          <p:cNvPr id="27" name="">
            <a:extLst xmlns:a="http://schemas.openxmlformats.org/drawingml/2006/main">
              <a:ext uri="{FF2B5EF4-FFF2-40B4-BE49-F238E27FC236}">
                <a16:creationId xmlns:a16="http://schemas.microsoft.com/office/drawing/2014/main" id="{B5C9FF13-9C99-43CC-BE08-39979C3404D2}"/>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16</a:t>
            </a:r>
          </a:p>
        </p:txBody>
      </p:sp>
    </p:spTree>
    <p:extLst>
      <p:ext uri="{BB962C8B-B14F-4D97-AF65-F5344CB8AC3E}">
        <p14:creationId xmlns:p14="http://schemas.microsoft.com/office/powerpoint/2010/main" val="15783895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386139DD-600B-4050-B4DD-5D58F41D3FF4}"/>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Ollama determines the resource footprint</a:t>
            </a:r>
          </a:p>
        </p:txBody>
      </p:sp>
      <p:sp>
        <p:nvSpPr>
          <p:cNvPr id="2" name="">
            <a:extLst xmlns:a="http://schemas.openxmlformats.org/drawingml/2006/main">
              <a:ext uri="{FF2B5EF4-FFF2-40B4-BE49-F238E27FC236}">
                <a16:creationId xmlns:a16="http://schemas.microsoft.com/office/drawing/2014/main" id="{30071D3C-B90D-4767-807B-6121A4270CB3}"/>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The diagnostic components themselves remain comparatively small.</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621B819C-61D1-4DCD-BC7E-F78C1EEBC1BB}"/>
              </a:ext>
            </a:extLst>
          </p:cNvPr>
          <p:cNvSpPr>
            <a:spLocks xmlns:a="http://schemas.openxmlformats.org/drawingml/2006/main" noGrp="1"/>
          </p:cNvSpPr>
          <p:nvPr/>
        </p:nvSpPr>
        <p:spPr>
          <a:xfrm xmlns:a="http://schemas.openxmlformats.org/drawingml/2006/main">
            <a:off x="514350" y="2571750"/>
            <a:ext cx="3524250" cy="2781300"/>
          </a:xfrm>
          <a:prstGeom xmlns:a="http://schemas.openxmlformats.org/drawingml/2006/main" prst="roundRect">
            <a:avLst>
              <a:gd name="adj" fmla="val 2740"/>
            </a:avLst>
          </a:prstGeom>
          <a:solidFill xmlns:a="http://schemas.openxmlformats.org/drawingml/2006/main">
            <a:srgbClr val="EEF7FD"/>
          </a:solidFill>
          <a:ln xmlns:a="http://schemas.openxmlformats.org/drawingml/2006/main" w="9525">
            <a:solidFill>
              <a:srgbClr val="3D8DFF"/>
            </a:solidFill>
            <a:prstDash val="solid"/>
          </a:ln>
        </p:spPr>
      </p:sp>
      <p:sp>
        <p:nvSpPr>
          <p:cNvPr id="5" name="">
            <a:extLst xmlns:a="http://schemas.openxmlformats.org/drawingml/2006/main">
              <a:ext uri="{FF2B5EF4-FFF2-40B4-BE49-F238E27FC236}">
                <a16:creationId xmlns:a16="http://schemas.microsoft.com/office/drawing/2014/main" id="{DE8ACD66-3AA1-4F52-A6EF-5904E4029FCB}"/>
              </a:ext>
            </a:extLst>
          </p:cNvPr>
          <p:cNvSpPr>
            <a:spLocks xmlns:a="http://schemas.openxmlformats.org/drawingml/2006/main" noGrp="1"/>
          </p:cNvSpPr>
          <p:nvPr/>
        </p:nvSpPr>
        <p:spPr>
          <a:xfrm xmlns:a="http://schemas.openxmlformats.org/drawingml/2006/main">
            <a:off x="781050" y="302895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3.95 CPU</a:t>
            </a:r>
          </a:p>
        </p:txBody>
      </p:sp>
      <p:sp>
        <p:nvSpPr>
          <p:cNvPr id="6" name="">
            <a:extLst xmlns:a="http://schemas.openxmlformats.org/drawingml/2006/main">
              <a:ext uri="{FF2B5EF4-FFF2-40B4-BE49-F238E27FC236}">
                <a16:creationId xmlns:a16="http://schemas.microsoft.com/office/drawing/2014/main" id="{CBEE20B6-23AE-481F-BE7A-8DA11C3F66AD}"/>
              </a:ext>
            </a:extLst>
          </p:cNvPr>
          <p:cNvSpPr>
            <a:spLocks xmlns:a="http://schemas.openxmlformats.org/drawingml/2006/main" noGrp="1"/>
          </p:cNvSpPr>
          <p:nvPr/>
        </p:nvSpPr>
        <p:spPr>
          <a:xfrm xmlns:a="http://schemas.openxmlformats.org/drawingml/2006/main">
            <a:off x="781050" y="4029075"/>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Ollama Peak</a:t>
            </a:r>
          </a:p>
        </p:txBody>
      </p:sp>
      <p:sp>
        <p:nvSpPr>
          <p:cNvPr id="7" name="">
            <a:extLst xmlns:a="http://schemas.openxmlformats.org/drawingml/2006/main">
              <a:ext uri="{FF2B5EF4-FFF2-40B4-BE49-F238E27FC236}">
                <a16:creationId xmlns:a16="http://schemas.microsoft.com/office/drawing/2014/main" id="{703F1F65-BB24-40FD-A748-7F4BC5010C4C}"/>
              </a:ext>
            </a:extLst>
          </p:cNvPr>
          <p:cNvSpPr>
            <a:spLocks xmlns:a="http://schemas.openxmlformats.org/drawingml/2006/main" noGrp="1"/>
          </p:cNvSpPr>
          <p:nvPr/>
        </p:nvSpPr>
        <p:spPr>
          <a:xfrm xmlns:a="http://schemas.openxmlformats.org/drawingml/2006/main">
            <a:off x="781050" y="46291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 3945 millicores</a:t>
            </a:r>
          </a:p>
        </p:txBody>
      </p:sp>
      <p:sp>
        <p:nvSpPr>
          <p:cNvPr id="8" name="">
            <a:extLst xmlns:a="http://schemas.openxmlformats.org/drawingml/2006/main">
              <a:ext uri="{FF2B5EF4-FFF2-40B4-BE49-F238E27FC236}">
                <a16:creationId xmlns:a16="http://schemas.microsoft.com/office/drawing/2014/main" id="{53D6486A-4447-4811-B188-3CEEE2EAEB0B}"/>
              </a:ext>
            </a:extLst>
          </p:cNvPr>
          <p:cNvSpPr>
            <a:spLocks xmlns:a="http://schemas.openxmlformats.org/drawingml/2006/main" noGrp="1"/>
          </p:cNvSpPr>
          <p:nvPr/>
        </p:nvSpPr>
        <p:spPr>
          <a:xfrm xmlns:a="http://schemas.openxmlformats.org/drawingml/2006/main">
            <a:off x="4371975" y="2571750"/>
            <a:ext cx="3524250" cy="2781300"/>
          </a:xfrm>
          <a:prstGeom xmlns:a="http://schemas.openxmlformats.org/drawingml/2006/main" prst="roundRect">
            <a:avLst>
              <a:gd name="adj" fmla="val 2740"/>
            </a:avLst>
          </a:prstGeom>
          <a:solidFill xmlns:a="http://schemas.openxmlformats.org/drawingml/2006/main">
            <a:srgbClr val="F6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599BF97-084D-495C-A1A9-EC122A246D60}"/>
              </a:ext>
            </a:extLst>
          </p:cNvPr>
          <p:cNvSpPr>
            <a:spLocks xmlns:a="http://schemas.openxmlformats.org/drawingml/2006/main" noGrp="1"/>
          </p:cNvSpPr>
          <p:nvPr/>
        </p:nvSpPr>
        <p:spPr>
          <a:xfrm xmlns:a="http://schemas.openxmlformats.org/drawingml/2006/main">
            <a:off x="4638675" y="302895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4.26 GiB</a:t>
            </a:r>
          </a:p>
        </p:txBody>
      </p:sp>
      <p:sp>
        <p:nvSpPr>
          <p:cNvPr id="10" name="">
            <a:extLst xmlns:a="http://schemas.openxmlformats.org/drawingml/2006/main">
              <a:ext uri="{FF2B5EF4-FFF2-40B4-BE49-F238E27FC236}">
                <a16:creationId xmlns:a16="http://schemas.microsoft.com/office/drawing/2014/main" id="{037F01CE-0305-4F81-979F-A8C2A1AC7354}"/>
              </a:ext>
            </a:extLst>
          </p:cNvPr>
          <p:cNvSpPr>
            <a:spLocks xmlns:a="http://schemas.openxmlformats.org/drawingml/2006/main" noGrp="1"/>
          </p:cNvSpPr>
          <p:nvPr/>
        </p:nvSpPr>
        <p:spPr>
          <a:xfrm xmlns:a="http://schemas.openxmlformats.org/drawingml/2006/main">
            <a:off x="4638675" y="4029075"/>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Ollama RAM</a:t>
            </a:r>
          </a:p>
        </p:txBody>
      </p:sp>
      <p:sp>
        <p:nvSpPr>
          <p:cNvPr id="11" name="">
            <a:extLst xmlns:a="http://schemas.openxmlformats.org/drawingml/2006/main">
              <a:ext uri="{FF2B5EF4-FFF2-40B4-BE49-F238E27FC236}">
                <a16:creationId xmlns:a16="http://schemas.microsoft.com/office/drawing/2014/main" id="{040CC1B2-4490-4365-9F6B-3569A16E7272}"/>
              </a:ext>
            </a:extLst>
          </p:cNvPr>
          <p:cNvSpPr>
            <a:spLocks xmlns:a="http://schemas.openxmlformats.org/drawingml/2006/main" noGrp="1"/>
          </p:cNvSpPr>
          <p:nvPr/>
        </p:nvSpPr>
        <p:spPr>
          <a:xfrm xmlns:a="http://schemas.openxmlformats.org/drawingml/2006/main">
            <a:off x="4638675" y="46291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 4260 MiB</a:t>
            </a:r>
          </a:p>
        </p:txBody>
      </p:sp>
      <p:sp>
        <p:nvSpPr>
          <p:cNvPr id="12" name="">
            <a:extLst xmlns:a="http://schemas.openxmlformats.org/drawingml/2006/main">
              <a:ext uri="{FF2B5EF4-FFF2-40B4-BE49-F238E27FC236}">
                <a16:creationId xmlns:a16="http://schemas.microsoft.com/office/drawing/2014/main" id="{09D0AFDF-1F53-4AF3-BB10-FA012A243488}"/>
              </a:ext>
            </a:extLst>
          </p:cNvPr>
          <p:cNvSpPr>
            <a:spLocks xmlns:a="http://schemas.openxmlformats.org/drawingml/2006/main" noGrp="1"/>
          </p:cNvSpPr>
          <p:nvPr/>
        </p:nvSpPr>
        <p:spPr>
          <a:xfrm xmlns:a="http://schemas.openxmlformats.org/drawingml/2006/main">
            <a:off x="8229600" y="2571750"/>
            <a:ext cx="3524250" cy="2781300"/>
          </a:xfrm>
          <a:prstGeom xmlns:a="http://schemas.openxmlformats.org/drawingml/2006/main" prst="roundRect">
            <a:avLst>
              <a:gd name="adj" fmla="val 2740"/>
            </a:avLst>
          </a:prstGeom>
          <a:solidFill xmlns:a="http://schemas.openxmlformats.org/drawingml/2006/main">
            <a:srgbClr val="F6F7F8"/>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785FEF2-E628-4542-A3F7-C76C6071D32C}"/>
              </a:ext>
            </a:extLst>
          </p:cNvPr>
          <p:cNvSpPr>
            <a:spLocks xmlns:a="http://schemas.openxmlformats.org/drawingml/2006/main" noGrp="1"/>
          </p:cNvSpPr>
          <p:nvPr/>
        </p:nvSpPr>
        <p:spPr>
          <a:xfrm xmlns:a="http://schemas.openxmlformats.org/drawingml/2006/main">
            <a:off x="8496300" y="302895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405 MiB</a:t>
            </a:r>
          </a:p>
        </p:txBody>
      </p:sp>
      <p:sp>
        <p:nvSpPr>
          <p:cNvPr id="14" name="">
            <a:extLst xmlns:a="http://schemas.openxmlformats.org/drawingml/2006/main">
              <a:ext uri="{FF2B5EF4-FFF2-40B4-BE49-F238E27FC236}">
                <a16:creationId xmlns:a16="http://schemas.microsoft.com/office/drawing/2014/main" id="{787A64FB-B15D-4C94-8770-61C111DF4114}"/>
              </a:ext>
            </a:extLst>
          </p:cNvPr>
          <p:cNvSpPr>
            <a:spLocks xmlns:a="http://schemas.openxmlformats.org/drawingml/2006/main" noGrp="1"/>
          </p:cNvSpPr>
          <p:nvPr/>
        </p:nvSpPr>
        <p:spPr>
          <a:xfrm xmlns:a="http://schemas.openxmlformats.org/drawingml/2006/main">
            <a:off x="8496300" y="4029075"/>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OpenClaw RAM</a:t>
            </a:r>
          </a:p>
        </p:txBody>
      </p:sp>
      <p:sp>
        <p:nvSpPr>
          <p:cNvPr id="15" name="">
            <a:extLst xmlns:a="http://schemas.openxmlformats.org/drawingml/2006/main">
              <a:ext uri="{FF2B5EF4-FFF2-40B4-BE49-F238E27FC236}">
                <a16:creationId xmlns:a16="http://schemas.microsoft.com/office/drawing/2014/main" id="{64D809A5-AFD6-4FAA-8222-4C83AB8C7AEA}"/>
              </a:ext>
            </a:extLst>
          </p:cNvPr>
          <p:cNvSpPr>
            <a:spLocks xmlns:a="http://schemas.openxmlformats.org/drawingml/2006/main" noGrp="1"/>
          </p:cNvSpPr>
          <p:nvPr/>
        </p:nvSpPr>
        <p:spPr>
          <a:xfrm xmlns:a="http://schemas.openxmlformats.org/drawingml/2006/main">
            <a:off x="8496300" y="46291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Helvetica Neue"/>
                <a:ea typeface="Helvetica Neue"/>
                <a:cs typeface="Helvetica Neue"/>
              </a:defRPr>
            </a:pPr>
            <a:r>
              <a:rPr sz="1350" b="0">
                <a:solidFill>
                  <a:srgbClr val="5D6570"/>
                </a:solidFill>
                <a:latin typeface="Helvetica Neue"/>
                <a:ea typeface="Helvetica Neue"/>
                <a:cs typeface="Helvetica Neue"/>
              </a:rPr>
              <a:t>during E2E</a:t>
            </a:r>
          </a:p>
        </p:txBody>
      </p:sp>
      <p:sp>
        <p:nvSpPr>
          <p:cNvPr id="16" name="">
            <a:extLst xmlns:a="http://schemas.openxmlformats.org/drawingml/2006/main">
              <a:ext uri="{FF2B5EF4-FFF2-40B4-BE49-F238E27FC236}">
                <a16:creationId xmlns:a16="http://schemas.microsoft.com/office/drawing/2014/main" id="{6CDE062A-A8D9-4BF9-ADEA-2A063DD7EB53}"/>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RESOURCES</a:t>
            </a:r>
          </a:p>
        </p:txBody>
      </p:sp>
      <p:sp>
        <p:nvSpPr>
          <p:cNvPr id="17" name="">
            <a:extLst xmlns:a="http://schemas.openxmlformats.org/drawingml/2006/main">
              <a:ext uri="{FF2B5EF4-FFF2-40B4-BE49-F238E27FC236}">
                <a16:creationId xmlns:a16="http://schemas.microsoft.com/office/drawing/2014/main" id="{0BB9238C-8DE8-4ADE-A450-F1C6AD69DB94}"/>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17</a:t>
            </a:r>
          </a:p>
        </p:txBody>
      </p:sp>
    </p:spTree>
    <p:extLst>
      <p:ext uri="{BB962C8B-B14F-4D97-AF65-F5344CB8AC3E}">
        <p14:creationId xmlns:p14="http://schemas.microsoft.com/office/powerpoint/2010/main" val="10748151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DD47D0FC-941A-4B25-B841-9B7A92F3DD06}"/>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63"/>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Three commands cover operations, recovery, and reinstallation</a:t>
            </a:r>
          </a:p>
        </p:txBody>
      </p:sp>
      <p:sp>
        <p:nvSpPr>
          <p:cNvPr id="2" name="">
            <a:extLst xmlns:a="http://schemas.openxmlformats.org/drawingml/2006/main">
              <a:ext uri="{FF2B5EF4-FFF2-40B4-BE49-F238E27FC236}">
                <a16:creationId xmlns:a16="http://schemas.microsoft.com/office/drawing/2014/main" id="{62CA8538-B947-4156-B75A-0CBEB4527627}"/>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Choose the test that matches the question you want to answer.</a:t>
            </a:r>
          </a:p>
        </p:txBody>
      </p:sp>
      <p:cxnSp>
        <p:nvCxnSpPr>
          <p:cNvPr id="22"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087E412B-741E-4ED8-98B3-5ECB90718F2D}"/>
              </a:ext>
            </a:extLst>
          </p:cNvPr>
          <p:cNvSpPr>
            <a:spLocks xmlns:a="http://schemas.openxmlformats.org/drawingml/2006/main" noGrp="1"/>
          </p:cNvSpPr>
          <p:nvPr/>
        </p:nvSpPr>
        <p:spPr>
          <a:xfrm xmlns:a="http://schemas.openxmlformats.org/drawingml/2006/main">
            <a:off x="685800" y="2114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verify</a:t>
            </a:r>
          </a:p>
        </p:txBody>
      </p:sp>
      <p:sp>
        <p:nvSpPr>
          <p:cNvPr id="5" name="">
            <a:extLst xmlns:a="http://schemas.openxmlformats.org/drawingml/2006/main">
              <a:ext uri="{FF2B5EF4-FFF2-40B4-BE49-F238E27FC236}">
                <a16:creationId xmlns:a16="http://schemas.microsoft.com/office/drawing/2014/main" id="{03B0B91B-28F7-4546-9506-196C9C3FE593}"/>
              </a:ext>
            </a:extLst>
          </p:cNvPr>
          <p:cNvSpPr>
            <a:spLocks xmlns:a="http://schemas.openxmlformats.org/drawingml/2006/main" noGrp="1"/>
          </p:cNvSpPr>
          <p:nvPr/>
        </p:nvSpPr>
        <p:spPr>
          <a:xfrm xmlns:a="http://schemas.openxmlformats.org/drawingml/2006/main">
            <a:off x="3143250" y="21336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Does the complete path work?</a:t>
            </a:r>
          </a:p>
        </p:txBody>
      </p:sp>
      <p:sp>
        <p:nvSpPr>
          <p:cNvPr id="6" name="">
            <a:extLst xmlns:a="http://schemas.openxmlformats.org/drawingml/2006/main">
              <a:ext uri="{FF2B5EF4-FFF2-40B4-BE49-F238E27FC236}">
                <a16:creationId xmlns:a16="http://schemas.microsoft.com/office/drawing/2014/main" id="{8FA58700-C588-4CD9-992A-7056FF9C89A2}"/>
              </a:ext>
            </a:extLst>
          </p:cNvPr>
          <p:cNvSpPr>
            <a:spLocks xmlns:a="http://schemas.openxmlformats.org/drawingml/2006/main" noGrp="1"/>
          </p:cNvSpPr>
          <p:nvPr/>
        </p:nvSpPr>
        <p:spPr>
          <a:xfrm xmlns:a="http://schemas.openxmlformats.org/drawingml/2006/main">
            <a:off x="7524750" y="2019300"/>
            <a:ext cx="3905250" cy="590550"/>
          </a:xfrm>
          <a:prstGeom xmlns:a="http://schemas.openxmlformats.org/drawingml/2006/main" prst="roundRect">
            <a:avLst>
              <a:gd name="adj" fmla="val 12903"/>
            </a:avLst>
          </a:prstGeom>
          <a:solidFill xmlns:a="http://schemas.openxmlformats.org/drawingml/2006/main">
            <a:srgbClr val="151A2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FF348C1-9733-42D1-8978-35CEF5FB979C}"/>
              </a:ext>
            </a:extLst>
          </p:cNvPr>
          <p:cNvSpPr>
            <a:spLocks xmlns:a="http://schemas.openxmlformats.org/drawingml/2006/main" noGrp="1"/>
          </p:cNvSpPr>
          <p:nvPr/>
        </p:nvSpPr>
        <p:spPr>
          <a:xfrm xmlns:a="http://schemas.openxmlformats.org/drawingml/2006/main">
            <a:off x="7715250" y="21907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make -C openclaw verify</a:t>
            </a:r>
          </a:p>
        </p:txBody>
      </p:sp>
      <p:cxnSp>
        <p:nvCxnSpPr>
          <p:cNvPr id="27" name=""/>
          <p:cNvCxnSpPr/>
          <p:nvPr/>
        </p:nvCxnSpPr>
        <p:spPr>
          <a:xfrm xmlns:a="http://schemas.openxmlformats.org/drawingml/2006/main">
            <a:off x="685800" y="2895600"/>
            <a:ext cx="107442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6B14C41-2506-4097-82F6-A8A8C68ADD13}"/>
              </a:ext>
            </a:extLst>
          </p:cNvPr>
          <p:cNvSpPr>
            <a:spLocks xmlns:a="http://schemas.openxmlformats.org/drawingml/2006/main" noGrp="1"/>
          </p:cNvSpPr>
          <p:nvPr/>
        </p:nvSpPr>
        <p:spPr>
          <a:xfrm xmlns:a="http://schemas.openxmlformats.org/drawingml/2006/main">
            <a:off x="685800" y="33337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restart-test</a:t>
            </a:r>
          </a:p>
        </p:txBody>
      </p:sp>
      <p:sp>
        <p:nvSpPr>
          <p:cNvPr id="10" name="">
            <a:extLst xmlns:a="http://schemas.openxmlformats.org/drawingml/2006/main">
              <a:ext uri="{FF2B5EF4-FFF2-40B4-BE49-F238E27FC236}">
                <a16:creationId xmlns:a16="http://schemas.microsoft.com/office/drawing/2014/main" id="{A812DD23-71BA-43B6-9055-5DE99A17FE19}"/>
              </a:ext>
            </a:extLst>
          </p:cNvPr>
          <p:cNvSpPr>
            <a:spLocks xmlns:a="http://schemas.openxmlformats.org/drawingml/2006/main" noGrp="1"/>
          </p:cNvSpPr>
          <p:nvPr/>
        </p:nvSpPr>
        <p:spPr>
          <a:xfrm xmlns:a="http://schemas.openxmlformats.org/drawingml/2006/main">
            <a:off x="3143250" y="33528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Does the system recover after restarts?</a:t>
            </a:r>
          </a:p>
        </p:txBody>
      </p:sp>
      <p:sp>
        <p:nvSpPr>
          <p:cNvPr id="11" name="">
            <a:extLst xmlns:a="http://schemas.openxmlformats.org/drawingml/2006/main">
              <a:ext uri="{FF2B5EF4-FFF2-40B4-BE49-F238E27FC236}">
                <a16:creationId xmlns:a16="http://schemas.microsoft.com/office/drawing/2014/main" id="{0C23F2F2-E33F-4530-B546-E4B037EA0AC8}"/>
              </a:ext>
            </a:extLst>
          </p:cNvPr>
          <p:cNvSpPr>
            <a:spLocks xmlns:a="http://schemas.openxmlformats.org/drawingml/2006/main" noGrp="1"/>
          </p:cNvSpPr>
          <p:nvPr/>
        </p:nvSpPr>
        <p:spPr>
          <a:xfrm xmlns:a="http://schemas.openxmlformats.org/drawingml/2006/main">
            <a:off x="7524750" y="3238500"/>
            <a:ext cx="3905250" cy="590550"/>
          </a:xfrm>
          <a:prstGeom xmlns:a="http://schemas.openxmlformats.org/drawingml/2006/main" prst="roundRect">
            <a:avLst>
              <a:gd name="adj" fmla="val 12903"/>
            </a:avLst>
          </a:prstGeom>
          <a:solidFill xmlns:a="http://schemas.openxmlformats.org/drawingml/2006/main">
            <a:srgbClr val="151A2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90E8600-EAF7-49E3-9569-D6A2C0B62348}"/>
              </a:ext>
            </a:extLst>
          </p:cNvPr>
          <p:cNvSpPr>
            <a:spLocks xmlns:a="http://schemas.openxmlformats.org/drawingml/2006/main" noGrp="1"/>
          </p:cNvSpPr>
          <p:nvPr/>
        </p:nvSpPr>
        <p:spPr>
          <a:xfrm xmlns:a="http://schemas.openxmlformats.org/drawingml/2006/main">
            <a:off x="7715250" y="34099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make -C openclaw restart-test</a:t>
            </a:r>
          </a:p>
        </p:txBody>
      </p:sp>
      <p:cxnSp>
        <p:nvCxnSpPr>
          <p:cNvPr id="32" name=""/>
          <p:cNvCxnSpPr/>
          <p:nvPr/>
        </p:nvCxnSpPr>
        <p:spPr>
          <a:xfrm xmlns:a="http://schemas.openxmlformats.org/drawingml/2006/main">
            <a:off x="685800" y="4114800"/>
            <a:ext cx="107442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6944512F-3442-4964-8DDA-D97CC32E6C78}"/>
              </a:ext>
            </a:extLst>
          </p:cNvPr>
          <p:cNvSpPr>
            <a:spLocks xmlns:a="http://schemas.openxmlformats.org/drawingml/2006/main" noGrp="1"/>
          </p:cNvSpPr>
          <p:nvPr/>
        </p:nvSpPr>
        <p:spPr>
          <a:xfrm xmlns:a="http://schemas.openxmlformats.org/drawingml/2006/main">
            <a:off x="685800" y="45529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lifecycle-test</a:t>
            </a:r>
          </a:p>
        </p:txBody>
      </p:sp>
      <p:sp>
        <p:nvSpPr>
          <p:cNvPr id="15" name="">
            <a:extLst xmlns:a="http://schemas.openxmlformats.org/drawingml/2006/main">
              <a:ext uri="{FF2B5EF4-FFF2-40B4-BE49-F238E27FC236}">
                <a16:creationId xmlns:a16="http://schemas.microsoft.com/office/drawing/2014/main" id="{A15E305F-DDB9-4A55-8C5E-8BE8746F93EF}"/>
              </a:ext>
            </a:extLst>
          </p:cNvPr>
          <p:cNvSpPr>
            <a:spLocks xmlns:a="http://schemas.openxmlformats.org/drawingml/2006/main" noGrp="1"/>
          </p:cNvSpPr>
          <p:nvPr/>
        </p:nvSpPr>
        <p:spPr>
          <a:xfrm xmlns:a="http://schemas.openxmlformats.org/drawingml/2006/main">
            <a:off x="3143250" y="45720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Is the installation reproducible?</a:t>
            </a:r>
          </a:p>
        </p:txBody>
      </p:sp>
      <p:sp>
        <p:nvSpPr>
          <p:cNvPr id="16" name="">
            <a:extLst xmlns:a="http://schemas.openxmlformats.org/drawingml/2006/main">
              <a:ext uri="{FF2B5EF4-FFF2-40B4-BE49-F238E27FC236}">
                <a16:creationId xmlns:a16="http://schemas.microsoft.com/office/drawing/2014/main" id="{6542AB8F-C220-4B93-92D5-96C180567DEC}"/>
              </a:ext>
            </a:extLst>
          </p:cNvPr>
          <p:cNvSpPr>
            <a:spLocks xmlns:a="http://schemas.openxmlformats.org/drawingml/2006/main" noGrp="1"/>
          </p:cNvSpPr>
          <p:nvPr/>
        </p:nvSpPr>
        <p:spPr>
          <a:xfrm xmlns:a="http://schemas.openxmlformats.org/drawingml/2006/main">
            <a:off x="7524750" y="4457700"/>
            <a:ext cx="3905250" cy="590550"/>
          </a:xfrm>
          <a:prstGeom xmlns:a="http://schemas.openxmlformats.org/drawingml/2006/main" prst="roundRect">
            <a:avLst>
              <a:gd name="adj" fmla="val 12903"/>
            </a:avLst>
          </a:prstGeom>
          <a:solidFill xmlns:a="http://schemas.openxmlformats.org/drawingml/2006/main">
            <a:srgbClr val="151A2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DE69EE-0141-43DF-9426-DA4BBF09FD5A}"/>
              </a:ext>
            </a:extLst>
          </p:cNvPr>
          <p:cNvSpPr>
            <a:spLocks xmlns:a="http://schemas.openxmlformats.org/drawingml/2006/main" noGrp="1"/>
          </p:cNvSpPr>
          <p:nvPr/>
        </p:nvSpPr>
        <p:spPr>
          <a:xfrm xmlns:a="http://schemas.openxmlformats.org/drawingml/2006/main">
            <a:off x="7715250" y="46291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make -C openclaw lifecycle-test</a:t>
            </a:r>
          </a:p>
        </p:txBody>
      </p:sp>
      <p:sp>
        <p:nvSpPr>
          <p:cNvPr id="18" name="">
            <a:extLst xmlns:a="http://schemas.openxmlformats.org/drawingml/2006/main">
              <a:ext uri="{FF2B5EF4-FFF2-40B4-BE49-F238E27FC236}">
                <a16:creationId xmlns:a16="http://schemas.microsoft.com/office/drawing/2014/main" id="{6C619A2A-5991-4BB6-9D48-226D039AD3EF}"/>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OPERATIONS</a:t>
            </a:r>
          </a:p>
        </p:txBody>
      </p:sp>
      <p:sp>
        <p:nvSpPr>
          <p:cNvPr id="19" name="">
            <a:extLst xmlns:a="http://schemas.openxmlformats.org/drawingml/2006/main">
              <a:ext uri="{FF2B5EF4-FFF2-40B4-BE49-F238E27FC236}">
                <a16:creationId xmlns:a16="http://schemas.microsoft.com/office/drawing/2014/main" id="{84CC93B9-C2FB-4514-AC8F-F52D81F2F432}"/>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18</a:t>
            </a:r>
          </a:p>
        </p:txBody>
      </p:sp>
    </p:spTree>
    <p:extLst>
      <p:ext uri="{BB962C8B-B14F-4D97-AF65-F5344CB8AC3E}">
        <p14:creationId xmlns:p14="http://schemas.microsoft.com/office/powerpoint/2010/main" val="9547354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E56C8033-3C23-40D1-B87D-B892360D992D}"/>
              </a:ext>
            </a:extLst>
          </p:cNvPr>
          <p:cNvSpPr>
            <a:spLocks xmlns:a="http://schemas.openxmlformats.org/drawingml/2006/main" noGrp="1"/>
          </p:cNvSpPr>
          <p:nvPr/>
        </p:nvSpPr>
        <p:spPr>
          <a:xfrm xmlns:a="http://schemas.openxmlformats.org/drawingml/2006/main">
            <a:off x="514350" y="400050"/>
            <a:ext cx="11163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Ready means function and boundaries are proven</a:t>
            </a:r>
          </a:p>
        </p:txBody>
      </p:sp>
      <p:sp>
        <p:nvSpPr>
          <p:cNvPr id="2" name="">
            <a:extLst xmlns:a="http://schemas.openxmlformats.org/drawingml/2006/main">
              <a:ext uri="{FF2B5EF4-FFF2-40B4-BE49-F238E27FC236}">
                <a16:creationId xmlns:a16="http://schemas.microsoft.com/office/drawing/2014/main" id="{BB81DA49-58B7-42E7-BB72-3006B6211433}"/>
              </a:ext>
            </a:extLst>
          </p:cNvPr>
          <p:cNvSpPr>
            <a:spLocks xmlns:a="http://schemas.openxmlformats.org/drawingml/2006/main" noGrp="1"/>
          </p:cNvSpPr>
          <p:nvPr/>
        </p:nvSpPr>
        <p:spPr>
          <a:xfrm xmlns:a="http://schemas.openxmlformats.org/drawingml/2006/main">
            <a:off x="51435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D6570"/>
                </a:solidFill>
                <a:latin typeface="Helvetica Neue"/>
                <a:ea typeface="Helvetica Neue"/>
                <a:cs typeface="Helvetica Neue"/>
              </a:defRPr>
            </a:pPr>
            <a:r>
              <a:rPr sz="1575" b="0">
                <a:solidFill>
                  <a:srgbClr val="5D6570"/>
                </a:solidFill>
                <a:latin typeface="Helvetica Neue"/>
                <a:ea typeface="Helvetica Neue"/>
                <a:cs typeface="Helvetica Neue"/>
              </a:rPr>
              <a:t>A running pod alone is not enough; reproducible evidence is what counts.</a:t>
            </a:r>
          </a:p>
        </p:txBody>
      </p:sp>
      <p:cxnSp>
        <p:nvCxnSpPr>
          <p:cNvPr id="20" name=""/>
          <p:cNvCxnSpPr/>
          <p:nvPr/>
        </p:nvCxnSpPr>
        <p:spPr>
          <a:xfrm xmlns:a="http://schemas.openxmlformats.org/drawingml/2006/main">
            <a:off x="514350" y="1752600"/>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BC2C32F-D7A3-45D3-8C5E-05D1323BE34E}"/>
              </a:ext>
            </a:extLst>
          </p:cNvPr>
          <p:cNvSpPr>
            <a:spLocks xmlns:a="http://schemas.openxmlformats.org/drawingml/2006/main" noGrp="1"/>
          </p:cNvSpPr>
          <p:nvPr/>
        </p:nvSpPr>
        <p:spPr>
          <a:xfrm xmlns:a="http://schemas.openxmlformats.org/drawingml/2006/main">
            <a:off x="723900" y="20574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4FB46ED7-EC78-453F-90D4-FFB264EF720E}"/>
              </a:ext>
            </a:extLst>
          </p:cNvPr>
          <p:cNvSpPr>
            <a:spLocks xmlns:a="http://schemas.openxmlformats.org/drawingml/2006/main" noGrp="1"/>
          </p:cNvSpPr>
          <p:nvPr/>
        </p:nvSpPr>
        <p:spPr>
          <a:xfrm xmlns:a="http://schemas.openxmlformats.org/drawingml/2006/main">
            <a:off x="1028700" y="20574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Local foundation: both nodes, Crossplane, Ollama, and Open WebUI are Ready</a:t>
            </a:r>
          </a:p>
        </p:txBody>
      </p:sp>
      <p:sp>
        <p:nvSpPr>
          <p:cNvPr id="6" name="">
            <a:extLst xmlns:a="http://schemas.openxmlformats.org/drawingml/2006/main">
              <a:ext uri="{FF2B5EF4-FFF2-40B4-BE49-F238E27FC236}">
                <a16:creationId xmlns:a16="http://schemas.microsoft.com/office/drawing/2014/main" id="{DD55CDE4-2950-4A86-A596-CE822D02A3F9}"/>
              </a:ext>
            </a:extLst>
          </p:cNvPr>
          <p:cNvSpPr>
            <a:spLocks xmlns:a="http://schemas.openxmlformats.org/drawingml/2006/main" noGrp="1"/>
          </p:cNvSpPr>
          <p:nvPr/>
        </p:nvSpPr>
        <p:spPr>
          <a:xfrm xmlns:a="http://schemas.openxmlformats.org/drawingml/2006/main">
            <a:off x="723900" y="27432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4710AF34-5DB1-4574-977B-EBB831B7A301}"/>
              </a:ext>
            </a:extLst>
          </p:cNvPr>
          <p:cNvSpPr>
            <a:spLocks xmlns:a="http://schemas.openxmlformats.org/drawingml/2006/main" noGrp="1"/>
          </p:cNvSpPr>
          <p:nvPr/>
        </p:nvSpPr>
        <p:spPr>
          <a:xfrm xmlns:a="http://schemas.openxmlformats.org/drawingml/2006/main">
            <a:off x="1028700" y="27432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Read-only kagent: make -C kagent verify-kagent reports PASS</a:t>
            </a:r>
          </a:p>
        </p:txBody>
      </p:sp>
      <p:sp>
        <p:nvSpPr>
          <p:cNvPr id="8" name="">
            <a:extLst xmlns:a="http://schemas.openxmlformats.org/drawingml/2006/main">
              <a:ext uri="{FF2B5EF4-FFF2-40B4-BE49-F238E27FC236}">
                <a16:creationId xmlns:a16="http://schemas.microsoft.com/office/drawing/2014/main" id="{345FF0F1-063E-4D0F-915F-7651DA533298}"/>
              </a:ext>
            </a:extLst>
          </p:cNvPr>
          <p:cNvSpPr>
            <a:spLocks xmlns:a="http://schemas.openxmlformats.org/drawingml/2006/main" noGrp="1"/>
          </p:cNvSpPr>
          <p:nvPr/>
        </p:nvSpPr>
        <p:spPr>
          <a:xfrm xmlns:a="http://schemas.openxmlformats.org/drawingml/2006/main">
            <a:off x="723900" y="34290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4D2745C0-DF46-4367-8FE5-977506C7FD70}"/>
              </a:ext>
            </a:extLst>
          </p:cNvPr>
          <p:cNvSpPr>
            <a:spLocks xmlns:a="http://schemas.openxmlformats.org/drawingml/2006/main" noGrp="1"/>
          </p:cNvSpPr>
          <p:nvPr/>
        </p:nvSpPr>
        <p:spPr>
          <a:xfrm xmlns:a="http://schemas.openxmlformats.org/drawingml/2006/main">
            <a:off x="1028700" y="34290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OpenClaw integration: five E2E scenarios through Open WebUI report PASS</a:t>
            </a:r>
          </a:p>
        </p:txBody>
      </p:sp>
      <p:sp>
        <p:nvSpPr>
          <p:cNvPr id="10" name="">
            <a:extLst xmlns:a="http://schemas.openxmlformats.org/drawingml/2006/main">
              <a:ext uri="{FF2B5EF4-FFF2-40B4-BE49-F238E27FC236}">
                <a16:creationId xmlns:a16="http://schemas.microsoft.com/office/drawing/2014/main" id="{0BC3E176-F351-4EAF-8C94-342934BC335E}"/>
              </a:ext>
            </a:extLst>
          </p:cNvPr>
          <p:cNvSpPr>
            <a:spLocks xmlns:a="http://schemas.openxmlformats.org/drawingml/2006/main" noGrp="1"/>
          </p:cNvSpPr>
          <p:nvPr/>
        </p:nvSpPr>
        <p:spPr>
          <a:xfrm xmlns:a="http://schemas.openxmlformats.org/drawingml/2006/main">
            <a:off x="723900" y="41148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1E339A37-8B62-4A11-AAAA-5836B9D0A1D7}"/>
              </a:ext>
            </a:extLst>
          </p:cNvPr>
          <p:cNvSpPr>
            <a:spLocks xmlns:a="http://schemas.openxmlformats.org/drawingml/2006/main" noGrp="1"/>
          </p:cNvSpPr>
          <p:nvPr/>
        </p:nvSpPr>
        <p:spPr>
          <a:xfrm xmlns:a="http://schemas.openxmlformats.org/drawingml/2006/main">
            <a:off x="1028700" y="41148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Only platform-diagnostics-tools has Kubernetes read permissions</a:t>
            </a:r>
          </a:p>
        </p:txBody>
      </p:sp>
      <p:sp>
        <p:nvSpPr>
          <p:cNvPr id="12" name="">
            <a:extLst xmlns:a="http://schemas.openxmlformats.org/drawingml/2006/main">
              <a:ext uri="{FF2B5EF4-FFF2-40B4-BE49-F238E27FC236}">
                <a16:creationId xmlns:a16="http://schemas.microsoft.com/office/drawing/2014/main" id="{E4020DF8-ED8D-4A8B-A6F9-0C76C3110C3A}"/>
              </a:ext>
            </a:extLst>
          </p:cNvPr>
          <p:cNvSpPr>
            <a:spLocks xmlns:a="http://schemas.openxmlformats.org/drawingml/2006/main" noGrp="1"/>
          </p:cNvSpPr>
          <p:nvPr/>
        </p:nvSpPr>
        <p:spPr>
          <a:xfrm xmlns:a="http://schemas.openxmlformats.org/drawingml/2006/main">
            <a:off x="723900" y="48006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845B"/>
                </a:solidFill>
                <a:latin typeface="Helvetica Neue"/>
                <a:ea typeface="Helvetica Neue"/>
                <a:cs typeface="Helvetica Neue"/>
              </a:defRPr>
            </a:pPr>
            <a:r>
              <a:rPr sz="1650" b="1">
                <a:solidFill>
                  <a:srgbClr val="16845B"/>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AF12FD42-7AD9-42DB-935A-850C378F2DBD}"/>
              </a:ext>
            </a:extLst>
          </p:cNvPr>
          <p:cNvSpPr>
            <a:spLocks xmlns:a="http://schemas.openxmlformats.org/drawingml/2006/main" noGrp="1"/>
          </p:cNvSpPr>
          <p:nvPr/>
        </p:nvSpPr>
        <p:spPr>
          <a:xfrm xmlns:a="http://schemas.openxmlformats.org/drawingml/2006/main">
            <a:off x="1028700" y="4800600"/>
            <a:ext cx="9982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The Git dry run contains no tokens, kubeconfigs, or generated sources</a:t>
            </a:r>
          </a:p>
        </p:txBody>
      </p:sp>
      <p:sp>
        <p:nvSpPr>
          <p:cNvPr id="14" name="">
            <a:extLst xmlns:a="http://schemas.openxmlformats.org/drawingml/2006/main">
              <a:ext uri="{FF2B5EF4-FFF2-40B4-BE49-F238E27FC236}">
                <a16:creationId xmlns:a16="http://schemas.microsoft.com/office/drawing/2014/main" id="{14C4BD60-77C9-440D-AA39-DEB2B64A544A}"/>
              </a:ext>
            </a:extLst>
          </p:cNvPr>
          <p:cNvSpPr>
            <a:spLocks xmlns:a="http://schemas.openxmlformats.org/drawingml/2006/main" noGrp="1"/>
          </p:cNvSpPr>
          <p:nvPr/>
        </p:nvSpPr>
        <p:spPr>
          <a:xfrm xmlns:a="http://schemas.openxmlformats.org/drawingml/2006/main">
            <a:off x="723900" y="5657850"/>
            <a:ext cx="10382250" cy="495300"/>
          </a:xfrm>
          <a:prstGeom xmlns:a="http://schemas.openxmlformats.org/drawingml/2006/main" prst="rect">
            <a:avLst/>
          </a:prstGeom>
          <a:solidFill xmlns:a="http://schemas.openxmlformats.org/drawingml/2006/main">
            <a:srgbClr val="EEF7F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8290ED-A35C-46E8-86B4-8606995E9193}"/>
              </a:ext>
            </a:extLst>
          </p:cNvPr>
          <p:cNvSpPr>
            <a:spLocks xmlns:a="http://schemas.openxmlformats.org/drawingml/2006/main" noGrp="1"/>
          </p:cNvSpPr>
          <p:nvPr/>
        </p:nvSpPr>
        <p:spPr>
          <a:xfrm xmlns:a="http://schemas.openxmlformats.org/drawingml/2006/main">
            <a:off x="933450" y="5791200"/>
            <a:ext cx="996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Next step: Run the runbook → Review evidence → Request review</a:t>
            </a:r>
          </a:p>
        </p:txBody>
      </p:sp>
      <p:sp>
        <p:nvSpPr>
          <p:cNvPr id="16" name="">
            <a:extLst xmlns:a="http://schemas.openxmlformats.org/drawingml/2006/main">
              <a:ext uri="{FF2B5EF4-FFF2-40B4-BE49-F238E27FC236}">
                <a16:creationId xmlns:a16="http://schemas.microsoft.com/office/drawing/2014/main" id="{C59832DA-95CB-4B07-9505-062612DAD604}"/>
              </a:ext>
            </a:extLst>
          </p:cNvPr>
          <p:cNvSpPr>
            <a:spLocks xmlns:a="http://schemas.openxmlformats.org/drawingml/2006/main" noGrp="1"/>
          </p:cNvSpPr>
          <p:nvPr/>
        </p:nvSpPr>
        <p:spPr>
          <a:xfrm xmlns:a="http://schemas.openxmlformats.org/drawingml/2006/main">
            <a:off x="514350" y="64198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COMPLETION</a:t>
            </a:r>
          </a:p>
        </p:txBody>
      </p:sp>
      <p:sp>
        <p:nvSpPr>
          <p:cNvPr id="17" name="">
            <a:extLst xmlns:a="http://schemas.openxmlformats.org/drawingml/2006/main">
              <a:ext uri="{FF2B5EF4-FFF2-40B4-BE49-F238E27FC236}">
                <a16:creationId xmlns:a16="http://schemas.microsoft.com/office/drawing/2014/main" id="{311CCC60-0184-422E-A0B3-01695CB24EBE}"/>
              </a:ext>
            </a:extLst>
          </p:cNvPr>
          <p:cNvSpPr>
            <a:spLocks xmlns:a="http://schemas.openxmlformats.org/drawingml/2006/main" noGrp="1"/>
          </p:cNvSpPr>
          <p:nvPr/>
        </p:nvSpPr>
        <p:spPr>
          <a:xfrm xmlns:a="http://schemas.openxmlformats.org/drawingml/2006/main">
            <a:off x="11334750" y="64198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5D6570"/>
                </a:solidFill>
                <a:latin typeface="Helvetica Neue"/>
                <a:ea typeface="Helvetica Neue"/>
                <a:cs typeface="Helvetica Neue"/>
              </a:defRPr>
            </a:pPr>
            <a:r>
              <a:rPr sz="900" b="0">
                <a:solidFill>
                  <a:srgbClr val="5D6570"/>
                </a:solidFill>
                <a:latin typeface="Helvetica Neue"/>
                <a:ea typeface="Helvetica Neue"/>
                <a:cs typeface="Helvetica Neue"/>
              </a:rPr>
              <a:t>19</a:t>
            </a:r>
          </a:p>
        </p:txBody>
      </p:sp>
    </p:spTree>
    <p:extLst>
      <p:ext uri="{BB962C8B-B14F-4D97-AF65-F5344CB8AC3E}">
        <p14:creationId xmlns:p14="http://schemas.microsoft.com/office/powerpoint/2010/main" val="45002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2026-08-31T11:29:11.9490000Z</dcterms:created>
  <dcterms:modified xsi:type="dcterms:W3CDTF">2026-08-31T11:29:11.9490000Z</dcterms:modified>
</coreProperties>
</file>